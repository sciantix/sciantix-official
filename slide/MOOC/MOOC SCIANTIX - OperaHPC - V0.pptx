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6" r:id="rId3"/>
  </p:sldMasterIdLst>
  <p:notesMasterIdLst>
    <p:notesMasterId r:id="rId39"/>
  </p:notesMasterIdLst>
  <p:sldIdLst>
    <p:sldId id="257" r:id="rId4"/>
    <p:sldId id="260" r:id="rId5"/>
    <p:sldId id="261" r:id="rId6"/>
    <p:sldId id="262" r:id="rId7"/>
    <p:sldId id="263" r:id="rId8"/>
    <p:sldId id="266" r:id="rId9"/>
    <p:sldId id="267" r:id="rId10"/>
    <p:sldId id="268" r:id="rId11"/>
    <p:sldId id="269" r:id="rId12"/>
    <p:sldId id="270" r:id="rId13"/>
    <p:sldId id="299" r:id="rId14"/>
    <p:sldId id="272" r:id="rId15"/>
    <p:sldId id="273" r:id="rId16"/>
    <p:sldId id="274" r:id="rId17"/>
    <p:sldId id="275" r:id="rId18"/>
    <p:sldId id="276" r:id="rId19"/>
    <p:sldId id="277" r:id="rId20"/>
    <p:sldId id="279" r:id="rId21"/>
    <p:sldId id="280" r:id="rId22"/>
    <p:sldId id="281" r:id="rId23"/>
    <p:sldId id="282" r:id="rId24"/>
    <p:sldId id="283" r:id="rId25"/>
    <p:sldId id="284" r:id="rId26"/>
    <p:sldId id="286" r:id="rId27"/>
    <p:sldId id="287" r:id="rId28"/>
    <p:sldId id="288" r:id="rId29"/>
    <p:sldId id="289" r:id="rId30"/>
    <p:sldId id="290" r:id="rId31"/>
    <p:sldId id="291" r:id="rId32"/>
    <p:sldId id="292" r:id="rId33"/>
    <p:sldId id="294" r:id="rId34"/>
    <p:sldId id="295" r:id="rId35"/>
    <p:sldId id="296" r:id="rId36"/>
    <p:sldId id="297" r:id="rId37"/>
    <p:sldId id="298" r:id="rId38"/>
  </p:sldIdLst>
  <p:sldSz cx="9144000" cy="5143500" type="screen16x9"/>
  <p:notesSz cx="7559675" cy="10691813"/>
  <p:embeddedFontLst>
    <p:embeddedFont>
      <p:font typeface="Cambria Math" panose="02040503050406030204" pitchFamily="18" charset="0"/>
      <p:regular r:id="rId40"/>
    </p:embeddedFont>
    <p:embeddedFont>
      <p:font typeface="Play" panose="020B0604020202020204" charset="0"/>
      <p:regular r:id="rId41"/>
      <p:bold r:id="rId42"/>
    </p:embeddedFont>
    <p:embeddedFont>
      <p:font typeface="Quattrocento Sans" panose="020B0502050000020003"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hWR1/Q7jdlTgJJGblwx8TV9DLoo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francesca concia" initials="" lastIdx="7" clrIdx="0"/>
  <p:cmAuthor id="1" name="Giovanni Zullo" initials=""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397141-2C2C-4102-B7A7-A33D52DAD804}" v="142" dt="2026-01-20T10:24:13.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462" autoAdjust="0"/>
  </p:normalViewPr>
  <p:slideViewPr>
    <p:cSldViewPr snapToGrid="0">
      <p:cViewPr varScale="1">
        <p:scale>
          <a:sx n="84" d="100"/>
          <a:sy n="84" d="100"/>
        </p:scale>
        <p:origin x="13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3.fntdata"/><Relationship Id="rId63"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font" Target="fonts/font1.fntdata"/><Relationship Id="rId45" Type="http://schemas.openxmlformats.org/officeDocument/2006/relationships/font" Target="fonts/font6.fntdata"/><Relationship Id="rId58" Type="http://schemas.openxmlformats.org/officeDocument/2006/relationships/commentAuthors" Target="commentAuthors.xml"/><Relationship Id="rId5" Type="http://schemas.openxmlformats.org/officeDocument/2006/relationships/slide" Target="slides/slide2.xml"/><Relationship Id="rId61"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5.fntdata"/><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4.fntdata"/><Relationship Id="rId64" Type="http://schemas.microsoft.com/office/2015/10/relationships/revisionInfo" Target="revisionInfo.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7.fntdata"/><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font" Target="fonts/font2.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57"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ovanni Zullo" userId="877685e0-c7cf-4178-9f24-e9c8c2bc69db" providerId="ADAL" clId="{AA6E970B-28CB-4F6D-8AC4-9A276EE8790F}"/>
    <pc:docChg chg="undo custSel delSld modSld sldOrd">
      <pc:chgData name="Giovanni Zullo" userId="877685e0-c7cf-4178-9f24-e9c8c2bc69db" providerId="ADAL" clId="{AA6E970B-28CB-4F6D-8AC4-9A276EE8790F}" dt="2026-01-20T10:28:12.323" v="477" actId="47"/>
      <pc:docMkLst>
        <pc:docMk/>
      </pc:docMkLst>
      <pc:sldChg chg="del">
        <pc:chgData name="Giovanni Zullo" userId="877685e0-c7cf-4178-9f24-e9c8c2bc69db" providerId="ADAL" clId="{AA6E970B-28CB-4F6D-8AC4-9A276EE8790F}" dt="2026-01-19T12:26:18.108" v="23" actId="47"/>
        <pc:sldMkLst>
          <pc:docMk/>
          <pc:sldMk cId="0" sldId="256"/>
        </pc:sldMkLst>
      </pc:sldChg>
      <pc:sldChg chg="modSp mod modNotesTx">
        <pc:chgData name="Giovanni Zullo" userId="877685e0-c7cf-4178-9f24-e9c8c2bc69db" providerId="ADAL" clId="{AA6E970B-28CB-4F6D-8AC4-9A276EE8790F}" dt="2026-01-20T10:14:45.596" v="145" actId="12789"/>
        <pc:sldMkLst>
          <pc:docMk/>
          <pc:sldMk cId="0" sldId="257"/>
        </pc:sldMkLst>
        <pc:spChg chg="mod">
          <ac:chgData name="Giovanni Zullo" userId="877685e0-c7cf-4178-9f24-e9c8c2bc69db" providerId="ADAL" clId="{AA6E970B-28CB-4F6D-8AC4-9A276EE8790F}" dt="2026-01-20T10:14:45.596" v="145" actId="12789"/>
          <ac:spMkLst>
            <pc:docMk/>
            <pc:sldMk cId="0" sldId="257"/>
            <ac:spMk id="213" creationId="{00000000-0000-0000-0000-000000000000}"/>
          </ac:spMkLst>
        </pc:spChg>
      </pc:sldChg>
      <pc:sldChg chg="del modNotesTx">
        <pc:chgData name="Giovanni Zullo" userId="877685e0-c7cf-4178-9f24-e9c8c2bc69db" providerId="ADAL" clId="{AA6E970B-28CB-4F6D-8AC4-9A276EE8790F}" dt="2026-01-20T10:15:03.258" v="147" actId="47"/>
        <pc:sldMkLst>
          <pc:docMk/>
          <pc:sldMk cId="0" sldId="258"/>
        </pc:sldMkLst>
      </pc:sldChg>
      <pc:sldChg chg="addSp delSp modSp del mod ord modNotesTx">
        <pc:chgData name="Giovanni Zullo" userId="877685e0-c7cf-4178-9f24-e9c8c2bc69db" providerId="ADAL" clId="{AA6E970B-28CB-4F6D-8AC4-9A276EE8790F}" dt="2026-01-20T10:22:30.423" v="368" actId="47"/>
        <pc:sldMkLst>
          <pc:docMk/>
          <pc:sldMk cId="0" sldId="259"/>
        </pc:sldMkLst>
        <pc:spChg chg="add del mod">
          <ac:chgData name="Giovanni Zullo" userId="877685e0-c7cf-4178-9f24-e9c8c2bc69db" providerId="ADAL" clId="{AA6E970B-28CB-4F6D-8AC4-9A276EE8790F}" dt="2026-01-20T10:15:27.254" v="155" actId="478"/>
          <ac:spMkLst>
            <pc:docMk/>
            <pc:sldMk cId="0" sldId="259"/>
            <ac:spMk id="2" creationId="{1255F0BC-CFF7-9961-6838-F416EF32F92A}"/>
          </ac:spMkLst>
        </pc:spChg>
        <pc:spChg chg="add mod">
          <ac:chgData name="Giovanni Zullo" userId="877685e0-c7cf-4178-9f24-e9c8c2bc69db" providerId="ADAL" clId="{AA6E970B-28CB-4F6D-8AC4-9A276EE8790F}" dt="2026-01-20T10:18:41.800" v="258" actId="20577"/>
          <ac:spMkLst>
            <pc:docMk/>
            <pc:sldMk cId="0" sldId="259"/>
            <ac:spMk id="4" creationId="{384D6093-D63A-E3FB-0F0B-CC86A2095223}"/>
          </ac:spMkLst>
        </pc:spChg>
        <pc:spChg chg="mod">
          <ac:chgData name="Giovanni Zullo" userId="877685e0-c7cf-4178-9f24-e9c8c2bc69db" providerId="ADAL" clId="{AA6E970B-28CB-4F6D-8AC4-9A276EE8790F}" dt="2026-01-20T10:19:32.945" v="309" actId="1076"/>
          <ac:spMkLst>
            <pc:docMk/>
            <pc:sldMk cId="0" sldId="259"/>
            <ac:spMk id="226" creationId="{00000000-0000-0000-0000-000000000000}"/>
          </ac:spMkLst>
        </pc:spChg>
        <pc:picChg chg="add del mod">
          <ac:chgData name="Giovanni Zullo" userId="877685e0-c7cf-4178-9f24-e9c8c2bc69db" providerId="ADAL" clId="{AA6E970B-28CB-4F6D-8AC4-9A276EE8790F}" dt="2026-01-20T10:15:23.278" v="153" actId="478"/>
          <ac:picMkLst>
            <pc:docMk/>
            <pc:sldMk cId="0" sldId="259"/>
            <ac:picMk id="3" creationId="{AB02BBE2-B56B-B944-A6B0-C03E972288AA}"/>
          </ac:picMkLst>
        </pc:picChg>
      </pc:sldChg>
      <pc:sldChg chg="addSp delSp modSp mod addAnim delAnim modAnim modNotesTx">
        <pc:chgData name="Giovanni Zullo" userId="877685e0-c7cf-4178-9f24-e9c8c2bc69db" providerId="ADAL" clId="{AA6E970B-28CB-4F6D-8AC4-9A276EE8790F}" dt="2026-01-20T10:20:05.167" v="311" actId="120"/>
        <pc:sldMkLst>
          <pc:docMk/>
          <pc:sldMk cId="0" sldId="260"/>
        </pc:sldMkLst>
        <pc:spChg chg="mod">
          <ac:chgData name="Giovanni Zullo" userId="877685e0-c7cf-4178-9f24-e9c8c2bc69db" providerId="ADAL" clId="{AA6E970B-28CB-4F6D-8AC4-9A276EE8790F}" dt="2026-01-19T12:25:20.828" v="18"/>
          <ac:spMkLst>
            <pc:docMk/>
            <pc:sldMk cId="0" sldId="260"/>
            <ac:spMk id="8" creationId="{A84B049C-57A2-94D4-2E2C-B9F5D6B46EA8}"/>
          </ac:spMkLst>
        </pc:spChg>
        <pc:spChg chg="mod">
          <ac:chgData name="Giovanni Zullo" userId="877685e0-c7cf-4178-9f24-e9c8c2bc69db" providerId="ADAL" clId="{AA6E970B-28CB-4F6D-8AC4-9A276EE8790F}" dt="2026-01-19T12:25:20.828" v="18"/>
          <ac:spMkLst>
            <pc:docMk/>
            <pc:sldMk cId="0" sldId="260"/>
            <ac:spMk id="9" creationId="{D4FE0F39-C92C-0581-A06B-20F50C8A1ADD}"/>
          </ac:spMkLst>
        </pc:spChg>
        <pc:spChg chg="mod">
          <ac:chgData name="Giovanni Zullo" userId="877685e0-c7cf-4178-9f24-e9c8c2bc69db" providerId="ADAL" clId="{AA6E970B-28CB-4F6D-8AC4-9A276EE8790F}" dt="2026-01-19T12:25:20.828" v="18"/>
          <ac:spMkLst>
            <pc:docMk/>
            <pc:sldMk cId="0" sldId="260"/>
            <ac:spMk id="11" creationId="{F65C11D9-F73C-931B-A216-BBE8CA5461B2}"/>
          </ac:spMkLst>
        </pc:spChg>
        <pc:spChg chg="mod">
          <ac:chgData name="Giovanni Zullo" userId="877685e0-c7cf-4178-9f24-e9c8c2bc69db" providerId="ADAL" clId="{AA6E970B-28CB-4F6D-8AC4-9A276EE8790F}" dt="2026-01-19T12:25:20.828" v="18"/>
          <ac:spMkLst>
            <pc:docMk/>
            <pc:sldMk cId="0" sldId="260"/>
            <ac:spMk id="15" creationId="{B2EA478F-9FF7-739A-F88F-48F31A2E39C8}"/>
          </ac:spMkLst>
        </pc:spChg>
        <pc:spChg chg="mod">
          <ac:chgData name="Giovanni Zullo" userId="877685e0-c7cf-4178-9f24-e9c8c2bc69db" providerId="ADAL" clId="{AA6E970B-28CB-4F6D-8AC4-9A276EE8790F}" dt="2026-01-19T12:25:20.828" v="18"/>
          <ac:spMkLst>
            <pc:docMk/>
            <pc:sldMk cId="0" sldId="260"/>
            <ac:spMk id="18" creationId="{82C423B4-67A1-E7C1-2A85-E9CE52787D51}"/>
          </ac:spMkLst>
        </pc:spChg>
        <pc:spChg chg="mod">
          <ac:chgData name="Giovanni Zullo" userId="877685e0-c7cf-4178-9f24-e9c8c2bc69db" providerId="ADAL" clId="{AA6E970B-28CB-4F6D-8AC4-9A276EE8790F}" dt="2026-01-19T12:25:20.828" v="18"/>
          <ac:spMkLst>
            <pc:docMk/>
            <pc:sldMk cId="0" sldId="260"/>
            <ac:spMk id="20" creationId="{E2F22E56-BEB8-A877-ADCE-04464671F7A4}"/>
          </ac:spMkLst>
        </pc:spChg>
        <pc:spChg chg="mod">
          <ac:chgData name="Giovanni Zullo" userId="877685e0-c7cf-4178-9f24-e9c8c2bc69db" providerId="ADAL" clId="{AA6E970B-28CB-4F6D-8AC4-9A276EE8790F}" dt="2026-01-19T12:25:20.828" v="18"/>
          <ac:spMkLst>
            <pc:docMk/>
            <pc:sldMk cId="0" sldId="260"/>
            <ac:spMk id="22" creationId="{A16C4537-0D3C-F765-8E60-BA7578653D49}"/>
          </ac:spMkLst>
        </pc:spChg>
        <pc:spChg chg="mod">
          <ac:chgData name="Giovanni Zullo" userId="877685e0-c7cf-4178-9f24-e9c8c2bc69db" providerId="ADAL" clId="{AA6E970B-28CB-4F6D-8AC4-9A276EE8790F}" dt="2026-01-19T12:25:20.828" v="18"/>
          <ac:spMkLst>
            <pc:docMk/>
            <pc:sldMk cId="0" sldId="260"/>
            <ac:spMk id="23" creationId="{99FEA43A-DF4D-8E43-FD4B-3A13B846FA43}"/>
          </ac:spMkLst>
        </pc:spChg>
        <pc:spChg chg="mod">
          <ac:chgData name="Giovanni Zullo" userId="877685e0-c7cf-4178-9f24-e9c8c2bc69db" providerId="ADAL" clId="{AA6E970B-28CB-4F6D-8AC4-9A276EE8790F}" dt="2026-01-19T12:25:20.828" v="18"/>
          <ac:spMkLst>
            <pc:docMk/>
            <pc:sldMk cId="0" sldId="260"/>
            <ac:spMk id="24" creationId="{18B05DE3-010B-9E62-B70C-13ED9FE99402}"/>
          </ac:spMkLst>
        </pc:spChg>
        <pc:spChg chg="mod">
          <ac:chgData name="Giovanni Zullo" userId="877685e0-c7cf-4178-9f24-e9c8c2bc69db" providerId="ADAL" clId="{AA6E970B-28CB-4F6D-8AC4-9A276EE8790F}" dt="2026-01-19T12:25:20.828" v="18"/>
          <ac:spMkLst>
            <pc:docMk/>
            <pc:sldMk cId="0" sldId="260"/>
            <ac:spMk id="27" creationId="{EAF45279-5CAD-C7D2-AFD9-B5C6D458944C}"/>
          </ac:spMkLst>
        </pc:spChg>
        <pc:spChg chg="mod">
          <ac:chgData name="Giovanni Zullo" userId="877685e0-c7cf-4178-9f24-e9c8c2bc69db" providerId="ADAL" clId="{AA6E970B-28CB-4F6D-8AC4-9A276EE8790F}" dt="2026-01-19T12:25:46.832" v="22" actId="121"/>
          <ac:spMkLst>
            <pc:docMk/>
            <pc:sldMk cId="0" sldId="260"/>
            <ac:spMk id="232" creationId="{00000000-0000-0000-0000-000000000000}"/>
          </ac:spMkLst>
        </pc:spChg>
        <pc:spChg chg="mod">
          <ac:chgData name="Giovanni Zullo" userId="877685e0-c7cf-4178-9f24-e9c8c2bc69db" providerId="ADAL" clId="{AA6E970B-28CB-4F6D-8AC4-9A276EE8790F}" dt="2026-01-20T10:20:05.167" v="311" actId="120"/>
          <ac:spMkLst>
            <pc:docMk/>
            <pc:sldMk cId="0" sldId="260"/>
            <ac:spMk id="233" creationId="{00000000-0000-0000-0000-000000000000}"/>
          </ac:spMkLst>
        </pc:spChg>
        <pc:grpChg chg="mod">
          <ac:chgData name="Giovanni Zullo" userId="877685e0-c7cf-4178-9f24-e9c8c2bc69db" providerId="ADAL" clId="{AA6E970B-28CB-4F6D-8AC4-9A276EE8790F}" dt="2026-01-20T10:16:06.658" v="169" actId="1076"/>
          <ac:grpSpMkLst>
            <pc:docMk/>
            <pc:sldMk cId="0" sldId="260"/>
            <ac:grpSpMk id="2" creationId="{AA5E6F62-72EF-B2F0-59DF-195913D8C313}"/>
          </ac:grpSpMkLst>
        </pc:grpChg>
        <pc:picChg chg="add del">
          <ac:chgData name="Giovanni Zullo" userId="877685e0-c7cf-4178-9f24-e9c8c2bc69db" providerId="ADAL" clId="{AA6E970B-28CB-4F6D-8AC4-9A276EE8790F}" dt="2026-01-19T12:23:51.524" v="2" actId="478"/>
          <ac:picMkLst>
            <pc:docMk/>
            <pc:sldMk cId="0" sldId="260"/>
            <ac:picMk id="234" creationId="{00000000-0000-0000-0000-000000000000}"/>
          </ac:picMkLst>
        </pc:picChg>
      </pc:sldChg>
      <pc:sldChg chg="addSp delSp modSp mod delAnim modAnim modNotesTx">
        <pc:chgData name="Giovanni Zullo" userId="877685e0-c7cf-4178-9f24-e9c8c2bc69db" providerId="ADAL" clId="{AA6E970B-28CB-4F6D-8AC4-9A276EE8790F}" dt="2026-01-20T10:22:28.822" v="367" actId="6549"/>
        <pc:sldMkLst>
          <pc:docMk/>
          <pc:sldMk cId="0" sldId="261"/>
        </pc:sldMkLst>
        <pc:spChg chg="add mod">
          <ac:chgData name="Giovanni Zullo" userId="877685e0-c7cf-4178-9f24-e9c8c2bc69db" providerId="ADAL" clId="{AA6E970B-28CB-4F6D-8AC4-9A276EE8790F}" dt="2026-01-19T12:24:23.420" v="7" actId="1076"/>
          <ac:spMkLst>
            <pc:docMk/>
            <pc:sldMk cId="0" sldId="261"/>
            <ac:spMk id="2" creationId="{3D349149-77A0-8E4B-8718-58FD5D9449BC}"/>
          </ac:spMkLst>
        </pc:spChg>
        <pc:spChg chg="mod">
          <ac:chgData name="Giovanni Zullo" userId="877685e0-c7cf-4178-9f24-e9c8c2bc69db" providerId="ADAL" clId="{AA6E970B-28CB-4F6D-8AC4-9A276EE8790F}" dt="2026-01-20T10:18:01.308" v="231"/>
          <ac:spMkLst>
            <pc:docMk/>
            <pc:sldMk cId="0" sldId="261"/>
            <ac:spMk id="3" creationId="{ECB23801-2686-E693-0204-E86FB0F972E0}"/>
          </ac:spMkLst>
        </pc:spChg>
        <pc:spChg chg="mod">
          <ac:chgData name="Giovanni Zullo" userId="877685e0-c7cf-4178-9f24-e9c8c2bc69db" providerId="ADAL" clId="{AA6E970B-28CB-4F6D-8AC4-9A276EE8790F}" dt="2026-01-19T12:24:23.420" v="7" actId="1076"/>
          <ac:spMkLst>
            <pc:docMk/>
            <pc:sldMk cId="0" sldId="261"/>
            <ac:spMk id="4" creationId="{FC5944E6-73BE-2C7E-6149-DD5DEF535A06}"/>
          </ac:spMkLst>
        </pc:spChg>
        <pc:spChg chg="mod">
          <ac:chgData name="Giovanni Zullo" userId="877685e0-c7cf-4178-9f24-e9c8c2bc69db" providerId="ADAL" clId="{AA6E970B-28CB-4F6D-8AC4-9A276EE8790F}" dt="2026-01-20T10:18:01.308" v="231"/>
          <ac:spMkLst>
            <pc:docMk/>
            <pc:sldMk cId="0" sldId="261"/>
            <ac:spMk id="5" creationId="{DF79641A-8130-728F-538D-027F69F45421}"/>
          </ac:spMkLst>
        </pc:spChg>
        <pc:spChg chg="add mod">
          <ac:chgData name="Giovanni Zullo" userId="877685e0-c7cf-4178-9f24-e9c8c2bc69db" providerId="ADAL" clId="{AA6E970B-28CB-4F6D-8AC4-9A276EE8790F}" dt="2026-01-19T12:24:23.420" v="7" actId="1076"/>
          <ac:spMkLst>
            <pc:docMk/>
            <pc:sldMk cId="0" sldId="261"/>
            <ac:spMk id="5" creationId="{F25F3DFF-AAA7-05AB-C049-6E730F89EC72}"/>
          </ac:spMkLst>
        </pc:spChg>
        <pc:spChg chg="mod">
          <ac:chgData name="Giovanni Zullo" userId="877685e0-c7cf-4178-9f24-e9c8c2bc69db" providerId="ADAL" clId="{AA6E970B-28CB-4F6D-8AC4-9A276EE8790F}" dt="2026-01-19T12:24:23.420" v="7" actId="1076"/>
          <ac:spMkLst>
            <pc:docMk/>
            <pc:sldMk cId="0" sldId="261"/>
            <ac:spMk id="7" creationId="{1630E74C-10DE-117E-F174-0430C8953910}"/>
          </ac:spMkLst>
        </pc:spChg>
        <pc:spChg chg="mod">
          <ac:chgData name="Giovanni Zullo" userId="877685e0-c7cf-4178-9f24-e9c8c2bc69db" providerId="ADAL" clId="{AA6E970B-28CB-4F6D-8AC4-9A276EE8790F}" dt="2026-01-20T10:18:01.308" v="231"/>
          <ac:spMkLst>
            <pc:docMk/>
            <pc:sldMk cId="0" sldId="261"/>
            <ac:spMk id="8" creationId="{278F088B-E3D1-541E-355A-F963D30E5344}"/>
          </ac:spMkLst>
        </pc:spChg>
        <pc:spChg chg="add mod">
          <ac:chgData name="Giovanni Zullo" userId="877685e0-c7cf-4178-9f24-e9c8c2bc69db" providerId="ADAL" clId="{AA6E970B-28CB-4F6D-8AC4-9A276EE8790F}" dt="2026-01-19T12:24:23.420" v="7" actId="1076"/>
          <ac:spMkLst>
            <pc:docMk/>
            <pc:sldMk cId="0" sldId="261"/>
            <ac:spMk id="8" creationId="{33E0F355-8008-53CB-92AE-05F7E4DC778E}"/>
          </ac:spMkLst>
        </pc:spChg>
        <pc:spChg chg="mod">
          <ac:chgData name="Giovanni Zullo" userId="877685e0-c7cf-4178-9f24-e9c8c2bc69db" providerId="ADAL" clId="{AA6E970B-28CB-4F6D-8AC4-9A276EE8790F}" dt="2026-01-19T12:24:07.039" v="5"/>
          <ac:spMkLst>
            <pc:docMk/>
            <pc:sldMk cId="0" sldId="261"/>
            <ac:spMk id="10" creationId="{6C76036D-EB8B-4804-A35F-1847B7C2E160}"/>
          </ac:spMkLst>
        </pc:spChg>
        <pc:spChg chg="mod">
          <ac:chgData name="Giovanni Zullo" userId="877685e0-c7cf-4178-9f24-e9c8c2bc69db" providerId="ADAL" clId="{AA6E970B-28CB-4F6D-8AC4-9A276EE8790F}" dt="2026-01-20T10:18:01.308" v="231"/>
          <ac:spMkLst>
            <pc:docMk/>
            <pc:sldMk cId="0" sldId="261"/>
            <ac:spMk id="11" creationId="{05272158-6541-0D09-9049-9F4F5EE07B04}"/>
          </ac:spMkLst>
        </pc:spChg>
        <pc:spChg chg="mod">
          <ac:chgData name="Giovanni Zullo" userId="877685e0-c7cf-4178-9f24-e9c8c2bc69db" providerId="ADAL" clId="{AA6E970B-28CB-4F6D-8AC4-9A276EE8790F}" dt="2026-01-19T12:24:07.039" v="5"/>
          <ac:spMkLst>
            <pc:docMk/>
            <pc:sldMk cId="0" sldId="261"/>
            <ac:spMk id="11" creationId="{939A12E0-B864-B03C-5481-90036DAC2E58}"/>
          </ac:spMkLst>
        </pc:spChg>
        <pc:spChg chg="mod">
          <ac:chgData name="Giovanni Zullo" userId="877685e0-c7cf-4178-9f24-e9c8c2bc69db" providerId="ADAL" clId="{AA6E970B-28CB-4F6D-8AC4-9A276EE8790F}" dt="2026-01-19T12:24:07.039" v="5"/>
          <ac:spMkLst>
            <pc:docMk/>
            <pc:sldMk cId="0" sldId="261"/>
            <ac:spMk id="12" creationId="{B19E3D31-0F80-D5A3-8B09-7C0559AB99A1}"/>
          </ac:spMkLst>
        </pc:spChg>
        <pc:spChg chg="mod">
          <ac:chgData name="Giovanni Zullo" userId="877685e0-c7cf-4178-9f24-e9c8c2bc69db" providerId="ADAL" clId="{AA6E970B-28CB-4F6D-8AC4-9A276EE8790F}" dt="2026-01-19T12:24:07.039" v="5"/>
          <ac:spMkLst>
            <pc:docMk/>
            <pc:sldMk cId="0" sldId="261"/>
            <ac:spMk id="14" creationId="{54870489-77ED-A3FE-3022-D86B52FE844F}"/>
          </ac:spMkLst>
        </pc:spChg>
        <pc:spChg chg="mod">
          <ac:chgData name="Giovanni Zullo" userId="877685e0-c7cf-4178-9f24-e9c8c2bc69db" providerId="ADAL" clId="{AA6E970B-28CB-4F6D-8AC4-9A276EE8790F}" dt="2026-01-20T10:18:01.308" v="231"/>
          <ac:spMkLst>
            <pc:docMk/>
            <pc:sldMk cId="0" sldId="261"/>
            <ac:spMk id="15" creationId="{74B2FB83-C669-CFD0-AB13-BACE5B8C2A4E}"/>
          </ac:spMkLst>
        </pc:spChg>
        <pc:spChg chg="mod">
          <ac:chgData name="Giovanni Zullo" userId="877685e0-c7cf-4178-9f24-e9c8c2bc69db" providerId="ADAL" clId="{AA6E970B-28CB-4F6D-8AC4-9A276EE8790F}" dt="2026-01-19T12:24:07.039" v="5"/>
          <ac:spMkLst>
            <pc:docMk/>
            <pc:sldMk cId="0" sldId="261"/>
            <ac:spMk id="16" creationId="{5E998DBB-41C8-316E-50F4-88E60890D5E7}"/>
          </ac:spMkLst>
        </pc:spChg>
        <pc:spChg chg="mod">
          <ac:chgData name="Giovanni Zullo" userId="877685e0-c7cf-4178-9f24-e9c8c2bc69db" providerId="ADAL" clId="{AA6E970B-28CB-4F6D-8AC4-9A276EE8790F}" dt="2026-01-19T12:24:07.039" v="5"/>
          <ac:spMkLst>
            <pc:docMk/>
            <pc:sldMk cId="0" sldId="261"/>
            <ac:spMk id="18" creationId="{0CC5B44F-B85D-7CD8-2780-5F60FB68502C}"/>
          </ac:spMkLst>
        </pc:spChg>
        <pc:spChg chg="mod">
          <ac:chgData name="Giovanni Zullo" userId="877685e0-c7cf-4178-9f24-e9c8c2bc69db" providerId="ADAL" clId="{AA6E970B-28CB-4F6D-8AC4-9A276EE8790F}" dt="2026-01-20T10:18:01.308" v="231"/>
          <ac:spMkLst>
            <pc:docMk/>
            <pc:sldMk cId="0" sldId="261"/>
            <ac:spMk id="18" creationId="{BBC4DB04-6F55-93AD-53A6-18F6C8F9B663}"/>
          </ac:spMkLst>
        </pc:spChg>
        <pc:spChg chg="mod">
          <ac:chgData name="Giovanni Zullo" userId="877685e0-c7cf-4178-9f24-e9c8c2bc69db" providerId="ADAL" clId="{AA6E970B-28CB-4F6D-8AC4-9A276EE8790F}" dt="2026-01-20T10:18:01.308" v="231"/>
          <ac:spMkLst>
            <pc:docMk/>
            <pc:sldMk cId="0" sldId="261"/>
            <ac:spMk id="19" creationId="{DFD399FD-7C38-5FFB-6A41-FAEAF65011A6}"/>
          </ac:spMkLst>
        </pc:spChg>
        <pc:spChg chg="mod">
          <ac:chgData name="Giovanni Zullo" userId="877685e0-c7cf-4178-9f24-e9c8c2bc69db" providerId="ADAL" clId="{AA6E970B-28CB-4F6D-8AC4-9A276EE8790F}" dt="2026-01-20T10:18:01.308" v="231"/>
          <ac:spMkLst>
            <pc:docMk/>
            <pc:sldMk cId="0" sldId="261"/>
            <ac:spMk id="20" creationId="{5539334B-BF00-32E6-DAC2-CA672351D0D1}"/>
          </ac:spMkLst>
        </pc:spChg>
        <pc:spChg chg="mod">
          <ac:chgData name="Giovanni Zullo" userId="877685e0-c7cf-4178-9f24-e9c8c2bc69db" providerId="ADAL" clId="{AA6E970B-28CB-4F6D-8AC4-9A276EE8790F}" dt="2026-01-19T12:24:23.420" v="7" actId="1076"/>
          <ac:spMkLst>
            <pc:docMk/>
            <pc:sldMk cId="0" sldId="261"/>
            <ac:spMk id="20" creationId="{7AC7A466-EA7E-7C1E-EFD2-4AAD22A295FA}"/>
          </ac:spMkLst>
        </pc:spChg>
        <pc:spChg chg="mod">
          <ac:chgData name="Giovanni Zullo" userId="877685e0-c7cf-4178-9f24-e9c8c2bc69db" providerId="ADAL" clId="{AA6E970B-28CB-4F6D-8AC4-9A276EE8790F}" dt="2026-01-20T10:18:01.308" v="231"/>
          <ac:spMkLst>
            <pc:docMk/>
            <pc:sldMk cId="0" sldId="261"/>
            <ac:spMk id="21" creationId="{F1C48DD5-9B7D-646F-B09A-CCB6B3804A96}"/>
          </ac:spMkLst>
        </pc:spChg>
        <pc:spChg chg="mod">
          <ac:chgData name="Giovanni Zullo" userId="877685e0-c7cf-4178-9f24-e9c8c2bc69db" providerId="ADAL" clId="{AA6E970B-28CB-4F6D-8AC4-9A276EE8790F}" dt="2026-01-19T12:24:23.420" v="7" actId="1076"/>
          <ac:spMkLst>
            <pc:docMk/>
            <pc:sldMk cId="0" sldId="261"/>
            <ac:spMk id="24" creationId="{2D848E35-CC12-FCE2-6A17-E53B95169739}"/>
          </ac:spMkLst>
        </pc:spChg>
        <pc:spChg chg="mod">
          <ac:chgData name="Giovanni Zullo" userId="877685e0-c7cf-4178-9f24-e9c8c2bc69db" providerId="ADAL" clId="{AA6E970B-28CB-4F6D-8AC4-9A276EE8790F}" dt="2026-01-19T12:24:23.420" v="7" actId="1076"/>
          <ac:spMkLst>
            <pc:docMk/>
            <pc:sldMk cId="0" sldId="261"/>
            <ac:spMk id="25" creationId="{79A211C5-F208-451F-C8EC-E8AC24DA6EF0}"/>
          </ac:spMkLst>
        </pc:spChg>
        <pc:spChg chg="mod">
          <ac:chgData name="Giovanni Zullo" userId="877685e0-c7cf-4178-9f24-e9c8c2bc69db" providerId="ADAL" clId="{AA6E970B-28CB-4F6D-8AC4-9A276EE8790F}" dt="2026-01-20T10:18:01.308" v="231"/>
          <ac:spMkLst>
            <pc:docMk/>
            <pc:sldMk cId="0" sldId="261"/>
            <ac:spMk id="25" creationId="{96596E3A-EE17-0187-4877-73492EEC7377}"/>
          </ac:spMkLst>
        </pc:spChg>
        <pc:spChg chg="add mod">
          <ac:chgData name="Giovanni Zullo" userId="877685e0-c7cf-4178-9f24-e9c8c2bc69db" providerId="ADAL" clId="{AA6E970B-28CB-4F6D-8AC4-9A276EE8790F}" dt="2026-01-19T12:24:23.420" v="7" actId="1076"/>
          <ac:spMkLst>
            <pc:docMk/>
            <pc:sldMk cId="0" sldId="261"/>
            <ac:spMk id="27" creationId="{C3B061BD-9FB3-A730-A865-D9C4035D7140}"/>
          </ac:spMkLst>
        </pc:spChg>
        <pc:spChg chg="mod">
          <ac:chgData name="Giovanni Zullo" userId="877685e0-c7cf-4178-9f24-e9c8c2bc69db" providerId="ADAL" clId="{AA6E970B-28CB-4F6D-8AC4-9A276EE8790F}" dt="2026-01-19T12:24:23.420" v="7" actId="1076"/>
          <ac:spMkLst>
            <pc:docMk/>
            <pc:sldMk cId="0" sldId="261"/>
            <ac:spMk id="28" creationId="{057FD47E-AB24-32DF-3C8E-1025BAC80E1C}"/>
          </ac:spMkLst>
        </pc:spChg>
        <pc:spChg chg="add mod">
          <ac:chgData name="Giovanni Zullo" userId="877685e0-c7cf-4178-9f24-e9c8c2bc69db" providerId="ADAL" clId="{AA6E970B-28CB-4F6D-8AC4-9A276EE8790F}" dt="2026-01-19T12:24:52.281" v="14" actId="404"/>
          <ac:spMkLst>
            <pc:docMk/>
            <pc:sldMk cId="0" sldId="261"/>
            <ac:spMk id="29" creationId="{5665A9AA-2B30-153B-2203-826C28DA8BFA}"/>
          </ac:spMkLst>
        </pc:spChg>
        <pc:spChg chg="mod">
          <ac:chgData name="Giovanni Zullo" userId="877685e0-c7cf-4178-9f24-e9c8c2bc69db" providerId="ADAL" clId="{AA6E970B-28CB-4F6D-8AC4-9A276EE8790F}" dt="2026-01-19T12:24:35.560" v="9" actId="164"/>
          <ac:spMkLst>
            <pc:docMk/>
            <pc:sldMk cId="0" sldId="261"/>
            <ac:spMk id="30" creationId="{022A2D46-976D-DF25-934C-F0E5DBD8E21F}"/>
          </ac:spMkLst>
        </pc:spChg>
        <pc:spChg chg="mod">
          <ac:chgData name="Giovanni Zullo" userId="877685e0-c7cf-4178-9f24-e9c8c2bc69db" providerId="ADAL" clId="{AA6E970B-28CB-4F6D-8AC4-9A276EE8790F}" dt="2026-01-19T12:24:35.560" v="9" actId="164"/>
          <ac:spMkLst>
            <pc:docMk/>
            <pc:sldMk cId="0" sldId="261"/>
            <ac:spMk id="31" creationId="{203CC234-4444-FFF5-FB2C-1AFFE69F46CA}"/>
          </ac:spMkLst>
        </pc:spChg>
        <pc:spChg chg="add mod">
          <ac:chgData name="Giovanni Zullo" userId="877685e0-c7cf-4178-9f24-e9c8c2bc69db" providerId="ADAL" clId="{AA6E970B-28CB-4F6D-8AC4-9A276EE8790F}" dt="2026-01-19T12:24:52.281" v="14" actId="404"/>
          <ac:spMkLst>
            <pc:docMk/>
            <pc:sldMk cId="0" sldId="261"/>
            <ac:spMk id="32" creationId="{2F14FF64-47EB-7782-E5DD-FC8D2BCBCA3B}"/>
          </ac:spMkLst>
        </pc:spChg>
        <pc:spChg chg="mod">
          <ac:chgData name="Giovanni Zullo" userId="877685e0-c7cf-4178-9f24-e9c8c2bc69db" providerId="ADAL" clId="{AA6E970B-28CB-4F6D-8AC4-9A276EE8790F}" dt="2026-01-19T12:24:35.560" v="9" actId="164"/>
          <ac:spMkLst>
            <pc:docMk/>
            <pc:sldMk cId="0" sldId="261"/>
            <ac:spMk id="34" creationId="{429DC40B-1F2D-FBC2-F0C6-01AD4DD76942}"/>
          </ac:spMkLst>
        </pc:spChg>
        <pc:spChg chg="add mod">
          <ac:chgData name="Giovanni Zullo" userId="877685e0-c7cf-4178-9f24-e9c8c2bc69db" providerId="ADAL" clId="{AA6E970B-28CB-4F6D-8AC4-9A276EE8790F}" dt="2026-01-19T12:24:52.281" v="14" actId="404"/>
          <ac:spMkLst>
            <pc:docMk/>
            <pc:sldMk cId="0" sldId="261"/>
            <ac:spMk id="35" creationId="{9194211F-4627-66AD-0D17-6F4F6932D087}"/>
          </ac:spMkLst>
        </pc:spChg>
        <pc:spChg chg="mod">
          <ac:chgData name="Giovanni Zullo" userId="877685e0-c7cf-4178-9f24-e9c8c2bc69db" providerId="ADAL" clId="{AA6E970B-28CB-4F6D-8AC4-9A276EE8790F}" dt="2026-01-19T12:24:52.281" v="14" actId="404"/>
          <ac:spMkLst>
            <pc:docMk/>
            <pc:sldMk cId="0" sldId="261"/>
            <ac:spMk id="38" creationId="{B4059822-0298-0C18-7F5F-5DCBB4463CA7}"/>
          </ac:spMkLst>
        </pc:spChg>
        <pc:spChg chg="mod">
          <ac:chgData name="Giovanni Zullo" userId="877685e0-c7cf-4178-9f24-e9c8c2bc69db" providerId="ADAL" clId="{AA6E970B-28CB-4F6D-8AC4-9A276EE8790F}" dt="2026-01-19T12:24:52.281" v="14" actId="404"/>
          <ac:spMkLst>
            <pc:docMk/>
            <pc:sldMk cId="0" sldId="261"/>
            <ac:spMk id="39" creationId="{2914045E-2528-FC9E-338A-A89154C86185}"/>
          </ac:spMkLst>
        </pc:spChg>
        <pc:spChg chg="mod">
          <ac:chgData name="Giovanni Zullo" userId="877685e0-c7cf-4178-9f24-e9c8c2bc69db" providerId="ADAL" clId="{AA6E970B-28CB-4F6D-8AC4-9A276EE8790F}" dt="2026-01-19T12:24:52.281" v="14" actId="404"/>
          <ac:spMkLst>
            <pc:docMk/>
            <pc:sldMk cId="0" sldId="261"/>
            <ac:spMk id="42" creationId="{567EFEB0-1F37-B8C9-D00B-0CC94C97EDCC}"/>
          </ac:spMkLst>
        </pc:spChg>
        <pc:spChg chg="mod">
          <ac:chgData name="Giovanni Zullo" userId="877685e0-c7cf-4178-9f24-e9c8c2bc69db" providerId="ADAL" clId="{AA6E970B-28CB-4F6D-8AC4-9A276EE8790F}" dt="2026-01-19T12:24:52.281" v="14" actId="404"/>
          <ac:spMkLst>
            <pc:docMk/>
            <pc:sldMk cId="0" sldId="261"/>
            <ac:spMk id="44" creationId="{E1D65E7F-1A4E-8445-EE63-03A9D321A4BF}"/>
          </ac:spMkLst>
        </pc:spChg>
        <pc:spChg chg="mod">
          <ac:chgData name="Giovanni Zullo" userId="877685e0-c7cf-4178-9f24-e9c8c2bc69db" providerId="ADAL" clId="{AA6E970B-28CB-4F6D-8AC4-9A276EE8790F}" dt="2026-01-19T12:24:35.560" v="9" actId="164"/>
          <ac:spMkLst>
            <pc:docMk/>
            <pc:sldMk cId="0" sldId="261"/>
            <ac:spMk id="47" creationId="{19F3A648-29FF-A71B-A579-74C7A519F8ED}"/>
          </ac:spMkLst>
        </pc:spChg>
        <pc:spChg chg="add mod">
          <ac:chgData name="Giovanni Zullo" userId="877685e0-c7cf-4178-9f24-e9c8c2bc69db" providerId="ADAL" clId="{AA6E970B-28CB-4F6D-8AC4-9A276EE8790F}" dt="2026-01-19T12:24:52.281" v="14" actId="404"/>
          <ac:spMkLst>
            <pc:docMk/>
            <pc:sldMk cId="0" sldId="261"/>
            <ac:spMk id="52" creationId="{5998751E-2257-C3E5-F1FB-507793CC2306}"/>
          </ac:spMkLst>
        </pc:spChg>
        <pc:spChg chg="add mod">
          <ac:chgData name="Giovanni Zullo" userId="877685e0-c7cf-4178-9f24-e9c8c2bc69db" providerId="ADAL" clId="{AA6E970B-28CB-4F6D-8AC4-9A276EE8790F}" dt="2026-01-19T12:24:52.281" v="14" actId="404"/>
          <ac:spMkLst>
            <pc:docMk/>
            <pc:sldMk cId="0" sldId="261"/>
            <ac:spMk id="54" creationId="{44379283-F425-879F-570C-9C10EA775868}"/>
          </ac:spMkLst>
        </pc:spChg>
        <pc:spChg chg="add mod">
          <ac:chgData name="Giovanni Zullo" userId="877685e0-c7cf-4178-9f24-e9c8c2bc69db" providerId="ADAL" clId="{AA6E970B-28CB-4F6D-8AC4-9A276EE8790F}" dt="2026-01-19T12:24:52.281" v="14" actId="404"/>
          <ac:spMkLst>
            <pc:docMk/>
            <pc:sldMk cId="0" sldId="261"/>
            <ac:spMk id="55" creationId="{3EF07C51-CE7C-E1F0-3D55-E462D589DF66}"/>
          </ac:spMkLst>
        </pc:spChg>
        <pc:spChg chg="mod">
          <ac:chgData name="Giovanni Zullo" userId="877685e0-c7cf-4178-9f24-e9c8c2bc69db" providerId="ADAL" clId="{AA6E970B-28CB-4F6D-8AC4-9A276EE8790F}" dt="2026-01-20T10:22:28.822" v="367" actId="6549"/>
          <ac:spMkLst>
            <pc:docMk/>
            <pc:sldMk cId="0" sldId="261"/>
            <ac:spMk id="241" creationId="{00000000-0000-0000-0000-000000000000}"/>
          </ac:spMkLst>
        </pc:spChg>
        <pc:grpChg chg="del mod">
          <ac:chgData name="Giovanni Zullo" userId="877685e0-c7cf-4178-9f24-e9c8c2bc69db" providerId="ADAL" clId="{AA6E970B-28CB-4F6D-8AC4-9A276EE8790F}" dt="2026-01-20T10:18:01.060" v="230" actId="478"/>
          <ac:grpSpMkLst>
            <pc:docMk/>
            <pc:sldMk cId="0" sldId="261"/>
            <ac:grpSpMk id="56" creationId="{CCB967BC-B881-BD69-B924-CFDC9FABF2D0}"/>
          </ac:grpSpMkLst>
        </pc:grpChg>
        <pc:picChg chg="del">
          <ac:chgData name="Giovanni Zullo" userId="877685e0-c7cf-4178-9f24-e9c8c2bc69db" providerId="ADAL" clId="{AA6E970B-28CB-4F6D-8AC4-9A276EE8790F}" dt="2026-01-19T12:23:56.961" v="3" actId="478"/>
          <ac:picMkLst>
            <pc:docMk/>
            <pc:sldMk cId="0" sldId="261"/>
            <ac:picMk id="242" creationId="{00000000-0000-0000-0000-000000000000}"/>
          </ac:picMkLst>
        </pc:picChg>
        <pc:cxnChg chg="mod">
          <ac:chgData name="Giovanni Zullo" userId="877685e0-c7cf-4178-9f24-e9c8c2bc69db" providerId="ADAL" clId="{AA6E970B-28CB-4F6D-8AC4-9A276EE8790F}" dt="2026-01-20T10:18:01.060" v="230" actId="478"/>
          <ac:cxnSpMkLst>
            <pc:docMk/>
            <pc:sldMk cId="0" sldId="261"/>
            <ac:cxnSpMk id="33" creationId="{54A5EB9E-E3A8-D060-09AD-A1E4FB319F01}"/>
          </ac:cxnSpMkLst>
        </pc:cxnChg>
        <pc:cxnChg chg="mod">
          <ac:chgData name="Giovanni Zullo" userId="877685e0-c7cf-4178-9f24-e9c8c2bc69db" providerId="ADAL" clId="{AA6E970B-28CB-4F6D-8AC4-9A276EE8790F}" dt="2026-01-20T10:18:01.060" v="230" actId="478"/>
          <ac:cxnSpMkLst>
            <pc:docMk/>
            <pc:sldMk cId="0" sldId="261"/>
            <ac:cxnSpMk id="48" creationId="{F6FF5BF6-A874-54CE-68DD-EE4242B8E350}"/>
          </ac:cxnSpMkLst>
        </pc:cxnChg>
        <pc:cxnChg chg="mod">
          <ac:chgData name="Giovanni Zullo" userId="877685e0-c7cf-4178-9f24-e9c8c2bc69db" providerId="ADAL" clId="{AA6E970B-28CB-4F6D-8AC4-9A276EE8790F}" dt="2026-01-20T10:18:01.060" v="230" actId="478"/>
          <ac:cxnSpMkLst>
            <pc:docMk/>
            <pc:sldMk cId="0" sldId="261"/>
            <ac:cxnSpMk id="49" creationId="{D2326044-E6DD-D703-776D-65DBCE97FB58}"/>
          </ac:cxnSpMkLst>
        </pc:cxnChg>
        <pc:cxnChg chg="mod">
          <ac:chgData name="Giovanni Zullo" userId="877685e0-c7cf-4178-9f24-e9c8c2bc69db" providerId="ADAL" clId="{AA6E970B-28CB-4F6D-8AC4-9A276EE8790F}" dt="2026-01-20T10:18:01.060" v="230" actId="478"/>
          <ac:cxnSpMkLst>
            <pc:docMk/>
            <pc:sldMk cId="0" sldId="261"/>
            <ac:cxnSpMk id="50" creationId="{91BFF3F8-FD50-7FAD-BB52-7D1A1E165E31}"/>
          </ac:cxnSpMkLst>
        </pc:cxnChg>
      </pc:sldChg>
      <pc:sldChg chg="modNotesTx">
        <pc:chgData name="Giovanni Zullo" userId="877685e0-c7cf-4178-9f24-e9c8c2bc69db" providerId="ADAL" clId="{AA6E970B-28CB-4F6D-8AC4-9A276EE8790F}" dt="2026-01-19T12:26:43.944" v="30" actId="6549"/>
        <pc:sldMkLst>
          <pc:docMk/>
          <pc:sldMk cId="0" sldId="262"/>
        </pc:sldMkLst>
      </pc:sldChg>
      <pc:sldChg chg="modNotesTx">
        <pc:chgData name="Giovanni Zullo" userId="877685e0-c7cf-4178-9f24-e9c8c2bc69db" providerId="ADAL" clId="{AA6E970B-28CB-4F6D-8AC4-9A276EE8790F}" dt="2026-01-19T12:26:47.445" v="31" actId="6549"/>
        <pc:sldMkLst>
          <pc:docMk/>
          <pc:sldMk cId="0" sldId="263"/>
        </pc:sldMkLst>
      </pc:sldChg>
      <pc:sldChg chg="modSp del mod">
        <pc:chgData name="Giovanni Zullo" userId="877685e0-c7cf-4178-9f24-e9c8c2bc69db" providerId="ADAL" clId="{AA6E970B-28CB-4F6D-8AC4-9A276EE8790F}" dt="2026-01-20T10:21:06.429" v="312" actId="47"/>
        <pc:sldMkLst>
          <pc:docMk/>
          <pc:sldMk cId="0" sldId="264"/>
        </pc:sldMkLst>
        <pc:spChg chg="mod">
          <ac:chgData name="Giovanni Zullo" userId="877685e0-c7cf-4178-9f24-e9c8c2bc69db" providerId="ADAL" clId="{AA6E970B-28CB-4F6D-8AC4-9A276EE8790F}" dt="2026-01-19T12:26:52.889" v="32" actId="6549"/>
          <ac:spMkLst>
            <pc:docMk/>
            <pc:sldMk cId="0" sldId="264"/>
            <ac:spMk id="712" creationId="{00000000-0000-0000-0000-000000000000}"/>
          </ac:spMkLst>
        </pc:spChg>
      </pc:sldChg>
      <pc:sldChg chg="modSp del mod">
        <pc:chgData name="Giovanni Zullo" userId="877685e0-c7cf-4178-9f24-e9c8c2bc69db" providerId="ADAL" clId="{AA6E970B-28CB-4F6D-8AC4-9A276EE8790F}" dt="2026-01-20T10:21:06.429" v="312" actId="47"/>
        <pc:sldMkLst>
          <pc:docMk/>
          <pc:sldMk cId="0" sldId="265"/>
        </pc:sldMkLst>
        <pc:spChg chg="mod">
          <ac:chgData name="Giovanni Zullo" userId="877685e0-c7cf-4178-9f24-e9c8c2bc69db" providerId="ADAL" clId="{AA6E970B-28CB-4F6D-8AC4-9A276EE8790F}" dt="2026-01-19T12:26:58.449" v="41" actId="20577"/>
          <ac:spMkLst>
            <pc:docMk/>
            <pc:sldMk cId="0" sldId="265"/>
            <ac:spMk id="718" creationId="{00000000-0000-0000-0000-000000000000}"/>
          </ac:spMkLst>
        </pc:spChg>
      </pc:sldChg>
      <pc:sldChg chg="modNotesTx">
        <pc:chgData name="Giovanni Zullo" userId="877685e0-c7cf-4178-9f24-e9c8c2bc69db" providerId="ADAL" clId="{AA6E970B-28CB-4F6D-8AC4-9A276EE8790F}" dt="2026-01-19T12:27:02.103" v="42" actId="6549"/>
        <pc:sldMkLst>
          <pc:docMk/>
          <pc:sldMk cId="0" sldId="266"/>
        </pc:sldMkLst>
      </pc:sldChg>
      <pc:sldChg chg="modNotesTx">
        <pc:chgData name="Giovanni Zullo" userId="877685e0-c7cf-4178-9f24-e9c8c2bc69db" providerId="ADAL" clId="{AA6E970B-28CB-4F6D-8AC4-9A276EE8790F}" dt="2026-01-19T12:27:07.757" v="43" actId="6549"/>
        <pc:sldMkLst>
          <pc:docMk/>
          <pc:sldMk cId="0" sldId="267"/>
        </pc:sldMkLst>
      </pc:sldChg>
      <pc:sldChg chg="modNotesTx">
        <pc:chgData name="Giovanni Zullo" userId="877685e0-c7cf-4178-9f24-e9c8c2bc69db" providerId="ADAL" clId="{AA6E970B-28CB-4F6D-8AC4-9A276EE8790F}" dt="2026-01-19T12:27:11.369" v="44" actId="6549"/>
        <pc:sldMkLst>
          <pc:docMk/>
          <pc:sldMk cId="0" sldId="268"/>
        </pc:sldMkLst>
      </pc:sldChg>
      <pc:sldChg chg="addSp delSp modSp mod modNotesTx">
        <pc:chgData name="Giovanni Zullo" userId="877685e0-c7cf-4178-9f24-e9c8c2bc69db" providerId="ADAL" clId="{AA6E970B-28CB-4F6D-8AC4-9A276EE8790F}" dt="2026-01-20T10:24:09.004" v="391" actId="1076"/>
        <pc:sldMkLst>
          <pc:docMk/>
          <pc:sldMk cId="0" sldId="269"/>
        </pc:sldMkLst>
        <pc:picChg chg="add del mod">
          <ac:chgData name="Giovanni Zullo" userId="877685e0-c7cf-4178-9f24-e9c8c2bc69db" providerId="ADAL" clId="{AA6E970B-28CB-4F6D-8AC4-9A276EE8790F}" dt="2026-01-20T10:24:02.824" v="389" actId="478"/>
          <ac:picMkLst>
            <pc:docMk/>
            <pc:sldMk cId="0" sldId="269"/>
            <ac:picMk id="2" creationId="{32CFCBFD-D2FE-229F-BCDC-CBC0AAB92CE2}"/>
          </ac:picMkLst>
        </pc:picChg>
        <pc:picChg chg="add mod">
          <ac:chgData name="Giovanni Zullo" userId="877685e0-c7cf-4178-9f24-e9c8c2bc69db" providerId="ADAL" clId="{AA6E970B-28CB-4F6D-8AC4-9A276EE8790F}" dt="2026-01-20T10:24:09.004" v="391" actId="1076"/>
          <ac:picMkLst>
            <pc:docMk/>
            <pc:sldMk cId="0" sldId="269"/>
            <ac:picMk id="3" creationId="{B6F9BACE-F53E-0AB2-E4FE-067282B9155A}"/>
          </ac:picMkLst>
        </pc:picChg>
        <pc:picChg chg="del mod">
          <ac:chgData name="Giovanni Zullo" userId="877685e0-c7cf-4178-9f24-e9c8c2bc69db" providerId="ADAL" clId="{AA6E970B-28CB-4F6D-8AC4-9A276EE8790F}" dt="2026-01-20T10:23:59.852" v="386" actId="478"/>
          <ac:picMkLst>
            <pc:docMk/>
            <pc:sldMk cId="0" sldId="269"/>
            <ac:picMk id="907" creationId="{00000000-0000-0000-0000-000000000000}"/>
          </ac:picMkLst>
        </pc:picChg>
      </pc:sldChg>
      <pc:sldChg chg="addSp delSp modSp mod modNotesTx">
        <pc:chgData name="Giovanni Zullo" userId="877685e0-c7cf-4178-9f24-e9c8c2bc69db" providerId="ADAL" clId="{AA6E970B-28CB-4F6D-8AC4-9A276EE8790F}" dt="2026-01-20T10:24:44.352" v="401" actId="14100"/>
        <pc:sldMkLst>
          <pc:docMk/>
          <pc:sldMk cId="0" sldId="270"/>
        </pc:sldMkLst>
        <pc:spChg chg="mod">
          <ac:chgData name="Giovanni Zullo" userId="877685e0-c7cf-4178-9f24-e9c8c2bc69db" providerId="ADAL" clId="{AA6E970B-28CB-4F6D-8AC4-9A276EE8790F}" dt="2026-01-20T10:24:44.352" v="401" actId="14100"/>
          <ac:spMkLst>
            <pc:docMk/>
            <pc:sldMk cId="0" sldId="270"/>
            <ac:spMk id="913" creationId="{00000000-0000-0000-0000-000000000000}"/>
          </ac:spMkLst>
        </pc:spChg>
        <pc:grpChg chg="add mod">
          <ac:chgData name="Giovanni Zullo" userId="877685e0-c7cf-4178-9f24-e9c8c2bc69db" providerId="ADAL" clId="{AA6E970B-28CB-4F6D-8AC4-9A276EE8790F}" dt="2026-01-20T10:24:38.427" v="400" actId="1076"/>
          <ac:grpSpMkLst>
            <pc:docMk/>
            <pc:sldMk cId="0" sldId="270"/>
            <ac:grpSpMk id="3" creationId="{00000000-0000-0000-0000-000000000000}"/>
          </ac:grpSpMkLst>
        </pc:grpChg>
        <pc:grpChg chg="del">
          <ac:chgData name="Giovanni Zullo" userId="877685e0-c7cf-4178-9f24-e9c8c2bc69db" providerId="ADAL" clId="{AA6E970B-28CB-4F6D-8AC4-9A276EE8790F}" dt="2026-01-20T10:23:23.340" v="374" actId="21"/>
          <ac:grpSpMkLst>
            <pc:docMk/>
            <pc:sldMk cId="0" sldId="270"/>
            <ac:grpSpMk id="914" creationId="{00000000-0000-0000-0000-000000000000}"/>
          </ac:grpSpMkLst>
        </pc:grpChg>
        <pc:picChg chg="add del mod">
          <ac:chgData name="Giovanni Zullo" userId="877685e0-c7cf-4178-9f24-e9c8c2bc69db" providerId="ADAL" clId="{AA6E970B-28CB-4F6D-8AC4-9A276EE8790F}" dt="2026-01-20T10:24:12.817" v="392" actId="478"/>
          <ac:picMkLst>
            <pc:docMk/>
            <pc:sldMk cId="0" sldId="270"/>
            <ac:picMk id="2" creationId="{83B66482-A254-DE77-5120-6CBBECA47115}"/>
          </ac:picMkLst>
        </pc:picChg>
        <pc:picChg chg="mod">
          <ac:chgData name="Giovanni Zullo" userId="877685e0-c7cf-4178-9f24-e9c8c2bc69db" providerId="ADAL" clId="{AA6E970B-28CB-4F6D-8AC4-9A276EE8790F}" dt="2026-01-20T10:23:25.558" v="375"/>
          <ac:picMkLst>
            <pc:docMk/>
            <pc:sldMk cId="0" sldId="270"/>
            <ac:picMk id="4" creationId="{00000000-0000-0000-0000-000000000000}"/>
          </ac:picMkLst>
        </pc:picChg>
        <pc:picChg chg="mod">
          <ac:chgData name="Giovanni Zullo" userId="877685e0-c7cf-4178-9f24-e9c8c2bc69db" providerId="ADAL" clId="{AA6E970B-28CB-4F6D-8AC4-9A276EE8790F}" dt="2026-01-20T10:23:25.558" v="375"/>
          <ac:picMkLst>
            <pc:docMk/>
            <pc:sldMk cId="0" sldId="270"/>
            <ac:picMk id="5" creationId="{00000000-0000-0000-0000-000000000000}"/>
          </ac:picMkLst>
        </pc:picChg>
        <pc:picChg chg="mod">
          <ac:chgData name="Giovanni Zullo" userId="877685e0-c7cf-4178-9f24-e9c8c2bc69db" providerId="ADAL" clId="{AA6E970B-28CB-4F6D-8AC4-9A276EE8790F}" dt="2026-01-20T10:23:25.558" v="375"/>
          <ac:picMkLst>
            <pc:docMk/>
            <pc:sldMk cId="0" sldId="270"/>
            <ac:picMk id="6" creationId="{00000000-0000-0000-0000-000000000000}"/>
          </ac:picMkLst>
        </pc:picChg>
        <pc:picChg chg="add mod">
          <ac:chgData name="Giovanni Zullo" userId="877685e0-c7cf-4178-9f24-e9c8c2bc69db" providerId="ADAL" clId="{AA6E970B-28CB-4F6D-8AC4-9A276EE8790F}" dt="2026-01-20T10:24:13.051" v="393"/>
          <ac:picMkLst>
            <pc:docMk/>
            <pc:sldMk cId="0" sldId="270"/>
            <ac:picMk id="7" creationId="{12B1E27C-4B88-6EDF-AD17-306B83FC70B0}"/>
          </ac:picMkLst>
        </pc:picChg>
        <pc:picChg chg="del">
          <ac:chgData name="Giovanni Zullo" userId="877685e0-c7cf-4178-9f24-e9c8c2bc69db" providerId="ADAL" clId="{AA6E970B-28CB-4F6D-8AC4-9A276EE8790F}" dt="2026-01-20T10:23:04.594" v="371" actId="478"/>
          <ac:picMkLst>
            <pc:docMk/>
            <pc:sldMk cId="0" sldId="270"/>
            <ac:picMk id="919" creationId="{00000000-0000-0000-0000-000000000000}"/>
          </ac:picMkLst>
        </pc:picChg>
      </pc:sldChg>
      <pc:sldChg chg="del">
        <pc:chgData name="Giovanni Zullo" userId="877685e0-c7cf-4178-9f24-e9c8c2bc69db" providerId="ADAL" clId="{AA6E970B-28CB-4F6D-8AC4-9A276EE8790F}" dt="2026-01-20T10:25:13.746" v="402" actId="47"/>
        <pc:sldMkLst>
          <pc:docMk/>
          <pc:sldMk cId="0" sldId="271"/>
        </pc:sldMkLst>
      </pc:sldChg>
      <pc:sldChg chg="modNotesTx">
        <pc:chgData name="Giovanni Zullo" userId="877685e0-c7cf-4178-9f24-e9c8c2bc69db" providerId="ADAL" clId="{AA6E970B-28CB-4F6D-8AC4-9A276EE8790F}" dt="2026-01-19T12:27:24.485" v="47" actId="6549"/>
        <pc:sldMkLst>
          <pc:docMk/>
          <pc:sldMk cId="0" sldId="272"/>
        </pc:sldMkLst>
      </pc:sldChg>
      <pc:sldChg chg="modNotesTx">
        <pc:chgData name="Giovanni Zullo" userId="877685e0-c7cf-4178-9f24-e9c8c2bc69db" providerId="ADAL" clId="{AA6E970B-28CB-4F6D-8AC4-9A276EE8790F}" dt="2026-01-19T12:27:27.396" v="48" actId="6549"/>
        <pc:sldMkLst>
          <pc:docMk/>
          <pc:sldMk cId="0" sldId="273"/>
        </pc:sldMkLst>
      </pc:sldChg>
      <pc:sldChg chg="modSp mod modNotesTx">
        <pc:chgData name="Giovanni Zullo" userId="877685e0-c7cf-4178-9f24-e9c8c2bc69db" providerId="ADAL" clId="{AA6E970B-28CB-4F6D-8AC4-9A276EE8790F}" dt="2026-01-20T10:26:06.918" v="412" actId="20577"/>
        <pc:sldMkLst>
          <pc:docMk/>
          <pc:sldMk cId="0" sldId="274"/>
        </pc:sldMkLst>
        <pc:spChg chg="mod">
          <ac:chgData name="Giovanni Zullo" userId="877685e0-c7cf-4178-9f24-e9c8c2bc69db" providerId="ADAL" clId="{AA6E970B-28CB-4F6D-8AC4-9A276EE8790F}" dt="2026-01-20T10:26:06.918" v="412" actId="20577"/>
          <ac:spMkLst>
            <pc:docMk/>
            <pc:sldMk cId="0" sldId="274"/>
            <ac:spMk id="1368" creationId="{00000000-0000-0000-0000-000000000000}"/>
          </ac:spMkLst>
        </pc:spChg>
      </pc:sldChg>
      <pc:sldChg chg="modNotesTx">
        <pc:chgData name="Giovanni Zullo" userId="877685e0-c7cf-4178-9f24-e9c8c2bc69db" providerId="ADAL" clId="{AA6E970B-28CB-4F6D-8AC4-9A276EE8790F}" dt="2026-01-19T12:27:32.544" v="50" actId="6549"/>
        <pc:sldMkLst>
          <pc:docMk/>
          <pc:sldMk cId="0" sldId="275"/>
        </pc:sldMkLst>
      </pc:sldChg>
      <pc:sldChg chg="modNotesTx">
        <pc:chgData name="Giovanni Zullo" userId="877685e0-c7cf-4178-9f24-e9c8c2bc69db" providerId="ADAL" clId="{AA6E970B-28CB-4F6D-8AC4-9A276EE8790F}" dt="2026-01-19T12:27:35.673" v="51" actId="6549"/>
        <pc:sldMkLst>
          <pc:docMk/>
          <pc:sldMk cId="0" sldId="276"/>
        </pc:sldMkLst>
      </pc:sldChg>
      <pc:sldChg chg="modSp mod modNotesTx">
        <pc:chgData name="Giovanni Zullo" userId="877685e0-c7cf-4178-9f24-e9c8c2bc69db" providerId="ADAL" clId="{AA6E970B-28CB-4F6D-8AC4-9A276EE8790F}" dt="2026-01-20T10:26:04.689" v="410" actId="1035"/>
        <pc:sldMkLst>
          <pc:docMk/>
          <pc:sldMk cId="0" sldId="277"/>
        </pc:sldMkLst>
        <pc:spChg chg="mod">
          <ac:chgData name="Giovanni Zullo" userId="877685e0-c7cf-4178-9f24-e9c8c2bc69db" providerId="ADAL" clId="{AA6E970B-28CB-4F6D-8AC4-9A276EE8790F}" dt="2026-01-20T10:25:35.634" v="404" actId="20577"/>
          <ac:spMkLst>
            <pc:docMk/>
            <pc:sldMk cId="0" sldId="277"/>
            <ac:spMk id="1757" creationId="{00000000-0000-0000-0000-000000000000}"/>
          </ac:spMkLst>
        </pc:spChg>
        <pc:picChg chg="mod">
          <ac:chgData name="Giovanni Zullo" userId="877685e0-c7cf-4178-9f24-e9c8c2bc69db" providerId="ADAL" clId="{AA6E970B-28CB-4F6D-8AC4-9A276EE8790F}" dt="2026-01-20T10:26:04.689" v="410" actId="1035"/>
          <ac:picMkLst>
            <pc:docMk/>
            <pc:sldMk cId="0" sldId="277"/>
            <ac:picMk id="1760" creationId="{00000000-0000-0000-0000-000000000000}"/>
          </ac:picMkLst>
        </pc:picChg>
      </pc:sldChg>
      <pc:sldChg chg="modSp del mod">
        <pc:chgData name="Giovanni Zullo" userId="877685e0-c7cf-4178-9f24-e9c8c2bc69db" providerId="ADAL" clId="{AA6E970B-28CB-4F6D-8AC4-9A276EE8790F}" dt="2026-01-20T10:26:11.275" v="413" actId="47"/>
        <pc:sldMkLst>
          <pc:docMk/>
          <pc:sldMk cId="0" sldId="278"/>
        </pc:sldMkLst>
        <pc:spChg chg="mod">
          <ac:chgData name="Giovanni Zullo" userId="877685e0-c7cf-4178-9f24-e9c8c2bc69db" providerId="ADAL" clId="{AA6E970B-28CB-4F6D-8AC4-9A276EE8790F}" dt="2026-01-19T12:27:43.303" v="61" actId="20577"/>
          <ac:spMkLst>
            <pc:docMk/>
            <pc:sldMk cId="0" sldId="278"/>
            <ac:spMk id="1766" creationId="{00000000-0000-0000-0000-000000000000}"/>
          </ac:spMkLst>
        </pc:spChg>
      </pc:sldChg>
      <pc:sldChg chg="delSp mod delAnim modNotesTx">
        <pc:chgData name="Giovanni Zullo" userId="877685e0-c7cf-4178-9f24-e9c8c2bc69db" providerId="ADAL" clId="{AA6E970B-28CB-4F6D-8AC4-9A276EE8790F}" dt="2026-01-19T12:27:48.695" v="63" actId="478"/>
        <pc:sldMkLst>
          <pc:docMk/>
          <pc:sldMk cId="0" sldId="279"/>
        </pc:sldMkLst>
        <pc:spChg chg="del">
          <ac:chgData name="Giovanni Zullo" userId="877685e0-c7cf-4178-9f24-e9c8c2bc69db" providerId="ADAL" clId="{AA6E970B-28CB-4F6D-8AC4-9A276EE8790F}" dt="2026-01-19T12:27:48.695" v="63" actId="478"/>
          <ac:spMkLst>
            <pc:docMk/>
            <pc:sldMk cId="0" sldId="279"/>
            <ac:spMk id="1775" creationId="{00000000-0000-0000-0000-000000000000}"/>
          </ac:spMkLst>
        </pc:spChg>
      </pc:sldChg>
      <pc:sldChg chg="modNotesTx">
        <pc:chgData name="Giovanni Zullo" userId="877685e0-c7cf-4178-9f24-e9c8c2bc69db" providerId="ADAL" clId="{AA6E970B-28CB-4F6D-8AC4-9A276EE8790F}" dt="2026-01-19T12:27:52.453" v="64" actId="6549"/>
        <pc:sldMkLst>
          <pc:docMk/>
          <pc:sldMk cId="0" sldId="280"/>
        </pc:sldMkLst>
      </pc:sldChg>
      <pc:sldChg chg="modNotesTx">
        <pc:chgData name="Giovanni Zullo" userId="877685e0-c7cf-4178-9f24-e9c8c2bc69db" providerId="ADAL" clId="{AA6E970B-28CB-4F6D-8AC4-9A276EE8790F}" dt="2026-01-19T12:27:55.697" v="65" actId="6549"/>
        <pc:sldMkLst>
          <pc:docMk/>
          <pc:sldMk cId="0" sldId="281"/>
        </pc:sldMkLst>
      </pc:sldChg>
      <pc:sldChg chg="modNotesTx">
        <pc:chgData name="Giovanni Zullo" userId="877685e0-c7cf-4178-9f24-e9c8c2bc69db" providerId="ADAL" clId="{AA6E970B-28CB-4F6D-8AC4-9A276EE8790F}" dt="2026-01-19T12:27:57.957" v="66" actId="6549"/>
        <pc:sldMkLst>
          <pc:docMk/>
          <pc:sldMk cId="0" sldId="282"/>
        </pc:sldMkLst>
      </pc:sldChg>
      <pc:sldChg chg="modNotesTx">
        <pc:chgData name="Giovanni Zullo" userId="877685e0-c7cf-4178-9f24-e9c8c2bc69db" providerId="ADAL" clId="{AA6E970B-28CB-4F6D-8AC4-9A276EE8790F}" dt="2026-01-19T12:28:00.908" v="67" actId="6549"/>
        <pc:sldMkLst>
          <pc:docMk/>
          <pc:sldMk cId="0" sldId="283"/>
        </pc:sldMkLst>
      </pc:sldChg>
      <pc:sldChg chg="modSp mod">
        <pc:chgData name="Giovanni Zullo" userId="877685e0-c7cf-4178-9f24-e9c8c2bc69db" providerId="ADAL" clId="{AA6E970B-28CB-4F6D-8AC4-9A276EE8790F}" dt="2026-01-20T10:27:58.853" v="476" actId="20577"/>
        <pc:sldMkLst>
          <pc:docMk/>
          <pc:sldMk cId="0" sldId="284"/>
        </pc:sldMkLst>
        <pc:spChg chg="mod">
          <ac:chgData name="Giovanni Zullo" userId="877685e0-c7cf-4178-9f24-e9c8c2bc69db" providerId="ADAL" clId="{AA6E970B-28CB-4F6D-8AC4-9A276EE8790F}" dt="2026-01-20T10:27:58.853" v="476" actId="20577"/>
          <ac:spMkLst>
            <pc:docMk/>
            <pc:sldMk cId="0" sldId="284"/>
            <ac:spMk id="1959" creationId="{00000000-0000-0000-0000-000000000000}"/>
          </ac:spMkLst>
        </pc:spChg>
      </pc:sldChg>
      <pc:sldChg chg="modSp del mod">
        <pc:chgData name="Giovanni Zullo" userId="877685e0-c7cf-4178-9f24-e9c8c2bc69db" providerId="ADAL" clId="{AA6E970B-28CB-4F6D-8AC4-9A276EE8790F}" dt="2026-01-20T10:26:23.230" v="414" actId="47"/>
        <pc:sldMkLst>
          <pc:docMk/>
          <pc:sldMk cId="0" sldId="285"/>
        </pc:sldMkLst>
        <pc:spChg chg="mod">
          <ac:chgData name="Giovanni Zullo" userId="877685e0-c7cf-4178-9f24-e9c8c2bc69db" providerId="ADAL" clId="{AA6E970B-28CB-4F6D-8AC4-9A276EE8790F}" dt="2026-01-19T12:28:16.432" v="84" actId="20577"/>
          <ac:spMkLst>
            <pc:docMk/>
            <pc:sldMk cId="0" sldId="285"/>
            <ac:spMk id="1965" creationId="{00000000-0000-0000-0000-000000000000}"/>
          </ac:spMkLst>
        </pc:spChg>
      </pc:sldChg>
      <pc:sldChg chg="modNotesTx">
        <pc:chgData name="Giovanni Zullo" userId="877685e0-c7cf-4178-9f24-e9c8c2bc69db" providerId="ADAL" clId="{AA6E970B-28CB-4F6D-8AC4-9A276EE8790F}" dt="2026-01-19T12:28:22.049" v="85" actId="6549"/>
        <pc:sldMkLst>
          <pc:docMk/>
          <pc:sldMk cId="0" sldId="286"/>
        </pc:sldMkLst>
      </pc:sldChg>
      <pc:sldChg chg="modNotesTx">
        <pc:chgData name="Giovanni Zullo" userId="877685e0-c7cf-4178-9f24-e9c8c2bc69db" providerId="ADAL" clId="{AA6E970B-28CB-4F6D-8AC4-9A276EE8790F}" dt="2026-01-19T12:28:24.750" v="86" actId="6549"/>
        <pc:sldMkLst>
          <pc:docMk/>
          <pc:sldMk cId="0" sldId="287"/>
        </pc:sldMkLst>
      </pc:sldChg>
      <pc:sldChg chg="modNotesTx">
        <pc:chgData name="Giovanni Zullo" userId="877685e0-c7cf-4178-9f24-e9c8c2bc69db" providerId="ADAL" clId="{AA6E970B-28CB-4F6D-8AC4-9A276EE8790F}" dt="2026-01-19T12:28:26.991" v="87" actId="6549"/>
        <pc:sldMkLst>
          <pc:docMk/>
          <pc:sldMk cId="0" sldId="288"/>
        </pc:sldMkLst>
      </pc:sldChg>
      <pc:sldChg chg="modNotesTx">
        <pc:chgData name="Giovanni Zullo" userId="877685e0-c7cf-4178-9f24-e9c8c2bc69db" providerId="ADAL" clId="{AA6E970B-28CB-4F6D-8AC4-9A276EE8790F}" dt="2026-01-19T12:28:29.433" v="88" actId="6549"/>
        <pc:sldMkLst>
          <pc:docMk/>
          <pc:sldMk cId="0" sldId="289"/>
        </pc:sldMkLst>
      </pc:sldChg>
      <pc:sldChg chg="modNotesTx">
        <pc:chgData name="Giovanni Zullo" userId="877685e0-c7cf-4178-9f24-e9c8c2bc69db" providerId="ADAL" clId="{AA6E970B-28CB-4F6D-8AC4-9A276EE8790F}" dt="2026-01-19T12:28:31.694" v="89" actId="6549"/>
        <pc:sldMkLst>
          <pc:docMk/>
          <pc:sldMk cId="0" sldId="290"/>
        </pc:sldMkLst>
      </pc:sldChg>
      <pc:sldChg chg="modNotesTx">
        <pc:chgData name="Giovanni Zullo" userId="877685e0-c7cf-4178-9f24-e9c8c2bc69db" providerId="ADAL" clId="{AA6E970B-28CB-4F6D-8AC4-9A276EE8790F}" dt="2026-01-19T12:28:33.843" v="90" actId="6549"/>
        <pc:sldMkLst>
          <pc:docMk/>
          <pc:sldMk cId="0" sldId="291"/>
        </pc:sldMkLst>
      </pc:sldChg>
      <pc:sldChg chg="modNotesTx">
        <pc:chgData name="Giovanni Zullo" userId="877685e0-c7cf-4178-9f24-e9c8c2bc69db" providerId="ADAL" clId="{AA6E970B-28CB-4F6D-8AC4-9A276EE8790F}" dt="2026-01-20T10:09:52.786" v="106" actId="20577"/>
        <pc:sldMkLst>
          <pc:docMk/>
          <pc:sldMk cId="0" sldId="292"/>
        </pc:sldMkLst>
      </pc:sldChg>
      <pc:sldChg chg="modSp del mod">
        <pc:chgData name="Giovanni Zullo" userId="877685e0-c7cf-4178-9f24-e9c8c2bc69db" providerId="ADAL" clId="{AA6E970B-28CB-4F6D-8AC4-9A276EE8790F}" dt="2026-01-20T10:28:12.323" v="477" actId="47"/>
        <pc:sldMkLst>
          <pc:docMk/>
          <pc:sldMk cId="0" sldId="293"/>
        </pc:sldMkLst>
        <pc:spChg chg="mod">
          <ac:chgData name="Giovanni Zullo" userId="877685e0-c7cf-4178-9f24-e9c8c2bc69db" providerId="ADAL" clId="{AA6E970B-28CB-4F6D-8AC4-9A276EE8790F}" dt="2026-01-19T12:28:39.528" v="99" actId="20577"/>
          <ac:spMkLst>
            <pc:docMk/>
            <pc:sldMk cId="0" sldId="293"/>
            <ac:spMk id="2526" creationId="{00000000-0000-0000-0000-000000000000}"/>
          </ac:spMkLst>
        </pc:spChg>
      </pc:sldChg>
      <pc:sldChg chg="modNotesTx">
        <pc:chgData name="Giovanni Zullo" userId="877685e0-c7cf-4178-9f24-e9c8c2bc69db" providerId="ADAL" clId="{AA6E970B-28CB-4F6D-8AC4-9A276EE8790F}" dt="2026-01-19T12:28:42.875" v="100" actId="6549"/>
        <pc:sldMkLst>
          <pc:docMk/>
          <pc:sldMk cId="0" sldId="294"/>
        </pc:sldMkLst>
      </pc:sldChg>
      <pc:sldChg chg="modNotesTx">
        <pc:chgData name="Giovanni Zullo" userId="877685e0-c7cf-4178-9f24-e9c8c2bc69db" providerId="ADAL" clId="{AA6E970B-28CB-4F6D-8AC4-9A276EE8790F}" dt="2026-01-19T12:28:45.349" v="101" actId="20577"/>
        <pc:sldMkLst>
          <pc:docMk/>
          <pc:sldMk cId="0" sldId="295"/>
        </pc:sldMkLst>
      </pc:sldChg>
      <pc:sldChg chg="modNotesTx">
        <pc:chgData name="Giovanni Zullo" userId="877685e0-c7cf-4178-9f24-e9c8c2bc69db" providerId="ADAL" clId="{AA6E970B-28CB-4F6D-8AC4-9A276EE8790F}" dt="2026-01-19T12:29:01.453" v="105" actId="6549"/>
        <pc:sldMkLst>
          <pc:docMk/>
          <pc:sldMk cId="0" sldId="296"/>
        </pc:sldMkLst>
      </pc:sldChg>
      <pc:sldChg chg="modNotesTx">
        <pc:chgData name="Giovanni Zullo" userId="877685e0-c7cf-4178-9f24-e9c8c2bc69db" providerId="ADAL" clId="{AA6E970B-28CB-4F6D-8AC4-9A276EE8790F}" dt="2026-01-19T12:28:50.586" v="104" actId="6549"/>
        <pc:sldMkLst>
          <pc:docMk/>
          <pc:sldMk cId="0"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11" name="Google Shape;211;p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71765d6a47_0_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71765d6a47_0_2: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30" name="Google Shape;230;g371765d6a47_0_2:notes"/>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71765d6a47_0_1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g371765d6a47_0_11: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38" name="Google Shape;238;g371765d6a47_0_11:notes"/>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4: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46" name="Google Shape;246;p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75" name="Google Shape;275;p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p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722" name="Google Shape;722;p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p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868" name="Google Shape;868;p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p10: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p1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875" name="Google Shape;875;p1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1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p1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903" name="Google Shape;903;p1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1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p1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911" name="Google Shape;911;p1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a:extLst>
            <a:ext uri="{FF2B5EF4-FFF2-40B4-BE49-F238E27FC236}">
              <a16:creationId xmlns:a16="http://schemas.microsoft.com/office/drawing/2014/main" id="{16A0B8C8-2032-2FE8-9434-68E0AE6D0B16}"/>
            </a:ext>
          </a:extLst>
        </p:cNvPr>
        <p:cNvGrpSpPr/>
        <p:nvPr/>
      </p:nvGrpSpPr>
      <p:grpSpPr>
        <a:xfrm>
          <a:off x="0" y="0"/>
          <a:ext cx="0" cy="0"/>
          <a:chOff x="0" y="0"/>
          <a:chExt cx="0" cy="0"/>
        </a:xfrm>
      </p:grpSpPr>
      <p:sp>
        <p:nvSpPr>
          <p:cNvPr id="909" name="Google Shape;909;p12:notes">
            <a:extLst>
              <a:ext uri="{FF2B5EF4-FFF2-40B4-BE49-F238E27FC236}">
                <a16:creationId xmlns:a16="http://schemas.microsoft.com/office/drawing/2014/main" id="{A7F87F7B-DDFA-845C-2A13-9552897A272A}"/>
              </a:ext>
            </a:extLst>
          </p:cNvPr>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p12:notes">
            <a:extLst>
              <a:ext uri="{FF2B5EF4-FFF2-40B4-BE49-F238E27FC236}">
                <a16:creationId xmlns:a16="http://schemas.microsoft.com/office/drawing/2014/main" id="{39BBA7E9-FC42-9B2C-6FDC-BE34C1A45D13}"/>
              </a:ext>
            </a:extLst>
          </p:cNvPr>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911" name="Google Shape;911;p12:notes">
            <a:extLst>
              <a:ext uri="{FF2B5EF4-FFF2-40B4-BE49-F238E27FC236}">
                <a16:creationId xmlns:a16="http://schemas.microsoft.com/office/drawing/2014/main" id="{55EE49B6-8C3F-E5CE-CBA4-63C1E9664E0A}"/>
              </a:ext>
            </a:extLst>
          </p:cNvPr>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extLst>
      <p:ext uri="{BB962C8B-B14F-4D97-AF65-F5344CB8AC3E}">
        <p14:creationId xmlns:p14="http://schemas.microsoft.com/office/powerpoint/2010/main" val="2941777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4: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p1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929" name="Google Shape;929;p1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p1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957" name="Google Shape;957;p1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3"/>
        <p:cNvGrpSpPr/>
        <p:nvPr/>
      </p:nvGrpSpPr>
      <p:grpSpPr>
        <a:xfrm>
          <a:off x="0" y="0"/>
          <a:ext cx="0" cy="0"/>
          <a:chOff x="0" y="0"/>
          <a:chExt cx="0" cy="0"/>
        </a:xfrm>
      </p:grpSpPr>
      <p:sp>
        <p:nvSpPr>
          <p:cNvPr id="1364" name="Google Shape;1364;p16: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5" name="Google Shape;1365;p1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366" name="Google Shape;1366;p1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p17: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4" name="Google Shape;1374;p1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375" name="Google Shape;1375;p1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p1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2" name="Google Shape;1402;p1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1403" name="Google Shape;1403;p1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p1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4" name="Google Shape;1754;p1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755" name="Google Shape;1755;p1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p2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9" name="Google Shape;1769;p2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1770" name="Google Shape;1770;p2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p2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8" name="Google Shape;1778;p2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779" name="Google Shape;1779;p2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7"/>
        <p:cNvGrpSpPr/>
        <p:nvPr/>
      </p:nvGrpSpPr>
      <p:grpSpPr>
        <a:xfrm>
          <a:off x="0" y="0"/>
          <a:ext cx="0" cy="0"/>
          <a:chOff x="0" y="0"/>
          <a:chExt cx="0" cy="0"/>
        </a:xfrm>
      </p:grpSpPr>
      <p:sp>
        <p:nvSpPr>
          <p:cNvPr id="1818" name="Google Shape;1818;p23: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9" name="Google Shape;1819;p2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1820" name="Google Shape;1820;p2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3"/>
        <p:cNvGrpSpPr/>
        <p:nvPr/>
      </p:nvGrpSpPr>
      <p:grpSpPr>
        <a:xfrm>
          <a:off x="0" y="0"/>
          <a:ext cx="0" cy="0"/>
          <a:chOff x="0" y="0"/>
          <a:chExt cx="0" cy="0"/>
        </a:xfrm>
      </p:grpSpPr>
      <p:sp>
        <p:nvSpPr>
          <p:cNvPr id="1864" name="Google Shape;1864;p24: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5" name="Google Shape;1865;p2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b="0" dirty="0"/>
          </a:p>
        </p:txBody>
      </p:sp>
      <p:sp>
        <p:nvSpPr>
          <p:cNvPr id="1866" name="Google Shape;1866;p2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9"/>
        <p:cNvGrpSpPr/>
        <p:nvPr/>
      </p:nvGrpSpPr>
      <p:grpSpPr>
        <a:xfrm>
          <a:off x="0" y="0"/>
          <a:ext cx="0" cy="0"/>
          <a:chOff x="0" y="0"/>
          <a:chExt cx="0" cy="0"/>
        </a:xfrm>
      </p:grpSpPr>
      <p:sp>
        <p:nvSpPr>
          <p:cNvPr id="1910" name="Google Shape;1910;p2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1" name="Google Shape;1911;p2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1912" name="Google Shape;1912;p2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4"/>
        <p:cNvGrpSpPr/>
        <p:nvPr/>
      </p:nvGrpSpPr>
      <p:grpSpPr>
        <a:xfrm>
          <a:off x="0" y="0"/>
          <a:ext cx="0" cy="0"/>
          <a:chOff x="0" y="0"/>
          <a:chExt cx="0" cy="0"/>
        </a:xfrm>
      </p:grpSpPr>
      <p:sp>
        <p:nvSpPr>
          <p:cNvPr id="1955" name="Google Shape;1955;p26: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6" name="Google Shape;1956;p2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b="0"/>
          </a:p>
        </p:txBody>
      </p:sp>
      <p:sp>
        <p:nvSpPr>
          <p:cNvPr id="1957" name="Google Shape;1957;p2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6"/>
        <p:cNvGrpSpPr/>
        <p:nvPr/>
      </p:nvGrpSpPr>
      <p:grpSpPr>
        <a:xfrm>
          <a:off x="0" y="0"/>
          <a:ext cx="0" cy="0"/>
          <a:chOff x="0" y="0"/>
          <a:chExt cx="0" cy="0"/>
        </a:xfrm>
      </p:grpSpPr>
      <p:sp>
        <p:nvSpPr>
          <p:cNvPr id="1967" name="Google Shape;1967;p2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8" name="Google Shape;1968;p2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1969" name="Google Shape;1969;p2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4"/>
        <p:cNvGrpSpPr/>
        <p:nvPr/>
      </p:nvGrpSpPr>
      <p:grpSpPr>
        <a:xfrm>
          <a:off x="0" y="0"/>
          <a:ext cx="0" cy="0"/>
          <a:chOff x="0" y="0"/>
          <a:chExt cx="0" cy="0"/>
        </a:xfrm>
      </p:grpSpPr>
      <p:sp>
        <p:nvSpPr>
          <p:cNvPr id="1975" name="Google Shape;1975;p2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6" name="Google Shape;1976;p2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1977" name="Google Shape;1977;p2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5"/>
        <p:cNvGrpSpPr/>
        <p:nvPr/>
      </p:nvGrpSpPr>
      <p:grpSpPr>
        <a:xfrm>
          <a:off x="0" y="0"/>
          <a:ext cx="0" cy="0"/>
          <a:chOff x="0" y="0"/>
          <a:chExt cx="0" cy="0"/>
        </a:xfrm>
      </p:grpSpPr>
      <p:sp>
        <p:nvSpPr>
          <p:cNvPr id="2386" name="Google Shape;2386;p30: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7" name="Google Shape;2387;p3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2388" name="Google Shape;2388;p3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6"/>
        <p:cNvGrpSpPr/>
        <p:nvPr/>
      </p:nvGrpSpPr>
      <p:grpSpPr>
        <a:xfrm>
          <a:off x="0" y="0"/>
          <a:ext cx="0" cy="0"/>
          <a:chOff x="0" y="0"/>
          <a:chExt cx="0" cy="0"/>
        </a:xfrm>
      </p:grpSpPr>
      <p:sp>
        <p:nvSpPr>
          <p:cNvPr id="2397" name="Google Shape;2397;p3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8" name="Google Shape;2398;p3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2399" name="Google Shape;2399;p3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5"/>
        <p:cNvGrpSpPr/>
        <p:nvPr/>
      </p:nvGrpSpPr>
      <p:grpSpPr>
        <a:xfrm>
          <a:off x="0" y="0"/>
          <a:ext cx="0" cy="0"/>
          <a:chOff x="0" y="0"/>
          <a:chExt cx="0" cy="0"/>
        </a:xfrm>
      </p:grpSpPr>
      <p:sp>
        <p:nvSpPr>
          <p:cNvPr id="2496" name="Google Shape;2496;p3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7" name="Google Shape;2497;p3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2498" name="Google Shape;2498;p3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28</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5"/>
        <p:cNvGrpSpPr/>
        <p:nvPr/>
      </p:nvGrpSpPr>
      <p:grpSpPr>
        <a:xfrm>
          <a:off x="0" y="0"/>
          <a:ext cx="0" cy="0"/>
          <a:chOff x="0" y="0"/>
          <a:chExt cx="0" cy="0"/>
        </a:xfrm>
      </p:grpSpPr>
      <p:sp>
        <p:nvSpPr>
          <p:cNvPr id="2506" name="Google Shape;2506;p33: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7" name="Google Shape;2507;p3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8" name="Google Shape;2508;p3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29</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3"/>
        <p:cNvGrpSpPr/>
        <p:nvPr/>
      </p:nvGrpSpPr>
      <p:grpSpPr>
        <a:xfrm>
          <a:off x="0" y="0"/>
          <a:ext cx="0" cy="0"/>
          <a:chOff x="0" y="0"/>
          <a:chExt cx="0" cy="0"/>
        </a:xfrm>
      </p:grpSpPr>
      <p:sp>
        <p:nvSpPr>
          <p:cNvPr id="2514" name="Google Shape;2514;p34: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5" name="Google Shape;2515;p3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2516" name="Google Shape;2516;p3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7"/>
        <p:cNvGrpSpPr/>
        <p:nvPr/>
      </p:nvGrpSpPr>
      <p:grpSpPr>
        <a:xfrm>
          <a:off x="0" y="0"/>
          <a:ext cx="0" cy="0"/>
          <a:chOff x="0" y="0"/>
          <a:chExt cx="0" cy="0"/>
        </a:xfrm>
      </p:grpSpPr>
      <p:sp>
        <p:nvSpPr>
          <p:cNvPr id="2528" name="Google Shape;2528;p36: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9" name="Google Shape;2529;p3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530" name="Google Shape;2530;p3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0"/>
        <p:cNvGrpSpPr/>
        <p:nvPr/>
      </p:nvGrpSpPr>
      <p:grpSpPr>
        <a:xfrm>
          <a:off x="0" y="0"/>
          <a:ext cx="0" cy="0"/>
          <a:chOff x="0" y="0"/>
          <a:chExt cx="0" cy="0"/>
        </a:xfrm>
      </p:grpSpPr>
      <p:sp>
        <p:nvSpPr>
          <p:cNvPr id="2881" name="Google Shape;2881;p37: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2" name="Google Shape;2882;p3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83" name="Google Shape;2883;p3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8"/>
        <p:cNvGrpSpPr/>
        <p:nvPr/>
      </p:nvGrpSpPr>
      <p:grpSpPr>
        <a:xfrm>
          <a:off x="0" y="0"/>
          <a:ext cx="0" cy="0"/>
          <a:chOff x="0" y="0"/>
          <a:chExt cx="0" cy="0"/>
        </a:xfrm>
      </p:grpSpPr>
      <p:sp>
        <p:nvSpPr>
          <p:cNvPr id="2889" name="Google Shape;2889;p3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0" name="Google Shape;2890;p3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891" name="Google Shape;2891;p3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6"/>
        <p:cNvGrpSpPr/>
        <p:nvPr/>
      </p:nvGrpSpPr>
      <p:grpSpPr>
        <a:xfrm>
          <a:off x="0" y="0"/>
          <a:ext cx="0" cy="0"/>
          <a:chOff x="0" y="0"/>
          <a:chExt cx="0" cy="0"/>
        </a:xfrm>
      </p:grpSpPr>
      <p:sp>
        <p:nvSpPr>
          <p:cNvPr id="2897" name="Google Shape;2897;p3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8" name="Google Shape;2898;p3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9" name="Google Shape;2899;p3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3"/>
        <p:cNvGrpSpPr/>
        <p:nvPr/>
      </p:nvGrpSpPr>
      <p:grpSpPr>
        <a:xfrm>
          <a:off x="0" y="0"/>
          <a:ext cx="0" cy="0"/>
          <a:chOff x="0" y="0"/>
          <a:chExt cx="0" cy="0"/>
        </a:xfrm>
      </p:grpSpPr>
      <p:sp>
        <p:nvSpPr>
          <p:cNvPr id="2904" name="Google Shape;2904;p40: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5" name="Google Shape;2905;p4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906" name="Google Shape;2906;p4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35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0"/>
        <p:cNvGrpSpPr/>
        <p:nvPr/>
      </p:nvGrpSpPr>
      <p:grpSpPr>
        <a:xfrm>
          <a:off x="0" y="0"/>
          <a:ext cx="0" cy="0"/>
          <a:chOff x="0" y="0"/>
          <a:chExt cx="0" cy="0"/>
        </a:xfrm>
      </p:grpSpPr>
      <p:sp>
        <p:nvSpPr>
          <p:cNvPr id="21" name="Google Shape;21;p49"/>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9"/>
          <p:cNvSpPr txBox="1">
            <a:spLocks noGrp="1"/>
          </p:cNvSpPr>
          <p:nvPr>
            <p:ph type="subTitle" idx="1"/>
          </p:nvPr>
        </p:nvSpPr>
        <p:spPr>
          <a:xfrm>
            <a:off x="4173120" y="2536200"/>
            <a:ext cx="3657240" cy="1028736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3"/>
        <p:cNvGrpSpPr/>
        <p:nvPr/>
      </p:nvGrpSpPr>
      <p:grpSpPr>
        <a:xfrm>
          <a:off x="0" y="0"/>
          <a:ext cx="0" cy="0"/>
          <a:chOff x="0" y="0"/>
          <a:chExt cx="0" cy="0"/>
        </a:xfrm>
      </p:grpSpPr>
      <p:sp>
        <p:nvSpPr>
          <p:cNvPr id="24" name="Google Shape;24;p5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0"/>
          <p:cNvSpPr txBox="1">
            <a:spLocks noGrp="1"/>
          </p:cNvSpPr>
          <p:nvPr>
            <p:ph type="body" idx="1"/>
          </p:nvPr>
        </p:nvSpPr>
        <p:spPr>
          <a:xfrm>
            <a:off x="4173120" y="2131200"/>
            <a:ext cx="365724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6"/>
        <p:cNvGrpSpPr/>
        <p:nvPr/>
      </p:nvGrpSpPr>
      <p:grpSpPr>
        <a:xfrm>
          <a:off x="0" y="0"/>
          <a:ext cx="0" cy="0"/>
          <a:chOff x="0" y="0"/>
          <a:chExt cx="0" cy="0"/>
        </a:xfrm>
      </p:grpSpPr>
      <p:sp>
        <p:nvSpPr>
          <p:cNvPr id="27" name="Google Shape;27;p5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1"/>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1"/>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52"/>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2"/>
        <p:cNvGrpSpPr/>
        <p:nvPr/>
      </p:nvGrpSpPr>
      <p:grpSpPr>
        <a:xfrm>
          <a:off x="0" y="0"/>
          <a:ext cx="0" cy="0"/>
          <a:chOff x="0" y="0"/>
          <a:chExt cx="0" cy="0"/>
        </a:xfrm>
      </p:grpSpPr>
      <p:sp>
        <p:nvSpPr>
          <p:cNvPr id="33" name="Google Shape;33;p53"/>
          <p:cNvSpPr txBox="1">
            <a:spLocks noGrp="1"/>
          </p:cNvSpPr>
          <p:nvPr>
            <p:ph type="subTitle" idx="1"/>
          </p:nvPr>
        </p:nvSpPr>
        <p:spPr>
          <a:xfrm>
            <a:off x="457200" y="205200"/>
            <a:ext cx="8229240" cy="39812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4"/>
        <p:cNvGrpSpPr/>
        <p:nvPr/>
      </p:nvGrpSpPr>
      <p:grpSpPr>
        <a:xfrm>
          <a:off x="0" y="0"/>
          <a:ext cx="0" cy="0"/>
          <a:chOff x="0" y="0"/>
          <a:chExt cx="0" cy="0"/>
        </a:xfrm>
      </p:grpSpPr>
      <p:sp>
        <p:nvSpPr>
          <p:cNvPr id="35" name="Google Shape;35;p54"/>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4"/>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4"/>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4"/>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9"/>
        <p:cNvGrpSpPr/>
        <p:nvPr/>
      </p:nvGrpSpPr>
      <p:grpSpPr>
        <a:xfrm>
          <a:off x="0" y="0"/>
          <a:ext cx="0" cy="0"/>
          <a:chOff x="0" y="0"/>
          <a:chExt cx="0" cy="0"/>
        </a:xfrm>
      </p:grpSpPr>
      <p:sp>
        <p:nvSpPr>
          <p:cNvPr id="40" name="Google Shape;40;p55"/>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55"/>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55"/>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55"/>
          <p:cNvSpPr txBox="1">
            <a:spLocks noGrp="1"/>
          </p:cNvSpPr>
          <p:nvPr>
            <p:ph type="body" idx="3"/>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4"/>
        <p:cNvGrpSpPr/>
        <p:nvPr/>
      </p:nvGrpSpPr>
      <p:grpSpPr>
        <a:xfrm>
          <a:off x="0" y="0"/>
          <a:ext cx="0" cy="0"/>
          <a:chOff x="0" y="0"/>
          <a:chExt cx="0" cy="0"/>
        </a:xfrm>
      </p:grpSpPr>
      <p:sp>
        <p:nvSpPr>
          <p:cNvPr id="45" name="Google Shape;45;p56"/>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6"/>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56"/>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56"/>
          <p:cNvSpPr txBox="1">
            <a:spLocks noGrp="1"/>
          </p:cNvSpPr>
          <p:nvPr>
            <p:ph type="body" idx="3"/>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9"/>
        <p:cNvGrpSpPr/>
        <p:nvPr/>
      </p:nvGrpSpPr>
      <p:grpSpPr>
        <a:xfrm>
          <a:off x="0" y="0"/>
          <a:ext cx="0" cy="0"/>
          <a:chOff x="0" y="0"/>
          <a:chExt cx="0" cy="0"/>
        </a:xfrm>
      </p:grpSpPr>
      <p:sp>
        <p:nvSpPr>
          <p:cNvPr id="50" name="Google Shape;50;p5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57"/>
          <p:cNvSpPr txBox="1">
            <a:spLocks noGrp="1"/>
          </p:cNvSpPr>
          <p:nvPr>
            <p:ph type="body" idx="1"/>
          </p:nvPr>
        </p:nvSpPr>
        <p:spPr>
          <a:xfrm>
            <a:off x="4173120" y="213120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57"/>
          <p:cNvSpPr txBox="1">
            <a:spLocks noGrp="1"/>
          </p:cNvSpPr>
          <p:nvPr>
            <p:ph type="body" idx="2"/>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53"/>
        <p:cNvGrpSpPr/>
        <p:nvPr/>
      </p:nvGrpSpPr>
      <p:grpSpPr>
        <a:xfrm>
          <a:off x="0" y="0"/>
          <a:ext cx="0" cy="0"/>
          <a:chOff x="0" y="0"/>
          <a:chExt cx="0" cy="0"/>
        </a:xfrm>
      </p:grpSpPr>
      <p:sp>
        <p:nvSpPr>
          <p:cNvPr id="54" name="Google Shape;54;p58"/>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58"/>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58"/>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58"/>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58"/>
          <p:cNvSpPr txBox="1">
            <a:spLocks noGrp="1"/>
          </p:cNvSpPr>
          <p:nvPr>
            <p:ph type="body" idx="4"/>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9"/>
        <p:cNvGrpSpPr/>
        <p:nvPr/>
      </p:nvGrpSpPr>
      <p:grpSpPr>
        <a:xfrm>
          <a:off x="0" y="0"/>
          <a:ext cx="0" cy="0"/>
          <a:chOff x="0" y="0"/>
          <a:chExt cx="0" cy="0"/>
        </a:xfrm>
      </p:grpSpPr>
      <p:sp>
        <p:nvSpPr>
          <p:cNvPr id="60" name="Google Shape;60;p59"/>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59"/>
          <p:cNvSpPr txBox="1">
            <a:spLocks noGrp="1"/>
          </p:cNvSpPr>
          <p:nvPr>
            <p:ph type="body" idx="1"/>
          </p:nvPr>
        </p:nvSpPr>
        <p:spPr>
          <a:xfrm>
            <a:off x="417312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59"/>
          <p:cNvSpPr txBox="1">
            <a:spLocks noGrp="1"/>
          </p:cNvSpPr>
          <p:nvPr>
            <p:ph type="body" idx="2"/>
          </p:nvPr>
        </p:nvSpPr>
        <p:spPr>
          <a:xfrm>
            <a:off x="54100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59"/>
          <p:cNvSpPr txBox="1">
            <a:spLocks noGrp="1"/>
          </p:cNvSpPr>
          <p:nvPr>
            <p:ph type="body" idx="3"/>
          </p:nvPr>
        </p:nvSpPr>
        <p:spPr>
          <a:xfrm>
            <a:off x="66466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59"/>
          <p:cNvSpPr txBox="1">
            <a:spLocks noGrp="1"/>
          </p:cNvSpPr>
          <p:nvPr>
            <p:ph type="body" idx="4"/>
          </p:nvPr>
        </p:nvSpPr>
        <p:spPr>
          <a:xfrm>
            <a:off x="417312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9"/>
          <p:cNvSpPr txBox="1">
            <a:spLocks noGrp="1"/>
          </p:cNvSpPr>
          <p:nvPr>
            <p:ph type="body" idx="5"/>
          </p:nvPr>
        </p:nvSpPr>
        <p:spPr>
          <a:xfrm>
            <a:off x="54100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9"/>
          <p:cNvSpPr txBox="1">
            <a:spLocks noGrp="1"/>
          </p:cNvSpPr>
          <p:nvPr>
            <p:ph type="body" idx="6"/>
          </p:nvPr>
        </p:nvSpPr>
        <p:spPr>
          <a:xfrm>
            <a:off x="66466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75"/>
        <p:cNvGrpSpPr/>
        <p:nvPr/>
      </p:nvGrpSpPr>
      <p:grpSpPr>
        <a:xfrm>
          <a:off x="0" y="0"/>
          <a:ext cx="0" cy="0"/>
          <a:chOff x="0" y="0"/>
          <a:chExt cx="0" cy="0"/>
        </a:xfrm>
      </p:grpSpPr>
      <p:sp>
        <p:nvSpPr>
          <p:cNvPr id="76" name="Google Shape;76;p44"/>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77"/>
        <p:cNvGrpSpPr/>
        <p:nvPr/>
      </p:nvGrpSpPr>
      <p:grpSpPr>
        <a:xfrm>
          <a:off x="0" y="0"/>
          <a:ext cx="0" cy="0"/>
          <a:chOff x="0" y="0"/>
          <a:chExt cx="0" cy="0"/>
        </a:xfrm>
      </p:grpSpPr>
      <p:sp>
        <p:nvSpPr>
          <p:cNvPr id="78" name="Google Shape;78;p45"/>
          <p:cNvSpPr txBox="1">
            <a:spLocks noGrp="1"/>
          </p:cNvSpPr>
          <p:nvPr>
            <p:ph type="title"/>
          </p:nvPr>
        </p:nvSpPr>
        <p:spPr>
          <a:xfrm>
            <a:off x="1745640" y="171360"/>
            <a:ext cx="7187760" cy="574200"/>
          </a:xfrm>
          <a:prstGeom prst="rect">
            <a:avLst/>
          </a:prstGeom>
          <a:noFill/>
          <a:ln>
            <a:noFill/>
          </a:ln>
        </p:spPr>
        <p:txBody>
          <a:bodyPr spcFirstLastPara="1" wrap="square" lIns="90000" tIns="45000" rIns="90000" bIns="4500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45"/>
          <p:cNvSpPr txBox="1">
            <a:spLocks noGrp="1"/>
          </p:cNvSpPr>
          <p:nvPr>
            <p:ph type="body" idx="1"/>
          </p:nvPr>
        </p:nvSpPr>
        <p:spPr>
          <a:xfrm>
            <a:off x="539640" y="998280"/>
            <a:ext cx="8255520" cy="3776400"/>
          </a:xfrm>
          <a:prstGeom prst="rect">
            <a:avLst/>
          </a:prstGeom>
          <a:noFill/>
          <a:ln>
            <a:noFill/>
          </a:ln>
        </p:spPr>
        <p:txBody>
          <a:bodyPr spcFirstLastPara="1" wrap="square" lIns="90000" tIns="45000" rIns="90000" bIns="450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5"/>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1" name="Google Shape;81;p45"/>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45"/>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a:lvl1pPr>
            <a:lvl2pPr marL="0" lvl="1" indent="0" algn="ctr">
              <a:lnSpc>
                <a:spcPct val="100000"/>
              </a:lnSpc>
              <a:spcBef>
                <a:spcPts val="0"/>
              </a:spcBef>
              <a:buClr>
                <a:srgbClr val="FFFFFF"/>
              </a:buClr>
              <a:buSzPts val="700"/>
              <a:buFont typeface="Arial"/>
              <a:buNone/>
              <a:defRPr/>
            </a:lvl2pPr>
            <a:lvl3pPr marL="0" lvl="2" indent="0" algn="ctr">
              <a:lnSpc>
                <a:spcPct val="100000"/>
              </a:lnSpc>
              <a:spcBef>
                <a:spcPts val="0"/>
              </a:spcBef>
              <a:buClr>
                <a:srgbClr val="FFFFFF"/>
              </a:buClr>
              <a:buSzPts val="700"/>
              <a:buFont typeface="Arial"/>
              <a:buNone/>
              <a:defRPr/>
            </a:lvl3pPr>
            <a:lvl4pPr marL="0" lvl="3" indent="0" algn="ctr">
              <a:lnSpc>
                <a:spcPct val="100000"/>
              </a:lnSpc>
              <a:spcBef>
                <a:spcPts val="0"/>
              </a:spcBef>
              <a:buClr>
                <a:srgbClr val="FFFFFF"/>
              </a:buClr>
              <a:buSzPts val="700"/>
              <a:buFont typeface="Arial"/>
              <a:buNone/>
              <a:defRPr/>
            </a:lvl4pPr>
            <a:lvl5pPr marL="0" lvl="4" indent="0" algn="ctr">
              <a:lnSpc>
                <a:spcPct val="100000"/>
              </a:lnSpc>
              <a:spcBef>
                <a:spcPts val="0"/>
              </a:spcBef>
              <a:buClr>
                <a:srgbClr val="FFFFFF"/>
              </a:buClr>
              <a:buSzPts val="700"/>
              <a:buFont typeface="Arial"/>
              <a:buNone/>
              <a:defRPr/>
            </a:lvl5pPr>
            <a:lvl6pPr marL="0" lvl="5" indent="0" algn="ctr">
              <a:lnSpc>
                <a:spcPct val="100000"/>
              </a:lnSpc>
              <a:spcBef>
                <a:spcPts val="0"/>
              </a:spcBef>
              <a:buClr>
                <a:srgbClr val="FFFFFF"/>
              </a:buClr>
              <a:buSzPts val="700"/>
              <a:buFont typeface="Arial"/>
              <a:buNone/>
              <a:defRPr/>
            </a:lvl6pPr>
            <a:lvl7pPr marL="0" lvl="6" indent="0" algn="ctr">
              <a:lnSpc>
                <a:spcPct val="100000"/>
              </a:lnSpc>
              <a:spcBef>
                <a:spcPts val="0"/>
              </a:spcBef>
              <a:buClr>
                <a:srgbClr val="FFFFFF"/>
              </a:buClr>
              <a:buSzPts val="700"/>
              <a:buFont typeface="Arial"/>
              <a:buNone/>
              <a:defRPr/>
            </a:lvl7pPr>
            <a:lvl8pPr marL="0" lvl="7" indent="0" algn="ctr">
              <a:lnSpc>
                <a:spcPct val="100000"/>
              </a:lnSpc>
              <a:spcBef>
                <a:spcPts val="0"/>
              </a:spcBef>
              <a:buClr>
                <a:srgbClr val="FFFFFF"/>
              </a:buClr>
              <a:buSzPts val="700"/>
              <a:buFont typeface="Arial"/>
              <a:buNone/>
              <a:defRPr/>
            </a:lvl8pPr>
            <a:lvl9pPr marL="0" lvl="8" indent="0" algn="ctr">
              <a:lnSpc>
                <a:spcPct val="100000"/>
              </a:lnSpc>
              <a:spcBef>
                <a:spcPts val="0"/>
              </a:spcBef>
              <a:buClr>
                <a:srgbClr val="FFFFFF"/>
              </a:buClr>
              <a:buSzPts val="700"/>
              <a:buFont typeface="Arial"/>
              <a:buNone/>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apositiva titolo" type="title">
  <p:cSld name="TITLE">
    <p:spTree>
      <p:nvGrpSpPr>
        <p:cNvPr id="1" name="Shape 83"/>
        <p:cNvGrpSpPr/>
        <p:nvPr/>
      </p:nvGrpSpPr>
      <p:grpSpPr>
        <a:xfrm>
          <a:off x="0" y="0"/>
          <a:ext cx="0" cy="0"/>
          <a:chOff x="0" y="0"/>
          <a:chExt cx="0" cy="0"/>
        </a:xfrm>
      </p:grpSpPr>
      <p:sp>
        <p:nvSpPr>
          <p:cNvPr id="84" name="Google Shape;84;p46"/>
          <p:cNvSpPr txBox="1">
            <a:spLocks noGrp="1"/>
          </p:cNvSpPr>
          <p:nvPr>
            <p:ph type="ctrTitle"/>
          </p:nvPr>
        </p:nvSpPr>
        <p:spPr>
          <a:xfrm>
            <a:off x="1143000" y="841772"/>
            <a:ext cx="6858000" cy="1790700"/>
          </a:xfrm>
          <a:prstGeom prst="rect">
            <a:avLst/>
          </a:prstGeom>
          <a:noFill/>
          <a:ln>
            <a:noFill/>
          </a:ln>
        </p:spPr>
        <p:txBody>
          <a:bodyPr spcFirstLastPara="1" wrap="square" lIns="90000" tIns="45000" rIns="90000" bIns="45000" anchor="b" anchorCtr="0">
            <a:no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46"/>
          <p:cNvSpPr txBox="1">
            <a:spLocks noGrp="1"/>
          </p:cNvSpPr>
          <p:nvPr>
            <p:ph type="subTitle" idx="1"/>
          </p:nvPr>
        </p:nvSpPr>
        <p:spPr>
          <a:xfrm>
            <a:off x="1143000" y="2701528"/>
            <a:ext cx="6858000" cy="1241822"/>
          </a:xfrm>
          <a:prstGeom prst="rect">
            <a:avLst/>
          </a:prstGeom>
          <a:noFill/>
          <a:ln>
            <a:noFill/>
          </a:ln>
        </p:spPr>
        <p:txBody>
          <a:bodyPr spcFirstLastPara="1" wrap="square" lIns="90000" tIns="45000" rIns="90000" bIns="45000" anchor="t" anchorCtr="0">
            <a:noAutofit/>
          </a:bodyPr>
          <a:lstStyle>
            <a:lvl1pPr lvl="0" algn="ctr">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1500"/>
              <a:buNone/>
              <a:defRPr sz="1500"/>
            </a:lvl2pPr>
            <a:lvl3pPr lvl="2" algn="ctr">
              <a:lnSpc>
                <a:spcPct val="90000"/>
              </a:lnSpc>
              <a:spcBef>
                <a:spcPts val="500"/>
              </a:spcBef>
              <a:spcAft>
                <a:spcPts val="0"/>
              </a:spcAft>
              <a:buClr>
                <a:schemeClr val="dk1"/>
              </a:buClr>
              <a:buSzPts val="1350"/>
              <a:buNone/>
              <a:defRPr sz="1350"/>
            </a:lvl3pPr>
            <a:lvl4pPr lvl="3" algn="ctr">
              <a:lnSpc>
                <a:spcPct val="90000"/>
              </a:lnSpc>
              <a:spcBef>
                <a:spcPts val="500"/>
              </a:spcBef>
              <a:spcAft>
                <a:spcPts val="0"/>
              </a:spcAft>
              <a:buClr>
                <a:schemeClr val="dk1"/>
              </a:buClr>
              <a:buSzPts val="1200"/>
              <a:buNone/>
              <a:defRPr sz="1200"/>
            </a:lvl4pPr>
            <a:lvl5pPr lvl="4" algn="ctr">
              <a:lnSpc>
                <a:spcPct val="90000"/>
              </a:lnSpc>
              <a:spcBef>
                <a:spcPts val="500"/>
              </a:spcBef>
              <a:spcAft>
                <a:spcPts val="0"/>
              </a:spcAft>
              <a:buClr>
                <a:schemeClr val="dk1"/>
              </a:buClr>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500"/>
              </a:spcBef>
              <a:spcAft>
                <a:spcPts val="0"/>
              </a:spcAft>
              <a:buClr>
                <a:schemeClr val="dk1"/>
              </a:buClr>
              <a:buSzPts val="1200"/>
              <a:buNone/>
              <a:defRPr sz="1200"/>
            </a:lvl7pPr>
            <a:lvl8pPr lvl="7" algn="ctr">
              <a:lnSpc>
                <a:spcPct val="90000"/>
              </a:lnSpc>
              <a:spcBef>
                <a:spcPts val="500"/>
              </a:spcBef>
              <a:spcAft>
                <a:spcPts val="0"/>
              </a:spcAft>
              <a:buClr>
                <a:schemeClr val="dk1"/>
              </a:buClr>
              <a:buSzPts val="1200"/>
              <a:buNone/>
              <a:defRPr sz="1200"/>
            </a:lvl8pPr>
            <a:lvl9pPr lvl="8" algn="ctr">
              <a:lnSpc>
                <a:spcPct val="90000"/>
              </a:lnSpc>
              <a:spcBef>
                <a:spcPts val="500"/>
              </a:spcBef>
              <a:spcAft>
                <a:spcPts val="0"/>
              </a:spcAft>
              <a:buClr>
                <a:schemeClr val="dk1"/>
              </a:buClr>
              <a:buSzPts val="1200"/>
              <a:buNone/>
              <a:defRPr sz="1200"/>
            </a:lvl9pPr>
          </a:lstStyle>
          <a:p>
            <a:endParaRPr/>
          </a:p>
        </p:txBody>
      </p:sp>
      <p:sp>
        <p:nvSpPr>
          <p:cNvPr id="86" name="Google Shape;86;p46"/>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7" name="Google Shape;87;p46"/>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8" name="Google Shape;88;p46"/>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a:lvl1pPr>
            <a:lvl2pPr marL="0" lvl="1" indent="0" algn="ctr">
              <a:lnSpc>
                <a:spcPct val="100000"/>
              </a:lnSpc>
              <a:spcBef>
                <a:spcPts val="0"/>
              </a:spcBef>
              <a:buClr>
                <a:srgbClr val="FFFFFF"/>
              </a:buClr>
              <a:buSzPts val="700"/>
              <a:buFont typeface="Arial"/>
              <a:buNone/>
              <a:defRPr/>
            </a:lvl2pPr>
            <a:lvl3pPr marL="0" lvl="2" indent="0" algn="ctr">
              <a:lnSpc>
                <a:spcPct val="100000"/>
              </a:lnSpc>
              <a:spcBef>
                <a:spcPts val="0"/>
              </a:spcBef>
              <a:buClr>
                <a:srgbClr val="FFFFFF"/>
              </a:buClr>
              <a:buSzPts val="700"/>
              <a:buFont typeface="Arial"/>
              <a:buNone/>
              <a:defRPr/>
            </a:lvl3pPr>
            <a:lvl4pPr marL="0" lvl="3" indent="0" algn="ctr">
              <a:lnSpc>
                <a:spcPct val="100000"/>
              </a:lnSpc>
              <a:spcBef>
                <a:spcPts val="0"/>
              </a:spcBef>
              <a:buClr>
                <a:srgbClr val="FFFFFF"/>
              </a:buClr>
              <a:buSzPts val="700"/>
              <a:buFont typeface="Arial"/>
              <a:buNone/>
              <a:defRPr/>
            </a:lvl4pPr>
            <a:lvl5pPr marL="0" lvl="4" indent="0" algn="ctr">
              <a:lnSpc>
                <a:spcPct val="100000"/>
              </a:lnSpc>
              <a:spcBef>
                <a:spcPts val="0"/>
              </a:spcBef>
              <a:buClr>
                <a:srgbClr val="FFFFFF"/>
              </a:buClr>
              <a:buSzPts val="700"/>
              <a:buFont typeface="Arial"/>
              <a:buNone/>
              <a:defRPr/>
            </a:lvl5pPr>
            <a:lvl6pPr marL="0" lvl="5" indent="0" algn="ctr">
              <a:lnSpc>
                <a:spcPct val="100000"/>
              </a:lnSpc>
              <a:spcBef>
                <a:spcPts val="0"/>
              </a:spcBef>
              <a:buClr>
                <a:srgbClr val="FFFFFF"/>
              </a:buClr>
              <a:buSzPts val="700"/>
              <a:buFont typeface="Arial"/>
              <a:buNone/>
              <a:defRPr/>
            </a:lvl6pPr>
            <a:lvl7pPr marL="0" lvl="6" indent="0" algn="ctr">
              <a:lnSpc>
                <a:spcPct val="100000"/>
              </a:lnSpc>
              <a:spcBef>
                <a:spcPts val="0"/>
              </a:spcBef>
              <a:buClr>
                <a:srgbClr val="FFFFFF"/>
              </a:buClr>
              <a:buSzPts val="700"/>
              <a:buFont typeface="Arial"/>
              <a:buNone/>
              <a:defRPr/>
            </a:lvl7pPr>
            <a:lvl8pPr marL="0" lvl="7" indent="0" algn="ctr">
              <a:lnSpc>
                <a:spcPct val="100000"/>
              </a:lnSpc>
              <a:spcBef>
                <a:spcPts val="0"/>
              </a:spcBef>
              <a:buClr>
                <a:srgbClr val="FFFFFF"/>
              </a:buClr>
              <a:buSzPts val="700"/>
              <a:buFont typeface="Arial"/>
              <a:buNone/>
              <a:defRPr/>
            </a:lvl8pPr>
            <a:lvl9pPr marL="0" lvl="8" indent="0" algn="ctr">
              <a:lnSpc>
                <a:spcPct val="100000"/>
              </a:lnSpc>
              <a:spcBef>
                <a:spcPts val="0"/>
              </a:spcBef>
              <a:buClr>
                <a:srgbClr val="FFFFFF"/>
              </a:buClr>
              <a:buSzPts val="700"/>
              <a:buFont typeface="Arial"/>
              <a:buNone/>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89"/>
        <p:cNvGrpSpPr/>
        <p:nvPr/>
      </p:nvGrpSpPr>
      <p:grpSpPr>
        <a:xfrm>
          <a:off x="0" y="0"/>
          <a:ext cx="0" cy="0"/>
          <a:chOff x="0" y="0"/>
          <a:chExt cx="0" cy="0"/>
        </a:xfrm>
      </p:grpSpPr>
      <p:sp>
        <p:nvSpPr>
          <p:cNvPr id="90" name="Google Shape;90;p6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60"/>
          <p:cNvSpPr txBox="1">
            <a:spLocks noGrp="1"/>
          </p:cNvSpPr>
          <p:nvPr>
            <p:ph type="subTitle" idx="1"/>
          </p:nvPr>
        </p:nvSpPr>
        <p:spPr>
          <a:xfrm>
            <a:off x="4173120" y="2536200"/>
            <a:ext cx="3657240" cy="1028736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92" name="Google Shape;92;p60"/>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93"/>
        <p:cNvGrpSpPr/>
        <p:nvPr/>
      </p:nvGrpSpPr>
      <p:grpSpPr>
        <a:xfrm>
          <a:off x="0" y="0"/>
          <a:ext cx="0" cy="0"/>
          <a:chOff x="0" y="0"/>
          <a:chExt cx="0" cy="0"/>
        </a:xfrm>
      </p:grpSpPr>
      <p:sp>
        <p:nvSpPr>
          <p:cNvPr id="94" name="Google Shape;94;p6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61"/>
          <p:cNvSpPr txBox="1">
            <a:spLocks noGrp="1"/>
          </p:cNvSpPr>
          <p:nvPr>
            <p:ph type="body" idx="1"/>
          </p:nvPr>
        </p:nvSpPr>
        <p:spPr>
          <a:xfrm>
            <a:off x="4173120" y="2131200"/>
            <a:ext cx="365724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61"/>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97"/>
        <p:cNvGrpSpPr/>
        <p:nvPr/>
      </p:nvGrpSpPr>
      <p:grpSpPr>
        <a:xfrm>
          <a:off x="0" y="0"/>
          <a:ext cx="0" cy="0"/>
          <a:chOff x="0" y="0"/>
          <a:chExt cx="0" cy="0"/>
        </a:xfrm>
      </p:grpSpPr>
      <p:sp>
        <p:nvSpPr>
          <p:cNvPr id="98" name="Google Shape;98;p62"/>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62"/>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62"/>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62"/>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63"/>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63"/>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05"/>
        <p:cNvGrpSpPr/>
        <p:nvPr/>
      </p:nvGrpSpPr>
      <p:grpSpPr>
        <a:xfrm>
          <a:off x="0" y="0"/>
          <a:ext cx="0" cy="0"/>
          <a:chOff x="0" y="0"/>
          <a:chExt cx="0" cy="0"/>
        </a:xfrm>
      </p:grpSpPr>
      <p:sp>
        <p:nvSpPr>
          <p:cNvPr id="106" name="Google Shape;106;p64"/>
          <p:cNvSpPr txBox="1">
            <a:spLocks noGrp="1"/>
          </p:cNvSpPr>
          <p:nvPr>
            <p:ph type="subTitle" idx="1"/>
          </p:nvPr>
        </p:nvSpPr>
        <p:spPr>
          <a:xfrm>
            <a:off x="457200" y="205200"/>
            <a:ext cx="8229240" cy="39812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107" name="Google Shape;107;p64"/>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08"/>
        <p:cNvGrpSpPr/>
        <p:nvPr/>
      </p:nvGrpSpPr>
      <p:grpSpPr>
        <a:xfrm>
          <a:off x="0" y="0"/>
          <a:ext cx="0" cy="0"/>
          <a:chOff x="0" y="0"/>
          <a:chExt cx="0" cy="0"/>
        </a:xfrm>
      </p:grpSpPr>
      <p:sp>
        <p:nvSpPr>
          <p:cNvPr id="109" name="Google Shape;109;p65"/>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5"/>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5"/>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5"/>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5"/>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14"/>
        <p:cNvGrpSpPr/>
        <p:nvPr/>
      </p:nvGrpSpPr>
      <p:grpSpPr>
        <a:xfrm>
          <a:off x="0" y="0"/>
          <a:ext cx="0" cy="0"/>
          <a:chOff x="0" y="0"/>
          <a:chExt cx="0" cy="0"/>
        </a:xfrm>
      </p:grpSpPr>
      <p:sp>
        <p:nvSpPr>
          <p:cNvPr id="115" name="Google Shape;115;p66"/>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66"/>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6"/>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66"/>
          <p:cNvSpPr txBox="1">
            <a:spLocks noGrp="1"/>
          </p:cNvSpPr>
          <p:nvPr>
            <p:ph type="body" idx="3"/>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66"/>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20"/>
        <p:cNvGrpSpPr/>
        <p:nvPr/>
      </p:nvGrpSpPr>
      <p:grpSpPr>
        <a:xfrm>
          <a:off x="0" y="0"/>
          <a:ext cx="0" cy="0"/>
          <a:chOff x="0" y="0"/>
          <a:chExt cx="0" cy="0"/>
        </a:xfrm>
      </p:grpSpPr>
      <p:sp>
        <p:nvSpPr>
          <p:cNvPr id="121" name="Google Shape;121;p6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67"/>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p67"/>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67"/>
          <p:cNvSpPr txBox="1">
            <a:spLocks noGrp="1"/>
          </p:cNvSpPr>
          <p:nvPr>
            <p:ph type="body" idx="3"/>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67"/>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26"/>
        <p:cNvGrpSpPr/>
        <p:nvPr/>
      </p:nvGrpSpPr>
      <p:grpSpPr>
        <a:xfrm>
          <a:off x="0" y="0"/>
          <a:ext cx="0" cy="0"/>
          <a:chOff x="0" y="0"/>
          <a:chExt cx="0" cy="0"/>
        </a:xfrm>
      </p:grpSpPr>
      <p:sp>
        <p:nvSpPr>
          <p:cNvPr id="127" name="Google Shape;127;p68"/>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68"/>
          <p:cNvSpPr txBox="1">
            <a:spLocks noGrp="1"/>
          </p:cNvSpPr>
          <p:nvPr>
            <p:ph type="body" idx="1"/>
          </p:nvPr>
        </p:nvSpPr>
        <p:spPr>
          <a:xfrm>
            <a:off x="4173120" y="213120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p68"/>
          <p:cNvSpPr txBox="1">
            <a:spLocks noGrp="1"/>
          </p:cNvSpPr>
          <p:nvPr>
            <p:ph type="body" idx="2"/>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68"/>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31"/>
        <p:cNvGrpSpPr/>
        <p:nvPr/>
      </p:nvGrpSpPr>
      <p:grpSpPr>
        <a:xfrm>
          <a:off x="0" y="0"/>
          <a:ext cx="0" cy="0"/>
          <a:chOff x="0" y="0"/>
          <a:chExt cx="0" cy="0"/>
        </a:xfrm>
      </p:grpSpPr>
      <p:sp>
        <p:nvSpPr>
          <p:cNvPr id="132" name="Google Shape;132;p69"/>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69"/>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69"/>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69"/>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69"/>
          <p:cNvSpPr txBox="1">
            <a:spLocks noGrp="1"/>
          </p:cNvSpPr>
          <p:nvPr>
            <p:ph type="body" idx="4"/>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69"/>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38"/>
        <p:cNvGrpSpPr/>
        <p:nvPr/>
      </p:nvGrpSpPr>
      <p:grpSpPr>
        <a:xfrm>
          <a:off x="0" y="0"/>
          <a:ext cx="0" cy="0"/>
          <a:chOff x="0" y="0"/>
          <a:chExt cx="0" cy="0"/>
        </a:xfrm>
      </p:grpSpPr>
      <p:sp>
        <p:nvSpPr>
          <p:cNvPr id="139" name="Google Shape;139;p7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70"/>
          <p:cNvSpPr txBox="1">
            <a:spLocks noGrp="1"/>
          </p:cNvSpPr>
          <p:nvPr>
            <p:ph type="body" idx="1"/>
          </p:nvPr>
        </p:nvSpPr>
        <p:spPr>
          <a:xfrm>
            <a:off x="417312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1" name="Google Shape;141;p70"/>
          <p:cNvSpPr txBox="1">
            <a:spLocks noGrp="1"/>
          </p:cNvSpPr>
          <p:nvPr>
            <p:ph type="body" idx="2"/>
          </p:nvPr>
        </p:nvSpPr>
        <p:spPr>
          <a:xfrm>
            <a:off x="54100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70"/>
          <p:cNvSpPr txBox="1">
            <a:spLocks noGrp="1"/>
          </p:cNvSpPr>
          <p:nvPr>
            <p:ph type="body" idx="3"/>
          </p:nvPr>
        </p:nvSpPr>
        <p:spPr>
          <a:xfrm>
            <a:off x="66466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70"/>
          <p:cNvSpPr txBox="1">
            <a:spLocks noGrp="1"/>
          </p:cNvSpPr>
          <p:nvPr>
            <p:ph type="body" idx="4"/>
          </p:nvPr>
        </p:nvSpPr>
        <p:spPr>
          <a:xfrm>
            <a:off x="417312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70"/>
          <p:cNvSpPr txBox="1">
            <a:spLocks noGrp="1"/>
          </p:cNvSpPr>
          <p:nvPr>
            <p:ph type="body" idx="5"/>
          </p:nvPr>
        </p:nvSpPr>
        <p:spPr>
          <a:xfrm>
            <a:off x="54100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p70"/>
          <p:cNvSpPr txBox="1">
            <a:spLocks noGrp="1"/>
          </p:cNvSpPr>
          <p:nvPr>
            <p:ph type="body" idx="6"/>
          </p:nvPr>
        </p:nvSpPr>
        <p:spPr>
          <a:xfrm>
            <a:off x="66466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70"/>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5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55"/>
        <p:cNvGrpSpPr/>
        <p:nvPr/>
      </p:nvGrpSpPr>
      <p:grpSpPr>
        <a:xfrm>
          <a:off x="0" y="0"/>
          <a:ext cx="0" cy="0"/>
          <a:chOff x="0" y="0"/>
          <a:chExt cx="0" cy="0"/>
        </a:xfrm>
      </p:grpSpPr>
      <p:sp>
        <p:nvSpPr>
          <p:cNvPr id="156" name="Google Shape;156;p7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 name="Google Shape;157;p71"/>
          <p:cNvSpPr txBox="1">
            <a:spLocks noGrp="1"/>
          </p:cNvSpPr>
          <p:nvPr>
            <p:ph type="subTitle" idx="1"/>
          </p:nvPr>
        </p:nvSpPr>
        <p:spPr>
          <a:xfrm>
            <a:off x="4173120" y="2536200"/>
            <a:ext cx="3657240" cy="1028736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58"/>
        <p:cNvGrpSpPr/>
        <p:nvPr/>
      </p:nvGrpSpPr>
      <p:grpSpPr>
        <a:xfrm>
          <a:off x="0" y="0"/>
          <a:ext cx="0" cy="0"/>
          <a:chOff x="0" y="0"/>
          <a:chExt cx="0" cy="0"/>
        </a:xfrm>
      </p:grpSpPr>
      <p:sp>
        <p:nvSpPr>
          <p:cNvPr id="159" name="Google Shape;159;p72"/>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72"/>
          <p:cNvSpPr txBox="1">
            <a:spLocks noGrp="1"/>
          </p:cNvSpPr>
          <p:nvPr>
            <p:ph type="body" idx="1"/>
          </p:nvPr>
        </p:nvSpPr>
        <p:spPr>
          <a:xfrm>
            <a:off x="4173120" y="2131200"/>
            <a:ext cx="365724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61"/>
        <p:cNvGrpSpPr/>
        <p:nvPr/>
      </p:nvGrpSpPr>
      <p:grpSpPr>
        <a:xfrm>
          <a:off x="0" y="0"/>
          <a:ext cx="0" cy="0"/>
          <a:chOff x="0" y="0"/>
          <a:chExt cx="0" cy="0"/>
        </a:xfrm>
      </p:grpSpPr>
      <p:sp>
        <p:nvSpPr>
          <p:cNvPr id="162" name="Google Shape;162;p73"/>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73"/>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73"/>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74"/>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67"/>
        <p:cNvGrpSpPr/>
        <p:nvPr/>
      </p:nvGrpSpPr>
      <p:grpSpPr>
        <a:xfrm>
          <a:off x="0" y="0"/>
          <a:ext cx="0" cy="0"/>
          <a:chOff x="0" y="0"/>
          <a:chExt cx="0" cy="0"/>
        </a:xfrm>
      </p:grpSpPr>
      <p:sp>
        <p:nvSpPr>
          <p:cNvPr id="168" name="Google Shape;168;p75"/>
          <p:cNvSpPr txBox="1">
            <a:spLocks noGrp="1"/>
          </p:cNvSpPr>
          <p:nvPr>
            <p:ph type="subTitle" idx="1"/>
          </p:nvPr>
        </p:nvSpPr>
        <p:spPr>
          <a:xfrm>
            <a:off x="457200" y="205200"/>
            <a:ext cx="8229240" cy="39812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69"/>
        <p:cNvGrpSpPr/>
        <p:nvPr/>
      </p:nvGrpSpPr>
      <p:grpSpPr>
        <a:xfrm>
          <a:off x="0" y="0"/>
          <a:ext cx="0" cy="0"/>
          <a:chOff x="0" y="0"/>
          <a:chExt cx="0" cy="0"/>
        </a:xfrm>
      </p:grpSpPr>
      <p:sp>
        <p:nvSpPr>
          <p:cNvPr id="170" name="Google Shape;170;p76"/>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76"/>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2" name="Google Shape;172;p76"/>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76"/>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74"/>
        <p:cNvGrpSpPr/>
        <p:nvPr/>
      </p:nvGrpSpPr>
      <p:grpSpPr>
        <a:xfrm>
          <a:off x="0" y="0"/>
          <a:ext cx="0" cy="0"/>
          <a:chOff x="0" y="0"/>
          <a:chExt cx="0" cy="0"/>
        </a:xfrm>
      </p:grpSpPr>
      <p:sp>
        <p:nvSpPr>
          <p:cNvPr id="175" name="Google Shape;175;p7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 name="Google Shape;176;p77"/>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7" name="Google Shape;177;p77"/>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8" name="Google Shape;178;p77"/>
          <p:cNvSpPr txBox="1">
            <a:spLocks noGrp="1"/>
          </p:cNvSpPr>
          <p:nvPr>
            <p:ph type="body" idx="3"/>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79"/>
        <p:cNvGrpSpPr/>
        <p:nvPr/>
      </p:nvGrpSpPr>
      <p:grpSpPr>
        <a:xfrm>
          <a:off x="0" y="0"/>
          <a:ext cx="0" cy="0"/>
          <a:chOff x="0" y="0"/>
          <a:chExt cx="0" cy="0"/>
        </a:xfrm>
      </p:grpSpPr>
      <p:sp>
        <p:nvSpPr>
          <p:cNvPr id="180" name="Google Shape;180;p78"/>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78"/>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78"/>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78"/>
          <p:cNvSpPr txBox="1">
            <a:spLocks noGrp="1"/>
          </p:cNvSpPr>
          <p:nvPr>
            <p:ph type="body" idx="3"/>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84"/>
        <p:cNvGrpSpPr/>
        <p:nvPr/>
      </p:nvGrpSpPr>
      <p:grpSpPr>
        <a:xfrm>
          <a:off x="0" y="0"/>
          <a:ext cx="0" cy="0"/>
          <a:chOff x="0" y="0"/>
          <a:chExt cx="0" cy="0"/>
        </a:xfrm>
      </p:grpSpPr>
      <p:sp>
        <p:nvSpPr>
          <p:cNvPr id="185" name="Google Shape;185;p79"/>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p79"/>
          <p:cNvSpPr txBox="1">
            <a:spLocks noGrp="1"/>
          </p:cNvSpPr>
          <p:nvPr>
            <p:ph type="body" idx="1"/>
          </p:nvPr>
        </p:nvSpPr>
        <p:spPr>
          <a:xfrm>
            <a:off x="4173120" y="213120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79"/>
          <p:cNvSpPr txBox="1">
            <a:spLocks noGrp="1"/>
          </p:cNvSpPr>
          <p:nvPr>
            <p:ph type="body" idx="2"/>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88"/>
        <p:cNvGrpSpPr/>
        <p:nvPr/>
      </p:nvGrpSpPr>
      <p:grpSpPr>
        <a:xfrm>
          <a:off x="0" y="0"/>
          <a:ext cx="0" cy="0"/>
          <a:chOff x="0" y="0"/>
          <a:chExt cx="0" cy="0"/>
        </a:xfrm>
      </p:grpSpPr>
      <p:sp>
        <p:nvSpPr>
          <p:cNvPr id="189" name="Google Shape;189;p8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p80"/>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80"/>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80"/>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3" name="Google Shape;193;p80"/>
          <p:cNvSpPr txBox="1">
            <a:spLocks noGrp="1"/>
          </p:cNvSpPr>
          <p:nvPr>
            <p:ph type="body" idx="4"/>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94"/>
        <p:cNvGrpSpPr/>
        <p:nvPr/>
      </p:nvGrpSpPr>
      <p:grpSpPr>
        <a:xfrm>
          <a:off x="0" y="0"/>
          <a:ext cx="0" cy="0"/>
          <a:chOff x="0" y="0"/>
          <a:chExt cx="0" cy="0"/>
        </a:xfrm>
      </p:grpSpPr>
      <p:sp>
        <p:nvSpPr>
          <p:cNvPr id="195" name="Google Shape;195;p8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 name="Google Shape;196;p81"/>
          <p:cNvSpPr txBox="1">
            <a:spLocks noGrp="1"/>
          </p:cNvSpPr>
          <p:nvPr>
            <p:ph type="body" idx="1"/>
          </p:nvPr>
        </p:nvSpPr>
        <p:spPr>
          <a:xfrm>
            <a:off x="417312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7" name="Google Shape;197;p81"/>
          <p:cNvSpPr txBox="1">
            <a:spLocks noGrp="1"/>
          </p:cNvSpPr>
          <p:nvPr>
            <p:ph type="body" idx="2"/>
          </p:nvPr>
        </p:nvSpPr>
        <p:spPr>
          <a:xfrm>
            <a:off x="54100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8" name="Google Shape;198;p81"/>
          <p:cNvSpPr txBox="1">
            <a:spLocks noGrp="1"/>
          </p:cNvSpPr>
          <p:nvPr>
            <p:ph type="body" idx="3"/>
          </p:nvPr>
        </p:nvSpPr>
        <p:spPr>
          <a:xfrm>
            <a:off x="66466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9" name="Google Shape;199;p81"/>
          <p:cNvSpPr txBox="1">
            <a:spLocks noGrp="1"/>
          </p:cNvSpPr>
          <p:nvPr>
            <p:ph type="body" idx="4"/>
          </p:nvPr>
        </p:nvSpPr>
        <p:spPr>
          <a:xfrm>
            <a:off x="417312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0" name="Google Shape;200;p81"/>
          <p:cNvSpPr txBox="1">
            <a:spLocks noGrp="1"/>
          </p:cNvSpPr>
          <p:nvPr>
            <p:ph type="body" idx="5"/>
          </p:nvPr>
        </p:nvSpPr>
        <p:spPr>
          <a:xfrm>
            <a:off x="54100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81"/>
          <p:cNvSpPr txBox="1">
            <a:spLocks noGrp="1"/>
          </p:cNvSpPr>
          <p:nvPr>
            <p:ph type="body" idx="6"/>
          </p:nvPr>
        </p:nvSpPr>
        <p:spPr>
          <a:xfrm>
            <a:off x="66466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6.jp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41"/>
          <p:cNvSpPr/>
          <p:nvPr/>
        </p:nvSpPr>
        <p:spPr>
          <a:xfrm>
            <a:off x="0" y="1550160"/>
            <a:ext cx="9143640" cy="2584800"/>
          </a:xfrm>
          <a:prstGeom prst="rect">
            <a:avLst/>
          </a:prstGeom>
          <a:solidFill>
            <a:srgbClr val="0157A3"/>
          </a:solid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4F81BD"/>
              </a:buClr>
              <a:buSzPts val="1800"/>
              <a:buFont typeface="Calibri"/>
              <a:buNone/>
            </a:pPr>
            <a:r>
              <a:rPr lang="en-GB" sz="1800" b="0" i="0" u="none" strike="noStrike" cap="none">
                <a:solidFill>
                  <a:srgbClr val="4F81BD"/>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11" name="Google Shape;11;p41"/>
          <p:cNvSpPr txBox="1">
            <a:spLocks noGrp="1"/>
          </p:cNvSpPr>
          <p:nvPr>
            <p:ph type="body" idx="1"/>
          </p:nvPr>
        </p:nvSpPr>
        <p:spPr>
          <a:xfrm>
            <a:off x="1909800" y="2143440"/>
            <a:ext cx="5860080" cy="490932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2" name="Google Shape;12;p41"/>
          <p:cNvPicPr preferRelativeResize="0"/>
          <p:nvPr/>
        </p:nvPicPr>
        <p:blipFill rotWithShape="1">
          <a:blip r:embed="rId14">
            <a:alphaModFix/>
          </a:blip>
          <a:srcRect/>
          <a:stretch/>
        </p:blipFill>
        <p:spPr>
          <a:xfrm>
            <a:off x="253440" y="131040"/>
            <a:ext cx="2472840" cy="1191960"/>
          </a:xfrm>
          <a:prstGeom prst="rect">
            <a:avLst/>
          </a:prstGeom>
          <a:noFill/>
          <a:ln>
            <a:noFill/>
          </a:ln>
        </p:spPr>
      </p:pic>
      <p:pic>
        <p:nvPicPr>
          <p:cNvPr id="13" name="Google Shape;13;p41"/>
          <p:cNvPicPr preferRelativeResize="0"/>
          <p:nvPr/>
        </p:nvPicPr>
        <p:blipFill rotWithShape="1">
          <a:blip r:embed="rId15">
            <a:alphaModFix/>
          </a:blip>
          <a:srcRect/>
          <a:stretch/>
        </p:blipFill>
        <p:spPr>
          <a:xfrm>
            <a:off x="7880400" y="4406400"/>
            <a:ext cx="908640" cy="601200"/>
          </a:xfrm>
          <a:prstGeom prst="rect">
            <a:avLst/>
          </a:prstGeom>
          <a:noFill/>
          <a:ln>
            <a:noFill/>
          </a:ln>
        </p:spPr>
      </p:pic>
      <p:sp>
        <p:nvSpPr>
          <p:cNvPr id="14" name="Google Shape;14;p41"/>
          <p:cNvSpPr txBox="1">
            <a:spLocks noGrp="1"/>
          </p:cNvSpPr>
          <p:nvPr>
            <p:ph type="body" idx="2"/>
          </p:nvPr>
        </p:nvSpPr>
        <p:spPr>
          <a:xfrm>
            <a:off x="295920" y="3131280"/>
            <a:ext cx="1335240" cy="2375244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 name="Google Shape;15;p41"/>
          <p:cNvSpPr txBox="1">
            <a:spLocks noGrp="1"/>
          </p:cNvSpPr>
          <p:nvPr>
            <p:ph type="body" idx="3"/>
          </p:nvPr>
        </p:nvSpPr>
        <p:spPr>
          <a:xfrm>
            <a:off x="1909800" y="3106440"/>
            <a:ext cx="5860080" cy="307332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 name="Google Shape;16;p41"/>
          <p:cNvSpPr/>
          <p:nvPr/>
        </p:nvSpPr>
        <p:spPr>
          <a:xfrm>
            <a:off x="5467680" y="4568760"/>
            <a:ext cx="2531160" cy="2721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157A3"/>
              </a:buClr>
              <a:buSzPts val="1200"/>
              <a:buFont typeface="Arial"/>
              <a:buNone/>
            </a:pPr>
            <a:r>
              <a:rPr lang="en-GB" sz="1200" b="0" i="0" u="none" strike="noStrike" cap="none">
                <a:solidFill>
                  <a:srgbClr val="0157A3"/>
                </a:solidFill>
                <a:latin typeface="Arial"/>
                <a:ea typeface="Arial"/>
                <a:cs typeface="Arial"/>
                <a:sym typeface="Arial"/>
              </a:rPr>
              <a:t>Funded by the European Union</a:t>
            </a:r>
            <a:endParaRPr sz="1200" b="0" i="0" u="none" strike="noStrike" cap="none">
              <a:solidFill>
                <a:schemeClr val="dk1"/>
              </a:solidFill>
              <a:latin typeface="Arial"/>
              <a:ea typeface="Arial"/>
              <a:cs typeface="Arial"/>
              <a:sym typeface="Arial"/>
            </a:endParaRPr>
          </a:p>
        </p:txBody>
      </p:sp>
      <p:sp>
        <p:nvSpPr>
          <p:cNvPr id="17" name="Google Shape;17;p4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8" name="Google Shape;18;p41"/>
          <p:cNvPicPr preferRelativeResize="0"/>
          <p:nvPr/>
        </p:nvPicPr>
        <p:blipFill rotWithShape="1">
          <a:blip r:embed="rId16">
            <a:alphaModFix/>
          </a:blip>
          <a:srcRect/>
          <a:stretch/>
        </p:blipFill>
        <p:spPr>
          <a:xfrm>
            <a:off x="727710" y="4208620"/>
            <a:ext cx="1123085" cy="8253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
        <p:cNvGrpSpPr/>
        <p:nvPr/>
      </p:nvGrpSpPr>
      <p:grpSpPr>
        <a:xfrm>
          <a:off x="0" y="0"/>
          <a:ext cx="0" cy="0"/>
          <a:chOff x="0" y="0"/>
          <a:chExt cx="0" cy="0"/>
        </a:xfrm>
      </p:grpSpPr>
      <p:sp>
        <p:nvSpPr>
          <p:cNvPr id="68" name="Google Shape;68;p43"/>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marR="0" lvl="0"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latin typeface="Times New Roman"/>
              <a:ea typeface="Times New Roman"/>
              <a:cs typeface="Times New Roman"/>
              <a:sym typeface="Times New Roman"/>
            </a:endParaRPr>
          </a:p>
        </p:txBody>
      </p:sp>
      <p:sp>
        <p:nvSpPr>
          <p:cNvPr id="69" name="Google Shape;69;p43"/>
          <p:cNvSpPr/>
          <p:nvPr/>
        </p:nvSpPr>
        <p:spPr>
          <a:xfrm>
            <a:off x="0" y="4813200"/>
            <a:ext cx="9143640" cy="349920"/>
          </a:xfrm>
          <a:prstGeom prst="rect">
            <a:avLst/>
          </a:prstGeom>
          <a:solidFill>
            <a:srgbClr val="0157A3"/>
          </a:solid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4F81BD"/>
              </a:buClr>
              <a:buSzPts val="1800"/>
              <a:buFont typeface="Calibri"/>
              <a:buNone/>
            </a:pPr>
            <a:r>
              <a:rPr lang="en-GB" sz="1800" b="0" i="0" u="none" strike="noStrike" cap="none">
                <a:solidFill>
                  <a:srgbClr val="4F81BD"/>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70" name="Google Shape;70;p43"/>
          <p:cNvSpPr/>
          <p:nvPr/>
        </p:nvSpPr>
        <p:spPr>
          <a:xfrm>
            <a:off x="8544240" y="4882680"/>
            <a:ext cx="470520" cy="184320"/>
          </a:xfrm>
          <a:prstGeom prst="rect">
            <a:avLst/>
          </a:prstGeom>
          <a:noFill/>
          <a:ln>
            <a:noFill/>
          </a:ln>
        </p:spPr>
        <p:txBody>
          <a:bodyPr spcFirstLastPara="1" wrap="square" lIns="90000" tIns="0" rIns="90000" bIns="0" anchor="t" anchorCtr="0">
            <a:noAutofit/>
          </a:bodyPr>
          <a:lstStyle/>
          <a:p>
            <a:pPr marL="0" marR="0" lvl="0" indent="0" algn="ctr" rtl="0">
              <a:lnSpc>
                <a:spcPct val="100000"/>
              </a:lnSpc>
              <a:spcBef>
                <a:spcPts val="0"/>
              </a:spcBef>
              <a:spcAft>
                <a:spcPts val="0"/>
              </a:spcAft>
              <a:buClr>
                <a:srgbClr val="FFFFFF"/>
              </a:buClr>
              <a:buSzPts val="1200"/>
              <a:buFont typeface="Arial"/>
              <a:buNone/>
            </a:pPr>
            <a:fld id="{00000000-1234-1234-1234-123412341234}" type="slidenum">
              <a:rPr lang="en-GB" sz="1200" b="0" i="0" u="none" strike="noStrike" cap="none">
                <a:solidFill>
                  <a:srgbClr val="FFFFFF"/>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
        <p:nvSpPr>
          <p:cNvPr id="71" name="Google Shape;71;p43"/>
          <p:cNvSpPr/>
          <p:nvPr/>
        </p:nvSpPr>
        <p:spPr>
          <a:xfrm>
            <a:off x="1986840" y="4866840"/>
            <a:ext cx="6428880" cy="258120"/>
          </a:xfrm>
          <a:prstGeom prst="rect">
            <a:avLst/>
          </a:prstGeom>
          <a:noFill/>
          <a:ln>
            <a:noFill/>
          </a:ln>
        </p:spPr>
        <p:txBody>
          <a:bodyPr spcFirstLastPara="1" wrap="square" lIns="90000" tIns="45000" rIns="90000" bIns="45000" anchor="t" anchorCtr="0">
            <a:noAutofit/>
          </a:bodyPr>
          <a:lstStyle/>
          <a:p>
            <a:pPr marL="0" marR="0" lvl="0" indent="0" algn="r" rtl="0">
              <a:lnSpc>
                <a:spcPct val="90000"/>
              </a:lnSpc>
              <a:spcBef>
                <a:spcPts val="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p:txBody>
      </p:sp>
      <p:pic>
        <p:nvPicPr>
          <p:cNvPr id="72" name="Google Shape;72;p43"/>
          <p:cNvPicPr preferRelativeResize="0"/>
          <p:nvPr/>
        </p:nvPicPr>
        <p:blipFill rotWithShape="1">
          <a:blip r:embed="rId16">
            <a:alphaModFix/>
          </a:blip>
          <a:srcRect/>
          <a:stretch/>
        </p:blipFill>
        <p:spPr>
          <a:xfrm>
            <a:off x="253080" y="94320"/>
            <a:ext cx="1351080" cy="651240"/>
          </a:xfrm>
          <a:prstGeom prst="rect">
            <a:avLst/>
          </a:prstGeom>
          <a:noFill/>
          <a:ln>
            <a:noFill/>
          </a:ln>
        </p:spPr>
      </p:pic>
      <p:sp>
        <p:nvSpPr>
          <p:cNvPr id="73" name="Google Shape;73;p43"/>
          <p:cNvSpPr txBox="1">
            <a:spLocks noGrp="1"/>
          </p:cNvSpPr>
          <p:nvPr>
            <p:ph type="body" idx="1"/>
          </p:nvPr>
        </p:nvSpPr>
        <p:spPr>
          <a:xfrm>
            <a:off x="539640" y="998280"/>
            <a:ext cx="8255520" cy="377640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4" name="Google Shape;74;p43"/>
          <p:cNvSpPr txBox="1">
            <a:spLocks noGrp="1"/>
          </p:cNvSpPr>
          <p:nvPr>
            <p:ph type="title"/>
          </p:nvPr>
        </p:nvSpPr>
        <p:spPr>
          <a:xfrm>
            <a:off x="1745640" y="171360"/>
            <a:ext cx="7187760" cy="574200"/>
          </a:xfrm>
          <a:prstGeom prst="rect">
            <a:avLst/>
          </a:prstGeom>
          <a:noFill/>
          <a:ln>
            <a:noFill/>
          </a:ln>
        </p:spPr>
        <p:txBody>
          <a:bodyPr spcFirstLastPara="1" wrap="square" lIns="90000" tIns="45000" rIns="90000" bIns="45000" anchor="t"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7"/>
        <p:cNvGrpSpPr/>
        <p:nvPr/>
      </p:nvGrpSpPr>
      <p:grpSpPr>
        <a:xfrm>
          <a:off x="0" y="0"/>
          <a:ext cx="0" cy="0"/>
          <a:chOff x="0" y="0"/>
          <a:chExt cx="0" cy="0"/>
        </a:xfrm>
      </p:grpSpPr>
      <p:sp>
        <p:nvSpPr>
          <p:cNvPr id="148" name="Google Shape;148;p47"/>
          <p:cNvSpPr/>
          <p:nvPr/>
        </p:nvSpPr>
        <p:spPr>
          <a:xfrm>
            <a:off x="2111400" y="0"/>
            <a:ext cx="7032240" cy="5143320"/>
          </a:xfrm>
          <a:prstGeom prst="rect">
            <a:avLst/>
          </a:prstGeom>
          <a:solidFill>
            <a:srgbClr val="0157A3"/>
          </a:solid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4F81BD"/>
              </a:buClr>
              <a:buSzPts val="1800"/>
              <a:buFont typeface="Calibri"/>
              <a:buNone/>
            </a:pPr>
            <a:r>
              <a:rPr lang="en-GB" sz="1800" b="0" strike="noStrike">
                <a:solidFill>
                  <a:srgbClr val="4F81BD"/>
                </a:solidFill>
                <a:latin typeface="Calibri"/>
                <a:ea typeface="Calibri"/>
                <a:cs typeface="Calibri"/>
                <a:sym typeface="Calibri"/>
              </a:rPr>
              <a:t> </a:t>
            </a:r>
            <a:endParaRPr sz="1800" b="0" strike="noStrike">
              <a:solidFill>
                <a:schemeClr val="dk1"/>
              </a:solidFill>
              <a:latin typeface="Arial"/>
              <a:ea typeface="Arial"/>
              <a:cs typeface="Arial"/>
              <a:sym typeface="Arial"/>
            </a:endParaRPr>
          </a:p>
        </p:txBody>
      </p:sp>
      <p:sp>
        <p:nvSpPr>
          <p:cNvPr id="149" name="Google Shape;149;p47"/>
          <p:cNvSpPr txBox="1">
            <a:spLocks noGrp="1"/>
          </p:cNvSpPr>
          <p:nvPr>
            <p:ph type="body" idx="1"/>
          </p:nvPr>
        </p:nvSpPr>
        <p:spPr>
          <a:xfrm>
            <a:off x="4173120" y="2131200"/>
            <a:ext cx="3657240" cy="11097360"/>
          </a:xfrm>
          <a:prstGeom prst="rect">
            <a:avLst/>
          </a:prstGeom>
          <a:noFill/>
          <a:ln>
            <a:noFill/>
          </a:ln>
        </p:spPr>
        <p:txBody>
          <a:bodyPr spcFirstLastPara="1" wrap="square" lIns="90000" tIns="0" rIns="90000" bIns="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50" name="Google Shape;150;p47"/>
          <p:cNvPicPr preferRelativeResize="0"/>
          <p:nvPr/>
        </p:nvPicPr>
        <p:blipFill rotWithShape="1">
          <a:blip r:embed="rId14">
            <a:alphaModFix/>
          </a:blip>
          <a:srcRect/>
          <a:stretch/>
        </p:blipFill>
        <p:spPr>
          <a:xfrm>
            <a:off x="253080" y="255960"/>
            <a:ext cx="1658520" cy="799560"/>
          </a:xfrm>
          <a:prstGeom prst="rect">
            <a:avLst/>
          </a:prstGeom>
          <a:noFill/>
          <a:ln>
            <a:noFill/>
          </a:ln>
        </p:spPr>
      </p:pic>
      <p:pic>
        <p:nvPicPr>
          <p:cNvPr id="151" name="Google Shape;151;p47"/>
          <p:cNvPicPr preferRelativeResize="0"/>
          <p:nvPr/>
        </p:nvPicPr>
        <p:blipFill rotWithShape="1">
          <a:blip r:embed="rId15">
            <a:alphaModFix/>
          </a:blip>
          <a:srcRect/>
          <a:stretch/>
        </p:blipFill>
        <p:spPr>
          <a:xfrm>
            <a:off x="505440" y="4255560"/>
            <a:ext cx="1153800" cy="763560"/>
          </a:xfrm>
          <a:prstGeom prst="rect">
            <a:avLst/>
          </a:prstGeom>
          <a:noFill/>
          <a:ln>
            <a:noFill/>
          </a:ln>
        </p:spPr>
      </p:pic>
      <p:sp>
        <p:nvSpPr>
          <p:cNvPr id="152" name="Google Shape;152;p47"/>
          <p:cNvSpPr/>
          <p:nvPr/>
        </p:nvSpPr>
        <p:spPr>
          <a:xfrm>
            <a:off x="3112200" y="4147200"/>
            <a:ext cx="5526360" cy="100224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GB" sz="1200" b="0" strike="noStrike">
                <a:solidFill>
                  <a:srgbClr val="FFFFFF"/>
                </a:solidFill>
                <a:latin typeface="Arial"/>
                <a:ea typeface="Arial"/>
                <a:cs typeface="Arial"/>
                <a:sym typeface="Arial"/>
              </a:rPr>
              <a:t>OperaHPC is funded by the European Union. Views and opinions expressed, however, are those of the author(s) only and do not necessarily reflect those of the European Union or European Commission. Neither the European Union nor the granting authority can be held responsible for them.</a:t>
            </a:r>
            <a:endParaRPr sz="1200" b="0" strike="noStrike">
              <a:solidFill>
                <a:schemeClr val="dk1"/>
              </a:solidFill>
              <a:latin typeface="Arial"/>
              <a:ea typeface="Arial"/>
              <a:cs typeface="Arial"/>
              <a:sym typeface="Arial"/>
            </a:endParaRPr>
          </a:p>
        </p:txBody>
      </p:sp>
      <p:sp>
        <p:nvSpPr>
          <p:cNvPr id="153" name="Google Shape;153;p4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ciantix/sciantix-official" TargetMode="External"/><Relationship Id="rId7"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sciantix/sciantix-official" TargetMode="External"/><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2.png"/><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9.png"/><Relationship Id="rId11" Type="http://schemas.openxmlformats.org/officeDocument/2006/relationships/image" Target="../media/image23.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hyperlink" Target="https://doi.org/10.1016/0022-3115(77)90117-9" TargetMode="External"/><Relationship Id="rId2" Type="http://schemas.openxmlformats.org/officeDocument/2006/relationships/notesSlide" Target="../notesSlides/notesSlide34.xml"/><Relationship Id="rId1" Type="http://schemas.openxmlformats.org/officeDocument/2006/relationships/slideLayout" Target="../slideLayouts/slideLayout14.xml"/><Relationship Id="rId5" Type="http://schemas.openxmlformats.org/officeDocument/2006/relationships/hyperlink" Target="https://doi.org/10.1016/j.jnucmat.2017.01.050" TargetMode="External"/><Relationship Id="rId4" Type="http://schemas.openxmlformats.org/officeDocument/2006/relationships/hyperlink" Target="https://www.politesi.polimi.it/handle/10589/228452"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body" idx="4294967295"/>
          </p:nvPr>
        </p:nvSpPr>
        <p:spPr>
          <a:xfrm>
            <a:off x="1045480" y="2233422"/>
            <a:ext cx="7053040" cy="676656"/>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it-IT" sz="3200" b="0" i="0" u="none" strike="noStrike" cap="none" dirty="0">
                <a:solidFill>
                  <a:srgbClr val="FFFFFF"/>
                </a:solidFill>
                <a:latin typeface="Arial"/>
                <a:ea typeface="Arial"/>
                <a:cs typeface="Arial"/>
                <a:sym typeface="Arial"/>
              </a:rPr>
              <a:t>Session 3: </a:t>
            </a:r>
            <a:r>
              <a:rPr lang="it-IT" sz="3200" b="0" i="0" u="none" strike="noStrike" cap="none" dirty="0" err="1">
                <a:solidFill>
                  <a:srgbClr val="FFFFFF"/>
                </a:solidFill>
                <a:latin typeface="Arial"/>
                <a:ea typeface="Arial"/>
                <a:cs typeface="Arial"/>
                <a:sym typeface="Arial"/>
              </a:rPr>
              <a:t>Fission</a:t>
            </a:r>
            <a:r>
              <a:rPr lang="it-IT" sz="3200" b="0" i="0" u="none" strike="noStrike" cap="none" dirty="0">
                <a:solidFill>
                  <a:srgbClr val="FFFFFF"/>
                </a:solidFill>
                <a:latin typeface="Arial"/>
                <a:ea typeface="Arial"/>
                <a:cs typeface="Arial"/>
                <a:sym typeface="Arial"/>
              </a:rPr>
              <a:t> gas </a:t>
            </a:r>
            <a:r>
              <a:rPr lang="it-IT" sz="3200" b="0" i="0" u="none" strike="noStrike" cap="none" dirty="0" err="1">
                <a:solidFill>
                  <a:srgbClr val="FFFFFF"/>
                </a:solidFill>
                <a:latin typeface="Arial"/>
                <a:ea typeface="Arial"/>
                <a:cs typeface="Arial"/>
                <a:sym typeface="Arial"/>
              </a:rPr>
              <a:t>behaviour</a:t>
            </a:r>
            <a:endParaRPr sz="2600"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71765d6a47_0_2"/>
          <p:cNvSpPr txBox="1">
            <a:spLocks noGrp="1"/>
          </p:cNvSpPr>
          <p:nvPr>
            <p:ph type="title" idx="4294967295"/>
          </p:nvPr>
        </p:nvSpPr>
        <p:spPr>
          <a:xfrm>
            <a:off x="5986272" y="178944"/>
            <a:ext cx="2961300" cy="382500"/>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dirty="0">
                <a:solidFill>
                  <a:srgbClr val="0157A3"/>
                </a:solidFill>
              </a:rPr>
              <a:t>N</a:t>
            </a:r>
            <a:r>
              <a:rPr lang="en-GB" sz="2000" b="0" i="0" u="none" strike="noStrike" cap="none" dirty="0">
                <a:solidFill>
                  <a:srgbClr val="0157A3"/>
                </a:solidFill>
                <a:latin typeface="Arial"/>
                <a:ea typeface="Arial"/>
                <a:cs typeface="Arial"/>
                <a:sym typeface="Arial"/>
              </a:rPr>
              <a:t>uclear fuel rod</a:t>
            </a:r>
            <a:endParaRPr dirty="0"/>
          </a:p>
        </p:txBody>
      </p:sp>
      <p:sp>
        <p:nvSpPr>
          <p:cNvPr id="233" name="Google Shape;233;g371765d6a47_0_2"/>
          <p:cNvSpPr/>
          <p:nvPr/>
        </p:nvSpPr>
        <p:spPr>
          <a:xfrm>
            <a:off x="520777" y="1004937"/>
            <a:ext cx="4427003" cy="3068441"/>
          </a:xfrm>
          <a:prstGeom prst="rect">
            <a:avLst/>
          </a:prstGeom>
          <a:noFill/>
          <a:ln>
            <a:noFill/>
          </a:ln>
        </p:spPr>
        <p:txBody>
          <a:bodyPr spcFirstLastPara="1" wrap="square" lIns="90000" tIns="45000" rIns="90000" bIns="45000" anchor="t" anchorCtr="0">
            <a:noAutofit/>
          </a:bodyPr>
          <a:lstStyle/>
          <a:p>
            <a:pPr marL="285750" marR="0" lvl="0" indent="-285750" rtl="0">
              <a:spcBef>
                <a:spcPts val="0"/>
              </a:spcBef>
              <a:spcAft>
                <a:spcPts val="0"/>
              </a:spcAft>
              <a:buFont typeface="Arial" panose="020B0604020202020204" pitchFamily="34" charset="0"/>
              <a:buChar char="•"/>
            </a:pPr>
            <a:r>
              <a:rPr lang="en-GB" sz="2000" dirty="0">
                <a:solidFill>
                  <a:schemeClr val="dk1"/>
                </a:solidFill>
                <a:latin typeface="+mj-lt"/>
              </a:rPr>
              <a:t>S</a:t>
            </a:r>
            <a:r>
              <a:rPr lang="en-GB" sz="2000" b="0" i="0" u="none" strike="noStrike" cap="none" dirty="0">
                <a:solidFill>
                  <a:schemeClr val="dk1"/>
                </a:solidFill>
                <a:latin typeface="+mj-lt"/>
                <a:sym typeface="Arial"/>
              </a:rPr>
              <a:t>tack of oxide (UO</a:t>
            </a:r>
            <a:r>
              <a:rPr lang="en-GB" sz="2000" b="0" i="0" u="none" strike="noStrike" cap="none" baseline="-25000" dirty="0">
                <a:solidFill>
                  <a:schemeClr val="dk1"/>
                </a:solidFill>
                <a:latin typeface="+mj-lt"/>
                <a:sym typeface="Arial"/>
              </a:rPr>
              <a:t>2</a:t>
            </a:r>
            <a:r>
              <a:rPr lang="en-GB" sz="2000" b="0" i="0" u="none" strike="noStrike" cap="none" dirty="0">
                <a:solidFill>
                  <a:schemeClr val="dk1"/>
                </a:solidFill>
                <a:latin typeface="+mj-lt"/>
                <a:sym typeface="Arial"/>
              </a:rPr>
              <a:t> / MOX) fuel pellets wrapped in metallic (zircaloy / stainless steel) cladding.</a:t>
            </a:r>
            <a:endParaRPr lang="en-GB" sz="2000" dirty="0">
              <a:solidFill>
                <a:schemeClr val="dk1"/>
              </a:solidFill>
              <a:latin typeface="+mj-lt"/>
            </a:endParaRPr>
          </a:p>
          <a:p>
            <a:pPr marL="285750" marR="0" lvl="0" indent="-285750" rtl="0">
              <a:spcBef>
                <a:spcPts val="0"/>
              </a:spcBef>
              <a:spcAft>
                <a:spcPts val="0"/>
              </a:spcAft>
              <a:buFont typeface="Arial" panose="020B0604020202020204" pitchFamily="34" charset="0"/>
              <a:buChar char="•"/>
            </a:pPr>
            <a:endParaRPr lang="en-GB" sz="2000" dirty="0">
              <a:solidFill>
                <a:schemeClr val="dk1"/>
              </a:solidFill>
              <a:latin typeface="+mj-lt"/>
            </a:endParaRPr>
          </a:p>
          <a:p>
            <a:pPr marL="285750" marR="0" lvl="0" indent="-285750" rtl="0">
              <a:spcBef>
                <a:spcPts val="0"/>
              </a:spcBef>
              <a:spcAft>
                <a:spcPts val="0"/>
              </a:spcAft>
              <a:buFont typeface="Arial" panose="020B0604020202020204" pitchFamily="34" charset="0"/>
              <a:buChar char="•"/>
            </a:pPr>
            <a:r>
              <a:rPr lang="en-GB" sz="2000" dirty="0">
                <a:solidFill>
                  <a:schemeClr val="dk1"/>
                </a:solidFill>
                <a:latin typeface="+mj-lt"/>
              </a:rPr>
              <a:t>Used in both thermal and fast reactors.</a:t>
            </a:r>
            <a:endParaRPr sz="2000" dirty="0">
              <a:solidFill>
                <a:schemeClr val="dk1"/>
              </a:solidFill>
              <a:latin typeface="+mj-lt"/>
            </a:endParaRPr>
          </a:p>
          <a:p>
            <a:pPr marL="400050" marR="0" lvl="0" indent="-285750" rtl="0">
              <a:spcBef>
                <a:spcPts val="0"/>
              </a:spcBef>
              <a:spcAft>
                <a:spcPts val="0"/>
              </a:spcAft>
              <a:buClr>
                <a:schemeClr val="dk1"/>
              </a:buClr>
              <a:buSzPts val="1800"/>
              <a:buFont typeface="Arial" panose="020B0604020202020204" pitchFamily="34" charset="0"/>
              <a:buChar char="•"/>
            </a:pPr>
            <a:endParaRPr sz="2000" b="0" i="0" u="none" strike="noStrike" cap="none" dirty="0">
              <a:solidFill>
                <a:schemeClr val="dk1"/>
              </a:solidFill>
              <a:latin typeface="+mj-lt"/>
              <a:sym typeface="Arial"/>
            </a:endParaRPr>
          </a:p>
          <a:p>
            <a:pPr marL="285750" marR="0" lvl="0" indent="-285750" rtl="0">
              <a:spcBef>
                <a:spcPts val="0"/>
              </a:spcBef>
              <a:spcAft>
                <a:spcPts val="0"/>
              </a:spcAft>
              <a:buFont typeface="Arial" panose="020B0604020202020204" pitchFamily="34" charset="0"/>
              <a:buChar char="•"/>
            </a:pPr>
            <a:r>
              <a:rPr lang="en-GB" sz="2000" b="0" i="0" u="none" strike="noStrike" cap="none" dirty="0">
                <a:solidFill>
                  <a:schemeClr val="dk1"/>
                </a:solidFill>
                <a:latin typeface="+mj-lt"/>
                <a:sym typeface="Arial"/>
              </a:rPr>
              <a:t>Its performance is fundamental fo</a:t>
            </a:r>
            <a:r>
              <a:rPr lang="en-GB" sz="2000" dirty="0">
                <a:solidFill>
                  <a:schemeClr val="dk1"/>
                </a:solidFill>
                <a:latin typeface="+mj-lt"/>
              </a:rPr>
              <a:t>r safety and efficiency.</a:t>
            </a:r>
            <a:endParaRPr sz="2000" dirty="0">
              <a:latin typeface="+mj-lt"/>
            </a:endParaRPr>
          </a:p>
        </p:txBody>
      </p:sp>
      <p:grpSp>
        <p:nvGrpSpPr>
          <p:cNvPr id="2" name="Gruppo 1">
            <a:extLst>
              <a:ext uri="{FF2B5EF4-FFF2-40B4-BE49-F238E27FC236}">
                <a16:creationId xmlns:a16="http://schemas.microsoft.com/office/drawing/2014/main" id="{AA5E6F62-72EF-B2F0-59DF-195913D8C313}"/>
              </a:ext>
            </a:extLst>
          </p:cNvPr>
          <p:cNvGrpSpPr/>
          <p:nvPr/>
        </p:nvGrpSpPr>
        <p:grpSpPr>
          <a:xfrm>
            <a:off x="6086546" y="831949"/>
            <a:ext cx="2054407" cy="3479602"/>
            <a:chOff x="434802" y="691565"/>
            <a:chExt cx="3098514" cy="5248033"/>
          </a:xfrm>
        </p:grpSpPr>
        <p:sp>
          <p:nvSpPr>
            <p:cNvPr id="3" name="Google Shape;88;p1">
              <a:extLst>
                <a:ext uri="{FF2B5EF4-FFF2-40B4-BE49-F238E27FC236}">
                  <a16:creationId xmlns:a16="http://schemas.microsoft.com/office/drawing/2014/main" id="{8B1AA801-7AC6-4F87-70C7-3E508358B2C4}"/>
                </a:ext>
              </a:extLst>
            </p:cNvPr>
            <p:cNvSpPr/>
            <p:nvPr/>
          </p:nvSpPr>
          <p:spPr>
            <a:xfrm>
              <a:off x="1077741" y="691565"/>
              <a:ext cx="981075" cy="5248033"/>
            </a:xfrm>
            <a:prstGeom prst="rect">
              <a:avLst/>
            </a:prstGeom>
            <a:solidFill>
              <a:srgbClr val="D9E5F8"/>
            </a:solidFill>
            <a:ln w="571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4" name="Google Shape;89;p1">
              <a:extLst>
                <a:ext uri="{FF2B5EF4-FFF2-40B4-BE49-F238E27FC236}">
                  <a16:creationId xmlns:a16="http://schemas.microsoft.com/office/drawing/2014/main" id="{072DC578-A925-A2C5-66C3-1D6C3295DD59}"/>
                </a:ext>
              </a:extLst>
            </p:cNvPr>
            <p:cNvSpPr/>
            <p:nvPr/>
          </p:nvSpPr>
          <p:spPr>
            <a:xfrm>
              <a:off x="1158704" y="1586636"/>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5" name="Google Shape;90;p1">
              <a:extLst>
                <a:ext uri="{FF2B5EF4-FFF2-40B4-BE49-F238E27FC236}">
                  <a16:creationId xmlns:a16="http://schemas.microsoft.com/office/drawing/2014/main" id="{90C27D94-56BE-9E41-B243-CE21CBBA89B1}"/>
                </a:ext>
              </a:extLst>
            </p:cNvPr>
            <p:cNvSpPr/>
            <p:nvPr/>
          </p:nvSpPr>
          <p:spPr>
            <a:xfrm>
              <a:off x="1158704" y="2785794"/>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6" name="Google Shape;91;p1">
              <a:extLst>
                <a:ext uri="{FF2B5EF4-FFF2-40B4-BE49-F238E27FC236}">
                  <a16:creationId xmlns:a16="http://schemas.microsoft.com/office/drawing/2014/main" id="{41F8A4D1-2134-911F-ABC7-D390AD0C8A59}"/>
                </a:ext>
              </a:extLst>
            </p:cNvPr>
            <p:cNvSpPr/>
            <p:nvPr/>
          </p:nvSpPr>
          <p:spPr>
            <a:xfrm>
              <a:off x="1158704" y="3984952"/>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cxnSp>
          <p:nvCxnSpPr>
            <p:cNvPr id="7" name="Google Shape;92;p1">
              <a:extLst>
                <a:ext uri="{FF2B5EF4-FFF2-40B4-BE49-F238E27FC236}">
                  <a16:creationId xmlns:a16="http://schemas.microsoft.com/office/drawing/2014/main" id="{BD0C6ABE-E608-2F89-ED06-F08F47C1EB29}"/>
                </a:ext>
              </a:extLst>
            </p:cNvPr>
            <p:cNvCxnSpPr>
              <a:stCxn id="19" idx="1"/>
              <a:endCxn id="25" idx="0"/>
            </p:cNvCxnSpPr>
            <p:nvPr/>
          </p:nvCxnSpPr>
          <p:spPr>
            <a:xfrm flipH="1">
              <a:off x="1562301" y="952471"/>
              <a:ext cx="801300" cy="207600"/>
            </a:xfrm>
            <a:prstGeom prst="straightConnector1">
              <a:avLst/>
            </a:prstGeom>
            <a:noFill/>
            <a:ln w="12700" cap="flat" cmpd="sng">
              <a:solidFill>
                <a:srgbClr val="262626"/>
              </a:solidFill>
              <a:prstDash val="solid"/>
              <a:miter lim="800000"/>
              <a:headEnd type="none" w="sm" len="sm"/>
              <a:tailEnd type="none" w="sm" len="sm"/>
            </a:ln>
          </p:spPr>
        </p:cxnSp>
        <p:sp>
          <p:nvSpPr>
            <p:cNvPr id="8" name="Google Shape;95;p1">
              <a:extLst>
                <a:ext uri="{FF2B5EF4-FFF2-40B4-BE49-F238E27FC236}">
                  <a16:creationId xmlns:a16="http://schemas.microsoft.com/office/drawing/2014/main" id="{A84B049C-57A2-94D4-2E2C-B9F5D6B46EA8}"/>
                </a:ext>
              </a:extLst>
            </p:cNvPr>
            <p:cNvSpPr/>
            <p:nvPr/>
          </p:nvSpPr>
          <p:spPr>
            <a:xfrm rot="1542721">
              <a:off x="434804" y="2048838"/>
              <a:ext cx="2266950" cy="2393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9" name="Google Shape;96;p1">
              <a:extLst>
                <a:ext uri="{FF2B5EF4-FFF2-40B4-BE49-F238E27FC236}">
                  <a16:creationId xmlns:a16="http://schemas.microsoft.com/office/drawing/2014/main" id="{D4FE0F39-C92C-0581-A06B-20F50C8A1ADD}"/>
                </a:ext>
              </a:extLst>
            </p:cNvPr>
            <p:cNvSpPr/>
            <p:nvPr/>
          </p:nvSpPr>
          <p:spPr>
            <a:xfrm rot="1542721">
              <a:off x="434802" y="4234171"/>
              <a:ext cx="2266950" cy="2393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grpSp>
          <p:nvGrpSpPr>
            <p:cNvPr id="10" name="Google Shape;97;p1">
              <a:extLst>
                <a:ext uri="{FF2B5EF4-FFF2-40B4-BE49-F238E27FC236}">
                  <a16:creationId xmlns:a16="http://schemas.microsoft.com/office/drawing/2014/main" id="{65A7D7BB-F1C0-0255-A195-7A8FC3FF3104}"/>
                </a:ext>
              </a:extLst>
            </p:cNvPr>
            <p:cNvGrpSpPr/>
            <p:nvPr/>
          </p:nvGrpSpPr>
          <p:grpSpPr>
            <a:xfrm>
              <a:off x="1218415" y="709271"/>
              <a:ext cx="673824" cy="875926"/>
              <a:chOff x="6641906" y="1087569"/>
              <a:chExt cx="988134" cy="1240040"/>
            </a:xfrm>
          </p:grpSpPr>
          <p:sp>
            <p:nvSpPr>
              <p:cNvPr id="20" name="Google Shape;98;p1">
                <a:extLst>
                  <a:ext uri="{FF2B5EF4-FFF2-40B4-BE49-F238E27FC236}">
                    <a16:creationId xmlns:a16="http://schemas.microsoft.com/office/drawing/2014/main" id="{E2F22E56-BEB8-A877-ADCE-04464671F7A4}"/>
                  </a:ext>
                </a:extLst>
              </p:cNvPr>
              <p:cNvSpPr/>
              <p:nvPr/>
            </p:nvSpPr>
            <p:spPr>
              <a:xfrm rot="665190">
                <a:off x="6646614" y="1236384"/>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1" name="Google Shape;99;p1">
                <a:extLst>
                  <a:ext uri="{FF2B5EF4-FFF2-40B4-BE49-F238E27FC236}">
                    <a16:creationId xmlns:a16="http://schemas.microsoft.com/office/drawing/2014/main" id="{B9B23010-5BD0-AEAD-7476-C0AD45D99BC5}"/>
                  </a:ext>
                </a:extLst>
              </p:cNvPr>
              <p:cNvSpPr/>
              <p:nvPr/>
            </p:nvSpPr>
            <p:spPr>
              <a:xfrm>
                <a:off x="6646611" y="1087569"/>
                <a:ext cx="981075" cy="119666"/>
              </a:xfrm>
              <a:prstGeom prst="rect">
                <a:avLst/>
              </a:prstGeom>
              <a:solidFill>
                <a:srgbClr val="DCEAF7"/>
              </a:solid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2" name="Google Shape;100;p1">
                <a:extLst>
                  <a:ext uri="{FF2B5EF4-FFF2-40B4-BE49-F238E27FC236}">
                    <a16:creationId xmlns:a16="http://schemas.microsoft.com/office/drawing/2014/main" id="{A16C4537-0D3C-F765-8E60-BA7578653D49}"/>
                  </a:ext>
                </a:extLst>
              </p:cNvPr>
              <p:cNvSpPr/>
              <p:nvPr/>
            </p:nvSpPr>
            <p:spPr>
              <a:xfrm rot="665190">
                <a:off x="6646613" y="1359311"/>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3" name="Google Shape;101;p1">
                <a:extLst>
                  <a:ext uri="{FF2B5EF4-FFF2-40B4-BE49-F238E27FC236}">
                    <a16:creationId xmlns:a16="http://schemas.microsoft.com/office/drawing/2014/main" id="{99FEA43A-DF4D-8E43-FD4B-3A13B846FA43}"/>
                  </a:ext>
                </a:extLst>
              </p:cNvPr>
              <p:cNvSpPr/>
              <p:nvPr/>
            </p:nvSpPr>
            <p:spPr>
              <a:xfrm rot="665190">
                <a:off x="6646613" y="1482634"/>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4" name="Google Shape;102;p1">
                <a:extLst>
                  <a:ext uri="{FF2B5EF4-FFF2-40B4-BE49-F238E27FC236}">
                    <a16:creationId xmlns:a16="http://schemas.microsoft.com/office/drawing/2014/main" id="{18B05DE3-010B-9E62-B70C-13ED9FE99402}"/>
                  </a:ext>
                </a:extLst>
              </p:cNvPr>
              <p:cNvSpPr/>
              <p:nvPr/>
            </p:nvSpPr>
            <p:spPr>
              <a:xfrm rot="665190">
                <a:off x="6646612" y="1601336"/>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5" name="Google Shape;94;p1">
                <a:extLst>
                  <a:ext uri="{FF2B5EF4-FFF2-40B4-BE49-F238E27FC236}">
                    <a16:creationId xmlns:a16="http://schemas.microsoft.com/office/drawing/2014/main" id="{E856CC82-7A35-10D7-4E25-855D5E1FD70E}"/>
                  </a:ext>
                </a:extLst>
              </p:cNvPr>
              <p:cNvSpPr/>
              <p:nvPr/>
            </p:nvSpPr>
            <p:spPr>
              <a:xfrm rot="665190">
                <a:off x="6644260" y="1724658"/>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6" name="Google Shape;103;p1">
                <a:extLst>
                  <a:ext uri="{FF2B5EF4-FFF2-40B4-BE49-F238E27FC236}">
                    <a16:creationId xmlns:a16="http://schemas.microsoft.com/office/drawing/2014/main" id="{543B7BA6-E79B-4291-49C8-219A69D638B4}"/>
                  </a:ext>
                </a:extLst>
              </p:cNvPr>
              <p:cNvSpPr/>
              <p:nvPr/>
            </p:nvSpPr>
            <p:spPr>
              <a:xfrm rot="665190">
                <a:off x="6644259" y="1847585"/>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7" name="Google Shape;104;p1">
                <a:extLst>
                  <a:ext uri="{FF2B5EF4-FFF2-40B4-BE49-F238E27FC236}">
                    <a16:creationId xmlns:a16="http://schemas.microsoft.com/office/drawing/2014/main" id="{EAF45279-5CAD-C7D2-AFD9-B5C6D458944C}"/>
                  </a:ext>
                </a:extLst>
              </p:cNvPr>
              <p:cNvSpPr/>
              <p:nvPr/>
            </p:nvSpPr>
            <p:spPr>
              <a:xfrm rot="665190">
                <a:off x="6644259" y="1970908"/>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8" name="Google Shape;105;p1">
                <a:extLst>
                  <a:ext uri="{FF2B5EF4-FFF2-40B4-BE49-F238E27FC236}">
                    <a16:creationId xmlns:a16="http://schemas.microsoft.com/office/drawing/2014/main" id="{DDA048FF-116A-78BC-0809-3C760A5C14D0}"/>
                  </a:ext>
                </a:extLst>
              </p:cNvPr>
              <p:cNvSpPr/>
              <p:nvPr/>
            </p:nvSpPr>
            <p:spPr>
              <a:xfrm rot="665190">
                <a:off x="6644258" y="2089610"/>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9" name="Google Shape;106;p1">
                <a:extLst>
                  <a:ext uri="{FF2B5EF4-FFF2-40B4-BE49-F238E27FC236}">
                    <a16:creationId xmlns:a16="http://schemas.microsoft.com/office/drawing/2014/main" id="{3068AEFA-C6EE-63D2-3CBF-681083FEB3A9}"/>
                  </a:ext>
                </a:extLst>
              </p:cNvPr>
              <p:cNvSpPr/>
              <p:nvPr/>
            </p:nvSpPr>
            <p:spPr>
              <a:xfrm>
                <a:off x="6641906" y="2207943"/>
                <a:ext cx="981075" cy="119666"/>
              </a:xfrm>
              <a:prstGeom prst="rect">
                <a:avLst/>
              </a:prstGeom>
              <a:solidFill>
                <a:srgbClr val="DCEAF7"/>
              </a:solid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grpSp>
        <p:sp>
          <p:nvSpPr>
            <p:cNvPr id="11" name="Google Shape;107;p1">
              <a:extLst>
                <a:ext uri="{FF2B5EF4-FFF2-40B4-BE49-F238E27FC236}">
                  <a16:creationId xmlns:a16="http://schemas.microsoft.com/office/drawing/2014/main" id="{F65C11D9-F73C-931B-A216-BBE8CA5461B2}"/>
                </a:ext>
              </a:extLst>
            </p:cNvPr>
            <p:cNvSpPr txBox="1"/>
            <p:nvPr/>
          </p:nvSpPr>
          <p:spPr>
            <a:xfrm rot="16200000">
              <a:off x="312672" y="992921"/>
              <a:ext cx="714316" cy="27845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 b="0" i="0" u="none" strike="noStrike" cap="none">
                  <a:solidFill>
                    <a:schemeClr val="dk1"/>
                  </a:solidFill>
                  <a:latin typeface="Arial"/>
                  <a:ea typeface="Arial"/>
                  <a:cs typeface="Arial"/>
                  <a:sym typeface="Arial"/>
                </a:rPr>
                <a:t>Plenum</a:t>
              </a:r>
              <a:endParaRPr sz="600"/>
            </a:p>
          </p:txBody>
        </p:sp>
        <p:cxnSp>
          <p:nvCxnSpPr>
            <p:cNvPr id="12" name="Google Shape;108;p1">
              <a:extLst>
                <a:ext uri="{FF2B5EF4-FFF2-40B4-BE49-F238E27FC236}">
                  <a16:creationId xmlns:a16="http://schemas.microsoft.com/office/drawing/2014/main" id="{150B2261-8097-0800-5207-F2D4F9F5558E}"/>
                </a:ext>
              </a:extLst>
            </p:cNvPr>
            <p:cNvCxnSpPr>
              <a:stCxn id="16" idx="1"/>
            </p:cNvCxnSpPr>
            <p:nvPr/>
          </p:nvCxnSpPr>
          <p:spPr>
            <a:xfrm flipH="1">
              <a:off x="1698546" y="3182031"/>
              <a:ext cx="915300" cy="105900"/>
            </a:xfrm>
            <a:prstGeom prst="straightConnector1">
              <a:avLst/>
            </a:prstGeom>
            <a:noFill/>
            <a:ln w="12700" cap="flat" cmpd="sng">
              <a:solidFill>
                <a:srgbClr val="262626"/>
              </a:solidFill>
              <a:prstDash val="solid"/>
              <a:miter lim="800000"/>
              <a:headEnd type="none" w="sm" len="sm"/>
              <a:tailEnd type="none" w="sm" len="sm"/>
            </a:ln>
          </p:spPr>
        </p:cxnSp>
        <p:cxnSp>
          <p:nvCxnSpPr>
            <p:cNvPr id="13" name="Google Shape;110;p1">
              <a:extLst>
                <a:ext uri="{FF2B5EF4-FFF2-40B4-BE49-F238E27FC236}">
                  <a16:creationId xmlns:a16="http://schemas.microsoft.com/office/drawing/2014/main" id="{02AEA838-8337-F335-3AB4-AB2A5E913943}"/>
                </a:ext>
              </a:extLst>
            </p:cNvPr>
            <p:cNvCxnSpPr>
              <a:stCxn id="15" idx="1"/>
            </p:cNvCxnSpPr>
            <p:nvPr/>
          </p:nvCxnSpPr>
          <p:spPr>
            <a:xfrm flipH="1">
              <a:off x="2052665" y="1889459"/>
              <a:ext cx="664500" cy="134700"/>
            </a:xfrm>
            <a:prstGeom prst="straightConnector1">
              <a:avLst/>
            </a:prstGeom>
            <a:noFill/>
            <a:ln w="12700" cap="flat" cmpd="sng">
              <a:solidFill>
                <a:srgbClr val="262626"/>
              </a:solidFill>
              <a:prstDash val="solid"/>
              <a:miter lim="800000"/>
              <a:headEnd type="none" w="sm" len="sm"/>
              <a:tailEnd type="none" w="sm" len="sm"/>
            </a:ln>
          </p:spPr>
        </p:cxnSp>
        <p:cxnSp>
          <p:nvCxnSpPr>
            <p:cNvPr id="14" name="Google Shape;112;p1">
              <a:extLst>
                <a:ext uri="{FF2B5EF4-FFF2-40B4-BE49-F238E27FC236}">
                  <a16:creationId xmlns:a16="http://schemas.microsoft.com/office/drawing/2014/main" id="{71E3731F-F27C-C15C-95D6-7E49D5445291}"/>
                </a:ext>
              </a:extLst>
            </p:cNvPr>
            <p:cNvCxnSpPr>
              <a:stCxn id="18" idx="1"/>
            </p:cNvCxnSpPr>
            <p:nvPr/>
          </p:nvCxnSpPr>
          <p:spPr>
            <a:xfrm rot="10800000">
              <a:off x="2002028" y="3653641"/>
              <a:ext cx="739200" cy="209400"/>
            </a:xfrm>
            <a:prstGeom prst="straightConnector1">
              <a:avLst/>
            </a:prstGeom>
            <a:noFill/>
            <a:ln w="12700" cap="flat" cmpd="sng">
              <a:solidFill>
                <a:srgbClr val="262626"/>
              </a:solidFill>
              <a:prstDash val="solid"/>
              <a:miter lim="800000"/>
              <a:headEnd type="none" w="sm" len="sm"/>
              <a:tailEnd type="none" w="sm" len="sm"/>
            </a:ln>
          </p:spPr>
        </p:cxnSp>
        <p:sp>
          <p:nvSpPr>
            <p:cNvPr id="15" name="Google Shape;111;p1">
              <a:extLst>
                <a:ext uri="{FF2B5EF4-FFF2-40B4-BE49-F238E27FC236}">
                  <a16:creationId xmlns:a16="http://schemas.microsoft.com/office/drawing/2014/main" id="{B2EA478F-9FF7-739A-F88F-48F31A2E39C8}"/>
                </a:ext>
              </a:extLst>
            </p:cNvPr>
            <p:cNvSpPr/>
            <p:nvPr/>
          </p:nvSpPr>
          <p:spPr>
            <a:xfrm>
              <a:off x="2717165" y="1745443"/>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Arial"/>
                  <a:ea typeface="Arial"/>
                  <a:cs typeface="Arial"/>
                  <a:sym typeface="Arial"/>
                </a:rPr>
                <a:t>Cladding</a:t>
              </a:r>
              <a:endParaRPr sz="600"/>
            </a:p>
          </p:txBody>
        </p:sp>
        <p:sp>
          <p:nvSpPr>
            <p:cNvPr id="16" name="Google Shape;109;p1">
              <a:extLst>
                <a:ext uri="{FF2B5EF4-FFF2-40B4-BE49-F238E27FC236}">
                  <a16:creationId xmlns:a16="http://schemas.microsoft.com/office/drawing/2014/main" id="{5EBC0529-EBBD-BE48-6445-499F5A86A74E}"/>
                </a:ext>
              </a:extLst>
            </p:cNvPr>
            <p:cNvSpPr/>
            <p:nvPr/>
          </p:nvSpPr>
          <p:spPr>
            <a:xfrm>
              <a:off x="2613846" y="303801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Arial"/>
                  <a:ea typeface="Arial"/>
                  <a:cs typeface="Arial"/>
                  <a:sym typeface="Arial"/>
                </a:rPr>
                <a:t>Fuel</a:t>
              </a:r>
              <a:endParaRPr sz="600"/>
            </a:p>
          </p:txBody>
        </p:sp>
        <p:sp>
          <p:nvSpPr>
            <p:cNvPr id="17" name="Google Shape;114;p1">
              <a:extLst>
                <a:ext uri="{FF2B5EF4-FFF2-40B4-BE49-F238E27FC236}">
                  <a16:creationId xmlns:a16="http://schemas.microsoft.com/office/drawing/2014/main" id="{7FB02757-FD9F-0716-A497-B59886E08DA0}"/>
                </a:ext>
              </a:extLst>
            </p:cNvPr>
            <p:cNvSpPr/>
            <p:nvPr/>
          </p:nvSpPr>
          <p:spPr>
            <a:xfrm>
              <a:off x="1171039" y="5356899"/>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Arial"/>
                  <a:ea typeface="Arial"/>
                  <a:cs typeface="Arial"/>
                  <a:sym typeface="Arial"/>
                </a:rPr>
                <a:t>Helium</a:t>
              </a:r>
              <a:endParaRPr sz="600"/>
            </a:p>
          </p:txBody>
        </p:sp>
        <p:sp>
          <p:nvSpPr>
            <p:cNvPr id="18" name="Google Shape;113;p1">
              <a:extLst>
                <a:ext uri="{FF2B5EF4-FFF2-40B4-BE49-F238E27FC236}">
                  <a16:creationId xmlns:a16="http://schemas.microsoft.com/office/drawing/2014/main" id="{82C423B4-67A1-E7C1-2A85-E9CE52787D51}"/>
                </a:ext>
              </a:extLst>
            </p:cNvPr>
            <p:cNvSpPr/>
            <p:nvPr/>
          </p:nvSpPr>
          <p:spPr>
            <a:xfrm>
              <a:off x="2741228" y="371902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Gap</a:t>
              </a:r>
              <a:endParaRPr sz="600"/>
            </a:p>
          </p:txBody>
        </p:sp>
        <p:sp>
          <p:nvSpPr>
            <p:cNvPr id="19" name="Google Shape;93;p1">
              <a:extLst>
                <a:ext uri="{FF2B5EF4-FFF2-40B4-BE49-F238E27FC236}">
                  <a16:creationId xmlns:a16="http://schemas.microsoft.com/office/drawing/2014/main" id="{E685230F-E6FF-59B9-F790-1F065C2496C8}"/>
                </a:ext>
              </a:extLst>
            </p:cNvPr>
            <p:cNvSpPr/>
            <p:nvPr/>
          </p:nvSpPr>
          <p:spPr>
            <a:xfrm>
              <a:off x="2363601" y="80845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Arial"/>
                  <a:ea typeface="Arial"/>
                  <a:cs typeface="Arial"/>
                  <a:sym typeface="Arial"/>
                </a:rPr>
                <a:t>Spring</a:t>
              </a:r>
              <a:endParaRPr sz="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animEffect transition="in" filter="fade">
                                      <p:cBhvr>
                                        <p:cTn id="7" dur="500"/>
                                        <p:tgtEl>
                                          <p:spTgt spid="23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3">
                                            <p:txEl>
                                              <p:pRg st="2" end="2"/>
                                            </p:txEl>
                                          </p:spTgt>
                                        </p:tgtEl>
                                        <p:attrNameLst>
                                          <p:attrName>style.visibility</p:attrName>
                                        </p:attrNameLst>
                                      </p:cBhvr>
                                      <p:to>
                                        <p:strVal val="visible"/>
                                      </p:to>
                                    </p:set>
                                    <p:animEffect transition="in" filter="fade">
                                      <p:cBhvr>
                                        <p:cTn id="10" dur="500"/>
                                        <p:tgtEl>
                                          <p:spTgt spid="23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3">
                                            <p:txEl>
                                              <p:pRg st="4" end="4"/>
                                            </p:txEl>
                                          </p:spTgt>
                                        </p:tgtEl>
                                        <p:attrNameLst>
                                          <p:attrName>style.visibility</p:attrName>
                                        </p:attrNameLst>
                                      </p:cBhvr>
                                      <p:to>
                                        <p:strVal val="visible"/>
                                      </p:to>
                                    </p:set>
                                    <p:animEffect transition="in" filter="fade">
                                      <p:cBhvr>
                                        <p:cTn id="13" dur="500"/>
                                        <p:tgtEl>
                                          <p:spTgt spid="2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371765d6a47_0_11"/>
          <p:cNvSpPr txBox="1">
            <a:spLocks noGrp="1"/>
          </p:cNvSpPr>
          <p:nvPr>
            <p:ph type="title" idx="4294967295"/>
          </p:nvPr>
        </p:nvSpPr>
        <p:spPr>
          <a:xfrm>
            <a:off x="5986272" y="178944"/>
            <a:ext cx="2961300" cy="382500"/>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dirty="0">
                <a:solidFill>
                  <a:srgbClr val="0157A3"/>
                </a:solidFill>
              </a:rPr>
              <a:t>N</a:t>
            </a:r>
            <a:r>
              <a:rPr lang="en-GB" sz="2000" b="0" i="0" u="none" strike="noStrike" cap="none" dirty="0">
                <a:solidFill>
                  <a:srgbClr val="0157A3"/>
                </a:solidFill>
                <a:latin typeface="Arial"/>
                <a:ea typeface="Arial"/>
                <a:cs typeface="Arial"/>
                <a:sym typeface="Arial"/>
              </a:rPr>
              <a:t>uclear fuel rod</a:t>
            </a:r>
            <a:endParaRPr dirty="0"/>
          </a:p>
        </p:txBody>
      </p:sp>
      <p:sp>
        <p:nvSpPr>
          <p:cNvPr id="241" name="Google Shape;241;g371765d6a47_0_11"/>
          <p:cNvSpPr/>
          <p:nvPr/>
        </p:nvSpPr>
        <p:spPr>
          <a:xfrm>
            <a:off x="507300" y="1011556"/>
            <a:ext cx="4540689" cy="3624452"/>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GB" sz="2000" b="1" dirty="0">
                <a:solidFill>
                  <a:schemeClr val="dk1"/>
                </a:solidFill>
              </a:rPr>
              <a:t>Use of f</a:t>
            </a:r>
            <a:r>
              <a:rPr lang="en-GB" sz="2000" b="1" i="0" u="none" strike="noStrike" cap="none" dirty="0">
                <a:solidFill>
                  <a:schemeClr val="dk1"/>
                </a:solidFill>
                <a:sym typeface="Arial"/>
              </a:rPr>
              <a:t>uel </a:t>
            </a:r>
            <a:r>
              <a:rPr lang="en-GB" sz="2000" b="1" dirty="0">
                <a:solidFill>
                  <a:schemeClr val="dk1"/>
                </a:solidFill>
              </a:rPr>
              <a:t>p</a:t>
            </a:r>
            <a:r>
              <a:rPr lang="en-GB" sz="2000" b="1" i="0" u="none" strike="noStrike" cap="none" dirty="0">
                <a:solidFill>
                  <a:schemeClr val="dk1"/>
                </a:solidFill>
                <a:sym typeface="Arial"/>
              </a:rPr>
              <a:t>erformance </a:t>
            </a:r>
            <a:r>
              <a:rPr lang="en-GB" sz="2000" b="1" dirty="0">
                <a:solidFill>
                  <a:schemeClr val="dk1"/>
                </a:solidFill>
              </a:rPr>
              <a:t>c</a:t>
            </a:r>
            <a:r>
              <a:rPr lang="en-GB" sz="2000" b="1" i="0" u="none" strike="noStrike" cap="none" dirty="0">
                <a:solidFill>
                  <a:schemeClr val="dk1"/>
                </a:solidFill>
                <a:sym typeface="Arial"/>
              </a:rPr>
              <a:t>odes and integral irradiation experiments:</a:t>
            </a:r>
          </a:p>
          <a:p>
            <a:pPr marL="0" marR="0" lvl="0" indent="0" algn="just" rtl="0">
              <a:spcBef>
                <a:spcPts val="0"/>
              </a:spcBef>
              <a:spcAft>
                <a:spcPts val="0"/>
              </a:spcAft>
              <a:buNone/>
            </a:pPr>
            <a:endParaRPr sz="2000" b="0" i="0" u="none" strike="noStrike" cap="none" dirty="0">
              <a:solidFill>
                <a:schemeClr val="dk1"/>
              </a:solidFill>
              <a:sym typeface="Arial"/>
            </a:endParaRPr>
          </a:p>
          <a:p>
            <a:pPr marL="285750" marR="0" lvl="0" indent="-285750" rtl="0">
              <a:spcBef>
                <a:spcPts val="0"/>
              </a:spcBef>
              <a:spcAft>
                <a:spcPts val="0"/>
              </a:spcAft>
              <a:buFont typeface="Arial" panose="020B0604020202020204" pitchFamily="34" charset="0"/>
              <a:buChar char="•"/>
            </a:pPr>
            <a:r>
              <a:rPr lang="en-GB" sz="2000" dirty="0">
                <a:solidFill>
                  <a:schemeClr val="dk1"/>
                </a:solidFill>
              </a:rPr>
              <a:t>T</a:t>
            </a:r>
            <a:r>
              <a:rPr lang="en-GB" sz="2000" b="0" i="0" u="none" strike="noStrike" cap="none" dirty="0">
                <a:solidFill>
                  <a:schemeClr val="dk1"/>
                </a:solidFill>
                <a:sym typeface="Arial"/>
              </a:rPr>
              <a:t>o assess the fuel rod thermo-mechanical behaviour (σ, ε, and T)</a:t>
            </a:r>
            <a:endParaRPr lang="en-GB" sz="2000" dirty="0"/>
          </a:p>
          <a:p>
            <a:pPr marL="285750" marR="0" lvl="0" indent="-285750" algn="just" rtl="0">
              <a:spcBef>
                <a:spcPts val="0"/>
              </a:spcBef>
              <a:spcAft>
                <a:spcPts val="0"/>
              </a:spcAft>
              <a:buFont typeface="Arial" panose="020B0604020202020204" pitchFamily="34" charset="0"/>
              <a:buChar char="•"/>
            </a:pPr>
            <a:endParaRPr sz="2000" b="0" i="0" u="none" strike="noStrike" cap="none" dirty="0">
              <a:solidFill>
                <a:schemeClr val="dk1"/>
              </a:solidFill>
              <a:sym typeface="Arial"/>
            </a:endParaRPr>
          </a:p>
          <a:p>
            <a:pPr marL="285750" marR="0" lvl="0" indent="-285750" rtl="0">
              <a:spcBef>
                <a:spcPts val="0"/>
              </a:spcBef>
              <a:spcAft>
                <a:spcPts val="0"/>
              </a:spcAft>
              <a:buFont typeface="Arial" panose="020B0604020202020204" pitchFamily="34" charset="0"/>
              <a:buChar char="•"/>
            </a:pPr>
            <a:r>
              <a:rPr lang="en-GB" sz="2000" dirty="0">
                <a:solidFill>
                  <a:schemeClr val="dk1"/>
                </a:solidFill>
              </a:rPr>
              <a:t>F</a:t>
            </a:r>
            <a:r>
              <a:rPr lang="en-GB" sz="2000" b="0" i="0" u="none" strike="noStrike" cap="none" dirty="0">
                <a:solidFill>
                  <a:schemeClr val="dk1"/>
                </a:solidFill>
                <a:sym typeface="Arial"/>
              </a:rPr>
              <a:t>ission gas behaviour</a:t>
            </a:r>
            <a:r>
              <a:rPr lang="en-GB" sz="2000" dirty="0">
                <a:solidFill>
                  <a:schemeClr val="dk1"/>
                </a:solidFill>
              </a:rPr>
              <a:t> =</a:t>
            </a:r>
            <a:r>
              <a:rPr lang="en-GB" sz="2000" b="0" i="0" u="none" strike="noStrike" cap="none" dirty="0">
                <a:solidFill>
                  <a:schemeClr val="dk1"/>
                </a:solidFill>
                <a:sym typeface="Arial"/>
              </a:rPr>
              <a:t> gaseous swelling &amp; fission gas release</a:t>
            </a:r>
          </a:p>
          <a:p>
            <a:pPr marL="285750" marR="0" lvl="0" indent="-285750" rtl="0">
              <a:spcBef>
                <a:spcPts val="0"/>
              </a:spcBef>
              <a:spcAft>
                <a:spcPts val="0"/>
              </a:spcAft>
              <a:buFont typeface="Arial" panose="020B0604020202020204" pitchFamily="34" charset="0"/>
              <a:buChar char="•"/>
            </a:pPr>
            <a:endParaRPr lang="en-GB" sz="2000" dirty="0">
              <a:solidFill>
                <a:schemeClr val="dk1"/>
              </a:solidFill>
            </a:endParaRPr>
          </a:p>
          <a:p>
            <a:r>
              <a:rPr lang="en-US" sz="2000" dirty="0"/>
              <a:t>How does fission gas affect the safety and performance of the fuel rod?</a:t>
            </a:r>
          </a:p>
          <a:p>
            <a:pPr marR="0" lvl="0" rtl="0">
              <a:spcBef>
                <a:spcPts val="0"/>
              </a:spcBef>
              <a:spcAft>
                <a:spcPts val="0"/>
              </a:spcAft>
            </a:pPr>
            <a:endParaRPr sz="2000" dirty="0"/>
          </a:p>
        </p:txBody>
      </p:sp>
      <p:grpSp>
        <p:nvGrpSpPr>
          <p:cNvPr id="2" name="Gruppo 1">
            <a:extLst>
              <a:ext uri="{FF2B5EF4-FFF2-40B4-BE49-F238E27FC236}">
                <a16:creationId xmlns:a16="http://schemas.microsoft.com/office/drawing/2014/main" id="{59DB2D1F-E9EF-0E90-7B84-232F3FDCA116}"/>
              </a:ext>
            </a:extLst>
          </p:cNvPr>
          <p:cNvGrpSpPr/>
          <p:nvPr/>
        </p:nvGrpSpPr>
        <p:grpSpPr>
          <a:xfrm>
            <a:off x="6086546" y="831949"/>
            <a:ext cx="2054407" cy="3479602"/>
            <a:chOff x="434802" y="691565"/>
            <a:chExt cx="3098514" cy="5248033"/>
          </a:xfrm>
        </p:grpSpPr>
        <p:sp>
          <p:nvSpPr>
            <p:cNvPr id="3" name="Google Shape;88;p1">
              <a:extLst>
                <a:ext uri="{FF2B5EF4-FFF2-40B4-BE49-F238E27FC236}">
                  <a16:creationId xmlns:a16="http://schemas.microsoft.com/office/drawing/2014/main" id="{ECB23801-2686-E693-0204-E86FB0F972E0}"/>
                </a:ext>
              </a:extLst>
            </p:cNvPr>
            <p:cNvSpPr/>
            <p:nvPr/>
          </p:nvSpPr>
          <p:spPr>
            <a:xfrm>
              <a:off x="1077741" y="691565"/>
              <a:ext cx="981075" cy="5248033"/>
            </a:xfrm>
            <a:prstGeom prst="rect">
              <a:avLst/>
            </a:prstGeom>
            <a:solidFill>
              <a:srgbClr val="D9E5F8"/>
            </a:solidFill>
            <a:ln w="571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4" name="Google Shape;89;p1">
              <a:extLst>
                <a:ext uri="{FF2B5EF4-FFF2-40B4-BE49-F238E27FC236}">
                  <a16:creationId xmlns:a16="http://schemas.microsoft.com/office/drawing/2014/main" id="{48209229-1F43-B05E-7CEB-723DB43E98DD}"/>
                </a:ext>
              </a:extLst>
            </p:cNvPr>
            <p:cNvSpPr/>
            <p:nvPr/>
          </p:nvSpPr>
          <p:spPr>
            <a:xfrm>
              <a:off x="1158704" y="1586636"/>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5" name="Google Shape;90;p1">
              <a:extLst>
                <a:ext uri="{FF2B5EF4-FFF2-40B4-BE49-F238E27FC236}">
                  <a16:creationId xmlns:a16="http://schemas.microsoft.com/office/drawing/2014/main" id="{DF79641A-8130-728F-538D-027F69F45421}"/>
                </a:ext>
              </a:extLst>
            </p:cNvPr>
            <p:cNvSpPr/>
            <p:nvPr/>
          </p:nvSpPr>
          <p:spPr>
            <a:xfrm>
              <a:off x="1158704" y="2785794"/>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6" name="Google Shape;91;p1">
              <a:extLst>
                <a:ext uri="{FF2B5EF4-FFF2-40B4-BE49-F238E27FC236}">
                  <a16:creationId xmlns:a16="http://schemas.microsoft.com/office/drawing/2014/main" id="{5E9A79DA-F6AD-1D51-CEF8-68E3BFCDD2DF}"/>
                </a:ext>
              </a:extLst>
            </p:cNvPr>
            <p:cNvSpPr/>
            <p:nvPr/>
          </p:nvSpPr>
          <p:spPr>
            <a:xfrm>
              <a:off x="1158704" y="3984952"/>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cxnSp>
          <p:nvCxnSpPr>
            <p:cNvPr id="7" name="Google Shape;92;p1">
              <a:extLst>
                <a:ext uri="{FF2B5EF4-FFF2-40B4-BE49-F238E27FC236}">
                  <a16:creationId xmlns:a16="http://schemas.microsoft.com/office/drawing/2014/main" id="{6229AAC1-A059-8F89-042A-03941FF5BA69}"/>
                </a:ext>
              </a:extLst>
            </p:cNvPr>
            <p:cNvCxnSpPr>
              <a:stCxn id="19" idx="1"/>
              <a:endCxn id="25" idx="0"/>
            </p:cNvCxnSpPr>
            <p:nvPr/>
          </p:nvCxnSpPr>
          <p:spPr>
            <a:xfrm flipH="1">
              <a:off x="1562301" y="952471"/>
              <a:ext cx="801300" cy="207600"/>
            </a:xfrm>
            <a:prstGeom prst="straightConnector1">
              <a:avLst/>
            </a:prstGeom>
            <a:noFill/>
            <a:ln w="12700" cap="flat" cmpd="sng">
              <a:solidFill>
                <a:srgbClr val="262626"/>
              </a:solidFill>
              <a:prstDash val="solid"/>
              <a:miter lim="800000"/>
              <a:headEnd type="none" w="sm" len="sm"/>
              <a:tailEnd type="none" w="sm" len="sm"/>
            </a:ln>
          </p:spPr>
        </p:cxnSp>
        <p:sp>
          <p:nvSpPr>
            <p:cNvPr id="8" name="Google Shape;95;p1">
              <a:extLst>
                <a:ext uri="{FF2B5EF4-FFF2-40B4-BE49-F238E27FC236}">
                  <a16:creationId xmlns:a16="http://schemas.microsoft.com/office/drawing/2014/main" id="{278F088B-E3D1-541E-355A-F963D30E5344}"/>
                </a:ext>
              </a:extLst>
            </p:cNvPr>
            <p:cNvSpPr/>
            <p:nvPr/>
          </p:nvSpPr>
          <p:spPr>
            <a:xfrm rot="1542721">
              <a:off x="434804" y="2048838"/>
              <a:ext cx="2266950" cy="2393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9" name="Google Shape;96;p1">
              <a:extLst>
                <a:ext uri="{FF2B5EF4-FFF2-40B4-BE49-F238E27FC236}">
                  <a16:creationId xmlns:a16="http://schemas.microsoft.com/office/drawing/2014/main" id="{D275757E-FB12-849D-9E62-BD12F88000F3}"/>
                </a:ext>
              </a:extLst>
            </p:cNvPr>
            <p:cNvSpPr/>
            <p:nvPr/>
          </p:nvSpPr>
          <p:spPr>
            <a:xfrm rot="1542721">
              <a:off x="434802" y="4234171"/>
              <a:ext cx="2266950" cy="2393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grpSp>
          <p:nvGrpSpPr>
            <p:cNvPr id="10" name="Google Shape;97;p1">
              <a:extLst>
                <a:ext uri="{FF2B5EF4-FFF2-40B4-BE49-F238E27FC236}">
                  <a16:creationId xmlns:a16="http://schemas.microsoft.com/office/drawing/2014/main" id="{AAA87D90-738B-1E47-B524-573D4505291D}"/>
                </a:ext>
              </a:extLst>
            </p:cNvPr>
            <p:cNvGrpSpPr/>
            <p:nvPr/>
          </p:nvGrpSpPr>
          <p:grpSpPr>
            <a:xfrm>
              <a:off x="1218415" y="709271"/>
              <a:ext cx="673824" cy="875926"/>
              <a:chOff x="6641906" y="1087569"/>
              <a:chExt cx="988134" cy="1240040"/>
            </a:xfrm>
          </p:grpSpPr>
          <p:sp>
            <p:nvSpPr>
              <p:cNvPr id="20" name="Google Shape;98;p1">
                <a:extLst>
                  <a:ext uri="{FF2B5EF4-FFF2-40B4-BE49-F238E27FC236}">
                    <a16:creationId xmlns:a16="http://schemas.microsoft.com/office/drawing/2014/main" id="{5539334B-BF00-32E6-DAC2-CA672351D0D1}"/>
                  </a:ext>
                </a:extLst>
              </p:cNvPr>
              <p:cNvSpPr/>
              <p:nvPr/>
            </p:nvSpPr>
            <p:spPr>
              <a:xfrm rot="665190">
                <a:off x="6646614" y="1236384"/>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1" name="Google Shape;99;p1">
                <a:extLst>
                  <a:ext uri="{FF2B5EF4-FFF2-40B4-BE49-F238E27FC236}">
                    <a16:creationId xmlns:a16="http://schemas.microsoft.com/office/drawing/2014/main" id="{F1C48DD5-9B7D-646F-B09A-CCB6B3804A96}"/>
                  </a:ext>
                </a:extLst>
              </p:cNvPr>
              <p:cNvSpPr/>
              <p:nvPr/>
            </p:nvSpPr>
            <p:spPr>
              <a:xfrm>
                <a:off x="6646611" y="1087569"/>
                <a:ext cx="981075" cy="119666"/>
              </a:xfrm>
              <a:prstGeom prst="rect">
                <a:avLst/>
              </a:prstGeom>
              <a:solidFill>
                <a:srgbClr val="DCEAF7"/>
              </a:solid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2" name="Google Shape;100;p1">
                <a:extLst>
                  <a:ext uri="{FF2B5EF4-FFF2-40B4-BE49-F238E27FC236}">
                    <a16:creationId xmlns:a16="http://schemas.microsoft.com/office/drawing/2014/main" id="{6C3D49C4-954C-1798-0D7C-ADD22EA038EC}"/>
                  </a:ext>
                </a:extLst>
              </p:cNvPr>
              <p:cNvSpPr/>
              <p:nvPr/>
            </p:nvSpPr>
            <p:spPr>
              <a:xfrm rot="665190">
                <a:off x="6646613" y="1359311"/>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3" name="Google Shape;101;p1">
                <a:extLst>
                  <a:ext uri="{FF2B5EF4-FFF2-40B4-BE49-F238E27FC236}">
                    <a16:creationId xmlns:a16="http://schemas.microsoft.com/office/drawing/2014/main" id="{A0E544D2-3336-ABE6-65CB-93D235D02542}"/>
                  </a:ext>
                </a:extLst>
              </p:cNvPr>
              <p:cNvSpPr/>
              <p:nvPr/>
            </p:nvSpPr>
            <p:spPr>
              <a:xfrm rot="665190">
                <a:off x="6646613" y="1482634"/>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4" name="Google Shape;102;p1">
                <a:extLst>
                  <a:ext uri="{FF2B5EF4-FFF2-40B4-BE49-F238E27FC236}">
                    <a16:creationId xmlns:a16="http://schemas.microsoft.com/office/drawing/2014/main" id="{219FE2E7-0443-92A4-5B2C-F0270B1C6E42}"/>
                  </a:ext>
                </a:extLst>
              </p:cNvPr>
              <p:cNvSpPr/>
              <p:nvPr/>
            </p:nvSpPr>
            <p:spPr>
              <a:xfrm rot="665190">
                <a:off x="6646612" y="1601336"/>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5" name="Google Shape;94;p1">
                <a:extLst>
                  <a:ext uri="{FF2B5EF4-FFF2-40B4-BE49-F238E27FC236}">
                    <a16:creationId xmlns:a16="http://schemas.microsoft.com/office/drawing/2014/main" id="{96596E3A-EE17-0187-4877-73492EEC7377}"/>
                  </a:ext>
                </a:extLst>
              </p:cNvPr>
              <p:cNvSpPr/>
              <p:nvPr/>
            </p:nvSpPr>
            <p:spPr>
              <a:xfrm rot="665190">
                <a:off x="6644260" y="1724658"/>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6" name="Google Shape;103;p1">
                <a:extLst>
                  <a:ext uri="{FF2B5EF4-FFF2-40B4-BE49-F238E27FC236}">
                    <a16:creationId xmlns:a16="http://schemas.microsoft.com/office/drawing/2014/main" id="{EB7A5E2D-5FD1-54C1-3F0E-AAA4EF5B909B}"/>
                  </a:ext>
                </a:extLst>
              </p:cNvPr>
              <p:cNvSpPr/>
              <p:nvPr/>
            </p:nvSpPr>
            <p:spPr>
              <a:xfrm rot="665190">
                <a:off x="6644259" y="1847585"/>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7" name="Google Shape;104;p1">
                <a:extLst>
                  <a:ext uri="{FF2B5EF4-FFF2-40B4-BE49-F238E27FC236}">
                    <a16:creationId xmlns:a16="http://schemas.microsoft.com/office/drawing/2014/main" id="{E5A2685E-3F70-6769-3E74-C06AE7A352BF}"/>
                  </a:ext>
                </a:extLst>
              </p:cNvPr>
              <p:cNvSpPr/>
              <p:nvPr/>
            </p:nvSpPr>
            <p:spPr>
              <a:xfrm rot="665190">
                <a:off x="6644259" y="1970908"/>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28" name="Google Shape;105;p1">
                <a:extLst>
                  <a:ext uri="{FF2B5EF4-FFF2-40B4-BE49-F238E27FC236}">
                    <a16:creationId xmlns:a16="http://schemas.microsoft.com/office/drawing/2014/main" id="{E8DA6A36-96DC-88E4-AD43-CDBC1BF0B215}"/>
                  </a:ext>
                </a:extLst>
              </p:cNvPr>
              <p:cNvSpPr/>
              <p:nvPr/>
            </p:nvSpPr>
            <p:spPr>
              <a:xfrm rot="665190">
                <a:off x="6644258" y="2089610"/>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sp>
            <p:nvSpPr>
              <p:cNvPr id="57" name="Google Shape;106;p1">
                <a:extLst>
                  <a:ext uri="{FF2B5EF4-FFF2-40B4-BE49-F238E27FC236}">
                    <a16:creationId xmlns:a16="http://schemas.microsoft.com/office/drawing/2014/main" id="{0F4FDCD8-141F-3582-DF8D-DFE6E359CAF6}"/>
                  </a:ext>
                </a:extLst>
              </p:cNvPr>
              <p:cNvSpPr/>
              <p:nvPr/>
            </p:nvSpPr>
            <p:spPr>
              <a:xfrm>
                <a:off x="6641906" y="2207943"/>
                <a:ext cx="981075" cy="119666"/>
              </a:xfrm>
              <a:prstGeom prst="rect">
                <a:avLst/>
              </a:prstGeom>
              <a:solidFill>
                <a:srgbClr val="DCEAF7"/>
              </a:solid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Arial"/>
                  <a:ea typeface="Arial"/>
                  <a:cs typeface="Arial"/>
                  <a:sym typeface="Arial"/>
                </a:endParaRPr>
              </a:p>
            </p:txBody>
          </p:sp>
        </p:grpSp>
        <p:sp>
          <p:nvSpPr>
            <p:cNvPr id="11" name="Google Shape;107;p1">
              <a:extLst>
                <a:ext uri="{FF2B5EF4-FFF2-40B4-BE49-F238E27FC236}">
                  <a16:creationId xmlns:a16="http://schemas.microsoft.com/office/drawing/2014/main" id="{05272158-6541-0D09-9049-9F4F5EE07B04}"/>
                </a:ext>
              </a:extLst>
            </p:cNvPr>
            <p:cNvSpPr txBox="1"/>
            <p:nvPr/>
          </p:nvSpPr>
          <p:spPr>
            <a:xfrm rot="16200000">
              <a:off x="312672" y="992921"/>
              <a:ext cx="714316" cy="27845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 b="0" i="0" u="none" strike="noStrike" cap="none">
                  <a:solidFill>
                    <a:schemeClr val="dk1"/>
                  </a:solidFill>
                  <a:latin typeface="Arial"/>
                  <a:ea typeface="Arial"/>
                  <a:cs typeface="Arial"/>
                  <a:sym typeface="Arial"/>
                </a:rPr>
                <a:t>Plenum</a:t>
              </a:r>
              <a:endParaRPr sz="600"/>
            </a:p>
          </p:txBody>
        </p:sp>
        <p:cxnSp>
          <p:nvCxnSpPr>
            <p:cNvPr id="12" name="Google Shape;108;p1">
              <a:extLst>
                <a:ext uri="{FF2B5EF4-FFF2-40B4-BE49-F238E27FC236}">
                  <a16:creationId xmlns:a16="http://schemas.microsoft.com/office/drawing/2014/main" id="{49DEA1DD-2953-164C-D021-53FC01712A0D}"/>
                </a:ext>
              </a:extLst>
            </p:cNvPr>
            <p:cNvCxnSpPr>
              <a:stCxn id="16" idx="1"/>
            </p:cNvCxnSpPr>
            <p:nvPr/>
          </p:nvCxnSpPr>
          <p:spPr>
            <a:xfrm flipH="1">
              <a:off x="1698546" y="3182031"/>
              <a:ext cx="915300" cy="105900"/>
            </a:xfrm>
            <a:prstGeom prst="straightConnector1">
              <a:avLst/>
            </a:prstGeom>
            <a:noFill/>
            <a:ln w="12700" cap="flat" cmpd="sng">
              <a:solidFill>
                <a:srgbClr val="262626"/>
              </a:solidFill>
              <a:prstDash val="solid"/>
              <a:miter lim="800000"/>
              <a:headEnd type="none" w="sm" len="sm"/>
              <a:tailEnd type="none" w="sm" len="sm"/>
            </a:ln>
          </p:spPr>
        </p:cxnSp>
        <p:cxnSp>
          <p:nvCxnSpPr>
            <p:cNvPr id="13" name="Google Shape;110;p1">
              <a:extLst>
                <a:ext uri="{FF2B5EF4-FFF2-40B4-BE49-F238E27FC236}">
                  <a16:creationId xmlns:a16="http://schemas.microsoft.com/office/drawing/2014/main" id="{72422B66-E5B7-6899-A621-78714056D2A0}"/>
                </a:ext>
              </a:extLst>
            </p:cNvPr>
            <p:cNvCxnSpPr>
              <a:stCxn id="15" idx="1"/>
            </p:cNvCxnSpPr>
            <p:nvPr/>
          </p:nvCxnSpPr>
          <p:spPr>
            <a:xfrm flipH="1">
              <a:off x="2052665" y="1889459"/>
              <a:ext cx="664500" cy="134700"/>
            </a:xfrm>
            <a:prstGeom prst="straightConnector1">
              <a:avLst/>
            </a:prstGeom>
            <a:noFill/>
            <a:ln w="12700" cap="flat" cmpd="sng">
              <a:solidFill>
                <a:srgbClr val="262626"/>
              </a:solidFill>
              <a:prstDash val="solid"/>
              <a:miter lim="800000"/>
              <a:headEnd type="none" w="sm" len="sm"/>
              <a:tailEnd type="none" w="sm" len="sm"/>
            </a:ln>
          </p:spPr>
        </p:cxnSp>
        <p:cxnSp>
          <p:nvCxnSpPr>
            <p:cNvPr id="14" name="Google Shape;112;p1">
              <a:extLst>
                <a:ext uri="{FF2B5EF4-FFF2-40B4-BE49-F238E27FC236}">
                  <a16:creationId xmlns:a16="http://schemas.microsoft.com/office/drawing/2014/main" id="{3BA35004-F667-91E3-5465-20B545658245}"/>
                </a:ext>
              </a:extLst>
            </p:cNvPr>
            <p:cNvCxnSpPr>
              <a:stCxn id="18" idx="1"/>
            </p:cNvCxnSpPr>
            <p:nvPr/>
          </p:nvCxnSpPr>
          <p:spPr>
            <a:xfrm rot="10800000">
              <a:off x="2002028" y="3653641"/>
              <a:ext cx="739200" cy="209400"/>
            </a:xfrm>
            <a:prstGeom prst="straightConnector1">
              <a:avLst/>
            </a:prstGeom>
            <a:noFill/>
            <a:ln w="12700" cap="flat" cmpd="sng">
              <a:solidFill>
                <a:srgbClr val="262626"/>
              </a:solidFill>
              <a:prstDash val="solid"/>
              <a:miter lim="800000"/>
              <a:headEnd type="none" w="sm" len="sm"/>
              <a:tailEnd type="none" w="sm" len="sm"/>
            </a:ln>
          </p:spPr>
        </p:cxnSp>
        <p:sp>
          <p:nvSpPr>
            <p:cNvPr id="15" name="Google Shape;111;p1">
              <a:extLst>
                <a:ext uri="{FF2B5EF4-FFF2-40B4-BE49-F238E27FC236}">
                  <a16:creationId xmlns:a16="http://schemas.microsoft.com/office/drawing/2014/main" id="{74B2FB83-C669-CFD0-AB13-BACE5B8C2A4E}"/>
                </a:ext>
              </a:extLst>
            </p:cNvPr>
            <p:cNvSpPr/>
            <p:nvPr/>
          </p:nvSpPr>
          <p:spPr>
            <a:xfrm>
              <a:off x="2717165" y="1745443"/>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Arial"/>
                  <a:ea typeface="Arial"/>
                  <a:cs typeface="Arial"/>
                  <a:sym typeface="Arial"/>
                </a:rPr>
                <a:t>Cladding</a:t>
              </a:r>
              <a:endParaRPr sz="600"/>
            </a:p>
          </p:txBody>
        </p:sp>
        <p:sp>
          <p:nvSpPr>
            <p:cNvPr id="16" name="Google Shape;109;p1">
              <a:extLst>
                <a:ext uri="{FF2B5EF4-FFF2-40B4-BE49-F238E27FC236}">
                  <a16:creationId xmlns:a16="http://schemas.microsoft.com/office/drawing/2014/main" id="{319A36B6-6633-356F-97E5-4495610A4ACD}"/>
                </a:ext>
              </a:extLst>
            </p:cNvPr>
            <p:cNvSpPr/>
            <p:nvPr/>
          </p:nvSpPr>
          <p:spPr>
            <a:xfrm>
              <a:off x="2613846" y="303801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Arial"/>
                  <a:ea typeface="Arial"/>
                  <a:cs typeface="Arial"/>
                  <a:sym typeface="Arial"/>
                </a:rPr>
                <a:t>Fuel</a:t>
              </a:r>
              <a:endParaRPr sz="600"/>
            </a:p>
          </p:txBody>
        </p:sp>
        <p:sp>
          <p:nvSpPr>
            <p:cNvPr id="17" name="Google Shape;114;p1">
              <a:extLst>
                <a:ext uri="{FF2B5EF4-FFF2-40B4-BE49-F238E27FC236}">
                  <a16:creationId xmlns:a16="http://schemas.microsoft.com/office/drawing/2014/main" id="{3BB12C39-347E-C1FB-383E-D55A6F40FDC5}"/>
                </a:ext>
              </a:extLst>
            </p:cNvPr>
            <p:cNvSpPr/>
            <p:nvPr/>
          </p:nvSpPr>
          <p:spPr>
            <a:xfrm>
              <a:off x="1171039" y="5356899"/>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Arial"/>
                  <a:ea typeface="Arial"/>
                  <a:cs typeface="Arial"/>
                  <a:sym typeface="Arial"/>
                </a:rPr>
                <a:t>Helium</a:t>
              </a:r>
              <a:endParaRPr sz="600"/>
            </a:p>
          </p:txBody>
        </p:sp>
        <p:sp>
          <p:nvSpPr>
            <p:cNvPr id="18" name="Google Shape;113;p1">
              <a:extLst>
                <a:ext uri="{FF2B5EF4-FFF2-40B4-BE49-F238E27FC236}">
                  <a16:creationId xmlns:a16="http://schemas.microsoft.com/office/drawing/2014/main" id="{BBC4DB04-6F55-93AD-53A6-18F6C8F9B663}"/>
                </a:ext>
              </a:extLst>
            </p:cNvPr>
            <p:cNvSpPr/>
            <p:nvPr/>
          </p:nvSpPr>
          <p:spPr>
            <a:xfrm>
              <a:off x="2741228" y="371902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Gap</a:t>
              </a:r>
              <a:endParaRPr sz="600"/>
            </a:p>
          </p:txBody>
        </p:sp>
        <p:sp>
          <p:nvSpPr>
            <p:cNvPr id="19" name="Google Shape;93;p1">
              <a:extLst>
                <a:ext uri="{FF2B5EF4-FFF2-40B4-BE49-F238E27FC236}">
                  <a16:creationId xmlns:a16="http://schemas.microsoft.com/office/drawing/2014/main" id="{DFD399FD-7C38-5FFB-6A41-FAEAF65011A6}"/>
                </a:ext>
              </a:extLst>
            </p:cNvPr>
            <p:cNvSpPr/>
            <p:nvPr/>
          </p:nvSpPr>
          <p:spPr>
            <a:xfrm>
              <a:off x="2363601" y="80845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Arial"/>
                  <a:ea typeface="Arial"/>
                  <a:cs typeface="Arial"/>
                  <a:sym typeface="Arial"/>
                </a:rPr>
                <a:t>Spring</a:t>
              </a:r>
              <a:endParaRPr sz="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1">
                                            <p:txEl>
                                              <p:pRg st="0" end="0"/>
                                            </p:txEl>
                                          </p:spTgt>
                                        </p:tgtEl>
                                        <p:attrNameLst>
                                          <p:attrName>style.visibility</p:attrName>
                                        </p:attrNameLst>
                                      </p:cBhvr>
                                      <p:to>
                                        <p:strVal val="visible"/>
                                      </p:to>
                                    </p:set>
                                    <p:animEffect transition="in" filter="fade">
                                      <p:cBhvr>
                                        <p:cTn id="7" dur="500"/>
                                        <p:tgtEl>
                                          <p:spTgt spid="24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1">
                                            <p:txEl>
                                              <p:pRg st="2" end="2"/>
                                            </p:txEl>
                                          </p:spTgt>
                                        </p:tgtEl>
                                        <p:attrNameLst>
                                          <p:attrName>style.visibility</p:attrName>
                                        </p:attrNameLst>
                                      </p:cBhvr>
                                      <p:to>
                                        <p:strVal val="visible"/>
                                      </p:to>
                                    </p:set>
                                    <p:animEffect transition="in" filter="fade">
                                      <p:cBhvr>
                                        <p:cTn id="10" dur="500"/>
                                        <p:tgtEl>
                                          <p:spTgt spid="241">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1">
                                            <p:txEl>
                                              <p:pRg st="4" end="4"/>
                                            </p:txEl>
                                          </p:spTgt>
                                        </p:tgtEl>
                                        <p:attrNameLst>
                                          <p:attrName>style.visibility</p:attrName>
                                        </p:attrNameLst>
                                      </p:cBhvr>
                                      <p:to>
                                        <p:strVal val="visible"/>
                                      </p:to>
                                    </p:set>
                                    <p:animEffect transition="in" filter="fade">
                                      <p:cBhvr>
                                        <p:cTn id="13" dur="500"/>
                                        <p:tgtEl>
                                          <p:spTgt spid="241">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41">
                                            <p:txEl>
                                              <p:pRg st="6" end="6"/>
                                            </p:txEl>
                                          </p:spTgt>
                                        </p:tgtEl>
                                        <p:attrNameLst>
                                          <p:attrName>style.visibility</p:attrName>
                                        </p:attrNameLst>
                                      </p:cBhvr>
                                      <p:to>
                                        <p:strVal val="visible"/>
                                      </p:to>
                                    </p:set>
                                    <p:animEffect transition="in" filter="fade">
                                      <p:cBhvr>
                                        <p:cTn id="16" dur="500"/>
                                        <p:tgtEl>
                                          <p:spTgt spid="24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
          <p:cNvSpPr txBox="1">
            <a:spLocks noGrp="1"/>
          </p:cNvSpPr>
          <p:nvPr>
            <p:ph type="title" idx="4294967295"/>
          </p:nvPr>
        </p:nvSpPr>
        <p:spPr>
          <a:xfrm>
            <a:off x="3727269" y="178944"/>
            <a:ext cx="5220171"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Nuclear fuel rod behaviour</a:t>
            </a:r>
            <a:endParaRPr sz="2400" b="0" i="0" u="none" strike="noStrike" cap="none">
              <a:solidFill>
                <a:srgbClr val="0157A3"/>
              </a:solidFill>
              <a:latin typeface="Arial"/>
              <a:ea typeface="Arial"/>
              <a:cs typeface="Arial"/>
              <a:sym typeface="Arial"/>
            </a:endParaRPr>
          </a:p>
        </p:txBody>
      </p:sp>
      <p:sp>
        <p:nvSpPr>
          <p:cNvPr id="249" name="Google Shape;249;p4"/>
          <p:cNvSpPr txBox="1"/>
          <p:nvPr/>
        </p:nvSpPr>
        <p:spPr>
          <a:xfrm>
            <a:off x="5990826" y="1205075"/>
            <a:ext cx="3047400" cy="230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i="0" u="none" strike="noStrike" cap="none">
                <a:solidFill>
                  <a:schemeClr val="dk1"/>
                </a:solidFill>
                <a:latin typeface="Arial"/>
                <a:ea typeface="Arial"/>
                <a:cs typeface="Arial"/>
                <a:sym typeface="Arial"/>
              </a:rPr>
              <a:t>Modelling and simulation of many interrelated phenomena</a:t>
            </a:r>
            <a:r>
              <a:rPr lang="en-GB" sz="1800" b="0" i="0" u="none" strike="noStrike" cap="none">
                <a:solidFill>
                  <a:schemeClr val="dk1"/>
                </a:solidFill>
                <a:latin typeface="Arial"/>
                <a:ea typeface="Arial"/>
                <a:cs typeface="Arial"/>
                <a:sym typeface="Arial"/>
              </a:rPr>
              <a:t>:</a:t>
            </a:r>
            <a:endParaRPr/>
          </a:p>
          <a:p>
            <a:pPr marL="285750" marR="0" lvl="0" indent="-285750" algn="l" rtl="0">
              <a:spcBef>
                <a:spcPts val="0"/>
              </a:spcBef>
              <a:spcAft>
                <a:spcPts val="0"/>
              </a:spcAft>
              <a:buClr>
                <a:srgbClr val="E09DDD"/>
              </a:buClr>
              <a:buSzPts val="1800"/>
              <a:buFont typeface="Arial"/>
              <a:buChar char="•"/>
            </a:pPr>
            <a:r>
              <a:rPr lang="en-GB" sz="1800">
                <a:solidFill>
                  <a:srgbClr val="E09DDD"/>
                </a:solidFill>
                <a:latin typeface="Arial"/>
                <a:ea typeface="Arial"/>
                <a:cs typeface="Arial"/>
                <a:sym typeface="Arial"/>
              </a:rPr>
              <a:t>Thermo-mechanical</a:t>
            </a:r>
            <a:endParaRPr sz="1800">
              <a:solidFill>
                <a:srgbClr val="E09DDD"/>
              </a:solidFill>
            </a:endParaRPr>
          </a:p>
          <a:p>
            <a:pPr marL="285750" marR="0" lvl="0" indent="-285750" algn="l" rtl="0">
              <a:spcBef>
                <a:spcPts val="0"/>
              </a:spcBef>
              <a:spcAft>
                <a:spcPts val="0"/>
              </a:spcAft>
              <a:buClr>
                <a:srgbClr val="ECA87F"/>
              </a:buClr>
              <a:buSzPts val="1800"/>
              <a:buFont typeface="Arial"/>
              <a:buChar char="•"/>
            </a:pPr>
            <a:r>
              <a:rPr lang="en-GB" sz="1800">
                <a:solidFill>
                  <a:srgbClr val="ECA87F"/>
                </a:solidFill>
                <a:latin typeface="Arial"/>
                <a:ea typeface="Arial"/>
                <a:cs typeface="Arial"/>
                <a:sym typeface="Arial"/>
              </a:rPr>
              <a:t>Thermo-chemical</a:t>
            </a:r>
            <a:endParaRPr>
              <a:solidFill>
                <a:srgbClr val="ECA87F"/>
              </a:solidFill>
            </a:endParaRPr>
          </a:p>
          <a:p>
            <a:pPr marL="285750" marR="0" lvl="0" indent="-285750" algn="l" rtl="0">
              <a:spcBef>
                <a:spcPts val="0"/>
              </a:spcBef>
              <a:spcAft>
                <a:spcPts val="0"/>
              </a:spcAft>
              <a:buClr>
                <a:srgbClr val="F89898"/>
              </a:buClr>
              <a:buSzPts val="1800"/>
              <a:buFont typeface="Arial"/>
              <a:buChar char="•"/>
            </a:pPr>
            <a:r>
              <a:rPr lang="en-GB" sz="1800">
                <a:solidFill>
                  <a:srgbClr val="F89898"/>
                </a:solidFill>
                <a:latin typeface="Arial"/>
                <a:ea typeface="Arial"/>
                <a:cs typeface="Arial"/>
                <a:sym typeface="Arial"/>
              </a:rPr>
              <a:t>Micro-structural evolution</a:t>
            </a:r>
            <a:endParaRPr>
              <a:solidFill>
                <a:srgbClr val="F89898"/>
              </a:solidFill>
            </a:endParaRPr>
          </a:p>
          <a:p>
            <a:pPr marL="285750" marR="0" lvl="0" indent="-285750" algn="l" rtl="0">
              <a:spcBef>
                <a:spcPts val="0"/>
              </a:spcBef>
              <a:spcAft>
                <a:spcPts val="0"/>
              </a:spcAft>
              <a:buClr>
                <a:srgbClr val="94D86D"/>
              </a:buClr>
              <a:buSzPts val="1800"/>
              <a:buFont typeface="Arial"/>
              <a:buChar char="•"/>
            </a:pPr>
            <a:r>
              <a:rPr lang="en-GB" sz="1800">
                <a:solidFill>
                  <a:srgbClr val="94D86D"/>
                </a:solidFill>
                <a:latin typeface="Arial"/>
                <a:ea typeface="Arial"/>
                <a:cs typeface="Arial"/>
                <a:sym typeface="Arial"/>
              </a:rPr>
              <a:t>Irradiation effects on materials</a:t>
            </a:r>
            <a:endParaRPr>
              <a:solidFill>
                <a:srgbClr val="94D86D"/>
              </a:solidFill>
            </a:endParaRPr>
          </a:p>
        </p:txBody>
      </p:sp>
      <p:sp>
        <p:nvSpPr>
          <p:cNvPr id="250" name="Google Shape;250;p4"/>
          <p:cNvSpPr/>
          <p:nvPr/>
        </p:nvSpPr>
        <p:spPr>
          <a:xfrm>
            <a:off x="436083" y="1701450"/>
            <a:ext cx="970500" cy="402600"/>
          </a:xfrm>
          <a:prstGeom prst="rect">
            <a:avLst/>
          </a:prstGeom>
          <a:solidFill>
            <a:srgbClr val="FF9999"/>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Coolant temperature</a:t>
            </a:r>
            <a:endParaRPr sz="724"/>
          </a:p>
        </p:txBody>
      </p:sp>
      <p:sp>
        <p:nvSpPr>
          <p:cNvPr id="251" name="Google Shape;251;p4"/>
          <p:cNvSpPr/>
          <p:nvPr/>
        </p:nvSpPr>
        <p:spPr>
          <a:xfrm>
            <a:off x="436083" y="2381526"/>
            <a:ext cx="970500" cy="402600"/>
          </a:xfrm>
          <a:prstGeom prst="rect">
            <a:avLst/>
          </a:prstGeom>
          <a:solidFill>
            <a:srgbClr val="FF9999"/>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Cladding temperature</a:t>
            </a:r>
            <a:endParaRPr sz="724"/>
          </a:p>
        </p:txBody>
      </p:sp>
      <p:sp>
        <p:nvSpPr>
          <p:cNvPr id="252" name="Google Shape;252;p4"/>
          <p:cNvSpPr/>
          <p:nvPr/>
        </p:nvSpPr>
        <p:spPr>
          <a:xfrm>
            <a:off x="620696" y="3273040"/>
            <a:ext cx="970500" cy="402600"/>
          </a:xfrm>
          <a:prstGeom prst="rect">
            <a:avLst/>
          </a:prstGeom>
          <a:solidFill>
            <a:srgbClr val="FF9999"/>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Fuel temperature</a:t>
            </a:r>
            <a:endParaRPr sz="724"/>
          </a:p>
        </p:txBody>
      </p:sp>
      <p:cxnSp>
        <p:nvCxnSpPr>
          <p:cNvPr id="253" name="Google Shape;253;p4"/>
          <p:cNvCxnSpPr>
            <a:stCxn id="250" idx="3"/>
            <a:endCxn id="251" idx="0"/>
          </p:cNvCxnSpPr>
          <p:nvPr/>
        </p:nvCxnSpPr>
        <p:spPr>
          <a:xfrm flipH="1">
            <a:off x="921483" y="1902750"/>
            <a:ext cx="485100" cy="478800"/>
          </a:xfrm>
          <a:prstGeom prst="curvedConnector4">
            <a:avLst>
              <a:gd name="adj1" fmla="val -25408"/>
              <a:gd name="adj2" fmla="val 71018"/>
            </a:avLst>
          </a:prstGeom>
          <a:noFill/>
          <a:ln w="9850" cap="flat" cmpd="sng">
            <a:solidFill>
              <a:srgbClr val="3A3A3A"/>
            </a:solidFill>
            <a:prstDash val="solid"/>
            <a:miter lim="800000"/>
            <a:headEnd type="none" w="sm" len="sm"/>
            <a:tailEnd type="none" w="sm" len="sm"/>
          </a:ln>
        </p:spPr>
      </p:cxnSp>
      <p:cxnSp>
        <p:nvCxnSpPr>
          <p:cNvPr id="254" name="Google Shape;254;p4"/>
          <p:cNvCxnSpPr>
            <a:stCxn id="252" idx="0"/>
            <a:endCxn id="251" idx="1"/>
          </p:cNvCxnSpPr>
          <p:nvPr/>
        </p:nvCxnSpPr>
        <p:spPr>
          <a:xfrm rot="5400000" flipH="1">
            <a:off x="425846" y="2592940"/>
            <a:ext cx="690300" cy="669900"/>
          </a:xfrm>
          <a:prstGeom prst="curvedConnector4">
            <a:avLst>
              <a:gd name="adj1" fmla="val 35426"/>
              <a:gd name="adj2" fmla="val 118397"/>
            </a:avLst>
          </a:prstGeom>
          <a:noFill/>
          <a:ln w="9850" cap="flat" cmpd="sng">
            <a:solidFill>
              <a:srgbClr val="3A3A3A"/>
            </a:solidFill>
            <a:prstDash val="solid"/>
            <a:miter lim="800000"/>
            <a:headEnd type="none" w="sm" len="sm"/>
            <a:tailEnd type="none" w="sm" len="sm"/>
          </a:ln>
        </p:spPr>
      </p:cxnSp>
      <p:sp>
        <p:nvSpPr>
          <p:cNvPr id="255" name="Google Shape;255;p4"/>
          <p:cNvSpPr/>
          <p:nvPr/>
        </p:nvSpPr>
        <p:spPr>
          <a:xfrm>
            <a:off x="2190309" y="2026104"/>
            <a:ext cx="1047600" cy="402600"/>
          </a:xfrm>
          <a:prstGeom prst="rect">
            <a:avLst/>
          </a:prstGeom>
          <a:solidFill>
            <a:srgbClr val="4892DC"/>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Power</a:t>
            </a:r>
            <a:endParaRPr sz="724"/>
          </a:p>
        </p:txBody>
      </p:sp>
      <p:cxnSp>
        <p:nvCxnSpPr>
          <p:cNvPr id="256" name="Google Shape;256;p4"/>
          <p:cNvCxnSpPr>
            <a:stCxn id="250" idx="0"/>
            <a:endCxn id="257" idx="1"/>
          </p:cNvCxnSpPr>
          <p:nvPr/>
        </p:nvCxnSpPr>
        <p:spPr>
          <a:xfrm rot="-5400000">
            <a:off x="1232883" y="1003500"/>
            <a:ext cx="386400" cy="1009500"/>
          </a:xfrm>
          <a:prstGeom prst="curvedConnector2">
            <a:avLst/>
          </a:prstGeom>
          <a:noFill/>
          <a:ln w="9850" cap="flat" cmpd="sng">
            <a:solidFill>
              <a:srgbClr val="3A3A3A"/>
            </a:solidFill>
            <a:prstDash val="solid"/>
            <a:miter lim="800000"/>
            <a:headEnd type="none" w="sm" len="sm"/>
            <a:tailEnd type="none" w="sm" len="sm"/>
          </a:ln>
        </p:spPr>
      </p:cxnSp>
      <p:sp>
        <p:nvSpPr>
          <p:cNvPr id="258" name="Google Shape;258;p4"/>
          <p:cNvSpPr/>
          <p:nvPr/>
        </p:nvSpPr>
        <p:spPr>
          <a:xfrm>
            <a:off x="2554014" y="2659236"/>
            <a:ext cx="970500" cy="402600"/>
          </a:xfrm>
          <a:prstGeom prst="rect">
            <a:avLst/>
          </a:prstGeom>
          <a:solidFill>
            <a:srgbClr val="8CD872"/>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Neutronics</a:t>
            </a:r>
            <a:endParaRPr sz="724"/>
          </a:p>
        </p:txBody>
      </p:sp>
      <p:cxnSp>
        <p:nvCxnSpPr>
          <p:cNvPr id="259" name="Google Shape;259;p4"/>
          <p:cNvCxnSpPr>
            <a:stCxn id="258" idx="0"/>
            <a:endCxn id="255" idx="2"/>
          </p:cNvCxnSpPr>
          <p:nvPr/>
        </p:nvCxnSpPr>
        <p:spPr>
          <a:xfrm rot="5400000" flipH="1">
            <a:off x="2761464" y="2381436"/>
            <a:ext cx="230400" cy="325200"/>
          </a:xfrm>
          <a:prstGeom prst="curvedConnector3">
            <a:avLst>
              <a:gd name="adj1" fmla="val 49990"/>
            </a:avLst>
          </a:prstGeom>
          <a:noFill/>
          <a:ln w="9850" cap="flat" cmpd="sng">
            <a:solidFill>
              <a:srgbClr val="3A3A3A"/>
            </a:solidFill>
            <a:prstDash val="solid"/>
            <a:miter lim="800000"/>
            <a:headEnd type="none" w="sm" len="sm"/>
            <a:tailEnd type="none" w="sm" len="sm"/>
          </a:ln>
        </p:spPr>
      </p:cxnSp>
      <p:sp>
        <p:nvSpPr>
          <p:cNvPr id="260" name="Google Shape;260;p4"/>
          <p:cNvSpPr/>
          <p:nvPr/>
        </p:nvSpPr>
        <p:spPr>
          <a:xfrm>
            <a:off x="4124204" y="2553118"/>
            <a:ext cx="1246200" cy="587400"/>
          </a:xfrm>
          <a:prstGeom prst="rect">
            <a:avLst/>
          </a:prstGeom>
          <a:solidFill>
            <a:srgbClr val="8CD872"/>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b="1">
                <a:solidFill>
                  <a:srgbClr val="000000"/>
                </a:solidFill>
              </a:rPr>
              <a:t>Irradiation effects on material</a:t>
            </a:r>
            <a:endParaRPr sz="724" b="1"/>
          </a:p>
        </p:txBody>
      </p:sp>
      <p:cxnSp>
        <p:nvCxnSpPr>
          <p:cNvPr id="261" name="Google Shape;261;p4"/>
          <p:cNvCxnSpPr>
            <a:stCxn id="258" idx="3"/>
            <a:endCxn id="260" idx="2"/>
          </p:cNvCxnSpPr>
          <p:nvPr/>
        </p:nvCxnSpPr>
        <p:spPr>
          <a:xfrm>
            <a:off x="3524514" y="2860536"/>
            <a:ext cx="1222800" cy="279900"/>
          </a:xfrm>
          <a:prstGeom prst="curvedConnector4">
            <a:avLst>
              <a:gd name="adj1" fmla="val 24523"/>
              <a:gd name="adj2" fmla="val 180241"/>
            </a:avLst>
          </a:prstGeom>
          <a:noFill/>
          <a:ln w="9850" cap="flat" cmpd="sng">
            <a:solidFill>
              <a:srgbClr val="3A3A3A"/>
            </a:solidFill>
            <a:prstDash val="solid"/>
            <a:miter lim="800000"/>
            <a:headEnd type="none" w="sm" len="sm"/>
            <a:tailEnd type="none" w="sm" len="sm"/>
          </a:ln>
        </p:spPr>
      </p:cxnSp>
      <p:cxnSp>
        <p:nvCxnSpPr>
          <p:cNvPr id="262" name="Google Shape;262;p4"/>
          <p:cNvCxnSpPr>
            <a:stCxn id="257" idx="2"/>
            <a:endCxn id="255" idx="0"/>
          </p:cNvCxnSpPr>
          <p:nvPr/>
        </p:nvCxnSpPr>
        <p:spPr>
          <a:xfrm rot="-5400000" flipH="1">
            <a:off x="2410145" y="1722250"/>
            <a:ext cx="447600" cy="160200"/>
          </a:xfrm>
          <a:prstGeom prst="curvedConnector3">
            <a:avLst>
              <a:gd name="adj1" fmla="val 49997"/>
            </a:avLst>
          </a:prstGeom>
          <a:noFill/>
          <a:ln w="9850" cap="flat" cmpd="sng">
            <a:solidFill>
              <a:srgbClr val="3A3A3A"/>
            </a:solidFill>
            <a:prstDash val="solid"/>
            <a:miter lim="800000"/>
            <a:headEnd type="none" w="sm" len="sm"/>
            <a:tailEnd type="none" w="sm" len="sm"/>
          </a:ln>
        </p:spPr>
      </p:cxnSp>
      <p:sp>
        <p:nvSpPr>
          <p:cNvPr id="257" name="Google Shape;257;p4"/>
          <p:cNvSpPr/>
          <p:nvPr/>
        </p:nvSpPr>
        <p:spPr>
          <a:xfrm>
            <a:off x="1930745" y="1051750"/>
            <a:ext cx="1246200" cy="526800"/>
          </a:xfrm>
          <a:prstGeom prst="rect">
            <a:avLst/>
          </a:prstGeom>
          <a:solidFill>
            <a:srgbClr val="E59DDC"/>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b="1">
                <a:solidFill>
                  <a:srgbClr val="000000"/>
                </a:solidFill>
              </a:rPr>
              <a:t>Thermo-mechanics</a:t>
            </a:r>
            <a:endParaRPr sz="724" b="1"/>
          </a:p>
        </p:txBody>
      </p:sp>
      <p:sp>
        <p:nvSpPr>
          <p:cNvPr id="263" name="Google Shape;263;p4"/>
          <p:cNvSpPr/>
          <p:nvPr/>
        </p:nvSpPr>
        <p:spPr>
          <a:xfrm>
            <a:off x="4346895" y="1639121"/>
            <a:ext cx="1169400" cy="526800"/>
          </a:xfrm>
          <a:prstGeom prst="rect">
            <a:avLst/>
          </a:prstGeom>
          <a:solidFill>
            <a:srgbClr val="F2A982"/>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b="1">
                <a:solidFill>
                  <a:srgbClr val="000000"/>
                </a:solidFill>
              </a:rPr>
              <a:t>Thermo-chemistry</a:t>
            </a:r>
            <a:endParaRPr sz="724" b="1"/>
          </a:p>
        </p:txBody>
      </p:sp>
      <p:cxnSp>
        <p:nvCxnSpPr>
          <p:cNvPr id="264" name="Google Shape;264;p4"/>
          <p:cNvCxnSpPr>
            <a:stCxn id="257" idx="3"/>
            <a:endCxn id="263" idx="1"/>
          </p:cNvCxnSpPr>
          <p:nvPr/>
        </p:nvCxnSpPr>
        <p:spPr>
          <a:xfrm>
            <a:off x="3176945" y="1315150"/>
            <a:ext cx="1170000" cy="587400"/>
          </a:xfrm>
          <a:prstGeom prst="curvedConnector3">
            <a:avLst>
              <a:gd name="adj1" fmla="val 50003"/>
            </a:avLst>
          </a:prstGeom>
          <a:noFill/>
          <a:ln w="9850" cap="flat" cmpd="sng">
            <a:solidFill>
              <a:srgbClr val="3A3A3A"/>
            </a:solidFill>
            <a:prstDash val="solid"/>
            <a:miter lim="800000"/>
            <a:headEnd type="none" w="sm" len="sm"/>
            <a:tailEnd type="none" w="sm" len="sm"/>
          </a:ln>
        </p:spPr>
      </p:cxnSp>
      <p:cxnSp>
        <p:nvCxnSpPr>
          <p:cNvPr id="265" name="Google Shape;265;p4"/>
          <p:cNvCxnSpPr>
            <a:stCxn id="260" idx="0"/>
            <a:endCxn id="263" idx="2"/>
          </p:cNvCxnSpPr>
          <p:nvPr/>
        </p:nvCxnSpPr>
        <p:spPr>
          <a:xfrm rot="-5400000">
            <a:off x="4645754" y="2267368"/>
            <a:ext cx="387300" cy="184200"/>
          </a:xfrm>
          <a:prstGeom prst="curvedConnector3">
            <a:avLst>
              <a:gd name="adj1" fmla="val 50001"/>
            </a:avLst>
          </a:prstGeom>
          <a:noFill/>
          <a:ln w="9850" cap="flat" cmpd="sng">
            <a:solidFill>
              <a:srgbClr val="3A3A3A"/>
            </a:solidFill>
            <a:prstDash val="solid"/>
            <a:miter lim="800000"/>
            <a:headEnd type="none" w="sm" len="sm"/>
            <a:tailEnd type="none" w="sm" len="sm"/>
          </a:ln>
        </p:spPr>
      </p:cxnSp>
      <p:cxnSp>
        <p:nvCxnSpPr>
          <p:cNvPr id="266" name="Google Shape;266;p4"/>
          <p:cNvCxnSpPr>
            <a:stCxn id="267" idx="1"/>
            <a:endCxn id="252" idx="2"/>
          </p:cNvCxnSpPr>
          <p:nvPr/>
        </p:nvCxnSpPr>
        <p:spPr>
          <a:xfrm rot="10800000">
            <a:off x="1105890" y="3675575"/>
            <a:ext cx="885600" cy="251700"/>
          </a:xfrm>
          <a:prstGeom prst="curvedConnector2">
            <a:avLst/>
          </a:prstGeom>
          <a:noFill/>
          <a:ln w="9850" cap="flat" cmpd="sng">
            <a:solidFill>
              <a:srgbClr val="3A3A3A"/>
            </a:solidFill>
            <a:prstDash val="solid"/>
            <a:miter lim="800000"/>
            <a:headEnd type="none" w="sm" len="sm"/>
            <a:tailEnd type="none" w="sm" len="sm"/>
          </a:ln>
        </p:spPr>
      </p:cxnSp>
      <p:sp>
        <p:nvSpPr>
          <p:cNvPr id="267" name="Google Shape;267;p4"/>
          <p:cNvSpPr/>
          <p:nvPr/>
        </p:nvSpPr>
        <p:spPr>
          <a:xfrm>
            <a:off x="1991490" y="3633575"/>
            <a:ext cx="1170000" cy="587400"/>
          </a:xfrm>
          <a:prstGeom prst="rect">
            <a:avLst/>
          </a:prstGeom>
          <a:solidFill>
            <a:srgbClr val="FF9999"/>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b="1"/>
              <a:t>Micro-structural evolution</a:t>
            </a:r>
            <a:endParaRPr sz="724" b="1"/>
          </a:p>
        </p:txBody>
      </p:sp>
      <p:cxnSp>
        <p:nvCxnSpPr>
          <p:cNvPr id="268" name="Google Shape;268;p4"/>
          <p:cNvCxnSpPr>
            <a:stCxn id="269" idx="1"/>
            <a:endCxn id="267" idx="3"/>
          </p:cNvCxnSpPr>
          <p:nvPr/>
        </p:nvCxnSpPr>
        <p:spPr>
          <a:xfrm flipH="1">
            <a:off x="3161457" y="3772563"/>
            <a:ext cx="531600" cy="154800"/>
          </a:xfrm>
          <a:prstGeom prst="curvedConnector3">
            <a:avLst>
              <a:gd name="adj1" fmla="val 49991"/>
            </a:avLst>
          </a:prstGeom>
          <a:noFill/>
          <a:ln w="9850" cap="flat" cmpd="sng">
            <a:solidFill>
              <a:srgbClr val="3A3A3A"/>
            </a:solidFill>
            <a:prstDash val="solid"/>
            <a:miter lim="800000"/>
            <a:headEnd type="none" w="sm" len="sm"/>
            <a:tailEnd type="none" w="sm" len="sm"/>
          </a:ln>
        </p:spPr>
      </p:cxnSp>
      <p:sp>
        <p:nvSpPr>
          <p:cNvPr id="269" name="Google Shape;269;p4"/>
          <p:cNvSpPr/>
          <p:nvPr/>
        </p:nvSpPr>
        <p:spPr>
          <a:xfrm>
            <a:off x="3693057" y="3571263"/>
            <a:ext cx="970500" cy="402600"/>
          </a:xfrm>
          <a:prstGeom prst="rect">
            <a:avLst/>
          </a:prstGeom>
          <a:solidFill>
            <a:srgbClr val="8CD872"/>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Fission products</a:t>
            </a:r>
            <a:endParaRPr sz="724"/>
          </a:p>
        </p:txBody>
      </p:sp>
      <p:cxnSp>
        <p:nvCxnSpPr>
          <p:cNvPr id="270" name="Google Shape;270;p4"/>
          <p:cNvCxnSpPr>
            <a:stCxn id="263" idx="3"/>
            <a:endCxn id="269" idx="3"/>
          </p:cNvCxnSpPr>
          <p:nvPr/>
        </p:nvCxnSpPr>
        <p:spPr>
          <a:xfrm flipH="1">
            <a:off x="4663695" y="1902521"/>
            <a:ext cx="852600" cy="1869900"/>
          </a:xfrm>
          <a:prstGeom prst="curvedConnector3">
            <a:avLst>
              <a:gd name="adj1" fmla="val -14450"/>
            </a:avLst>
          </a:prstGeom>
          <a:noFill/>
          <a:ln w="9850" cap="flat" cmpd="sng">
            <a:solidFill>
              <a:srgbClr val="3A3A3A"/>
            </a:solidFill>
            <a:prstDash val="solid"/>
            <a:miter lim="800000"/>
            <a:headEnd type="none" w="sm" len="sm"/>
            <a:tailEnd type="none" w="sm" len="sm"/>
          </a:ln>
        </p:spPr>
      </p:cxnSp>
      <p:cxnSp>
        <p:nvCxnSpPr>
          <p:cNvPr id="271" name="Google Shape;271;p4"/>
          <p:cNvCxnSpPr>
            <a:stCxn id="258" idx="2"/>
            <a:endCxn id="269" idx="0"/>
          </p:cNvCxnSpPr>
          <p:nvPr/>
        </p:nvCxnSpPr>
        <p:spPr>
          <a:xfrm rot="-5400000" flipH="1">
            <a:off x="3354114" y="2746986"/>
            <a:ext cx="509400" cy="1139100"/>
          </a:xfrm>
          <a:prstGeom prst="curvedConnector3">
            <a:avLst>
              <a:gd name="adj1" fmla="val 50007"/>
            </a:avLst>
          </a:prstGeom>
          <a:noFill/>
          <a:ln w="9850" cap="flat" cmpd="sng">
            <a:solidFill>
              <a:srgbClr val="3A3A3A"/>
            </a:solidFill>
            <a:prstDash val="solid"/>
            <a:miter lim="800000"/>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5"/>
          <p:cNvSpPr txBox="1">
            <a:spLocks noGrp="1"/>
          </p:cNvSpPr>
          <p:nvPr>
            <p:ph type="title" idx="4294967295"/>
          </p:nvPr>
        </p:nvSpPr>
        <p:spPr>
          <a:xfrm>
            <a:off x="3192780" y="178944"/>
            <a:ext cx="575466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Nuclear fuel rod, multi-scale modelling approach</a:t>
            </a:r>
            <a:endParaRPr/>
          </a:p>
        </p:txBody>
      </p:sp>
      <p:sp>
        <p:nvSpPr>
          <p:cNvPr id="278" name="Google Shape;278;p5"/>
          <p:cNvSpPr txBox="1"/>
          <p:nvPr/>
        </p:nvSpPr>
        <p:spPr>
          <a:xfrm>
            <a:off x="780874" y="874167"/>
            <a:ext cx="1493400" cy="584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a:solidFill>
                  <a:schemeClr val="dk1"/>
                </a:solidFill>
                <a:latin typeface="Arial"/>
                <a:ea typeface="Arial"/>
                <a:cs typeface="Arial"/>
                <a:sym typeface="Arial"/>
              </a:rPr>
              <a:t>Engineering scale, fuel rod</a:t>
            </a:r>
            <a:endParaRPr sz="1600">
              <a:solidFill>
                <a:schemeClr val="dk1"/>
              </a:solidFill>
              <a:latin typeface="Arial"/>
              <a:ea typeface="Arial"/>
              <a:cs typeface="Arial"/>
              <a:sym typeface="Arial"/>
            </a:endParaRPr>
          </a:p>
        </p:txBody>
      </p:sp>
      <p:sp>
        <p:nvSpPr>
          <p:cNvPr id="279" name="Google Shape;279;p5"/>
          <p:cNvSpPr txBox="1"/>
          <p:nvPr/>
        </p:nvSpPr>
        <p:spPr>
          <a:xfrm>
            <a:off x="3397887" y="967915"/>
            <a:ext cx="167950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a:solidFill>
                  <a:schemeClr val="dk1"/>
                </a:solidFill>
                <a:latin typeface="Arial"/>
                <a:ea typeface="Arial"/>
                <a:cs typeface="Arial"/>
                <a:sym typeface="Arial"/>
              </a:rPr>
              <a:t>Fuel pellet</a:t>
            </a:r>
            <a:endParaRPr sz="1600">
              <a:solidFill>
                <a:schemeClr val="dk1"/>
              </a:solidFill>
              <a:latin typeface="Arial"/>
              <a:ea typeface="Arial"/>
              <a:cs typeface="Arial"/>
              <a:sym typeface="Arial"/>
            </a:endParaRPr>
          </a:p>
        </p:txBody>
      </p:sp>
      <p:sp>
        <p:nvSpPr>
          <p:cNvPr id="280" name="Google Shape;280;p5"/>
          <p:cNvSpPr txBox="1"/>
          <p:nvPr/>
        </p:nvSpPr>
        <p:spPr>
          <a:xfrm>
            <a:off x="6069849" y="963158"/>
            <a:ext cx="227233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a:solidFill>
                  <a:schemeClr val="dk1"/>
                </a:solidFill>
                <a:latin typeface="Arial"/>
                <a:ea typeface="Arial"/>
                <a:cs typeface="Arial"/>
                <a:sym typeface="Arial"/>
              </a:rPr>
              <a:t>Fuel grain-scale, microstructure</a:t>
            </a:r>
            <a:endParaRPr sz="1600">
              <a:solidFill>
                <a:schemeClr val="dk1"/>
              </a:solidFill>
              <a:latin typeface="Arial"/>
              <a:ea typeface="Arial"/>
              <a:cs typeface="Arial"/>
              <a:sym typeface="Arial"/>
            </a:endParaRPr>
          </a:p>
        </p:txBody>
      </p:sp>
      <p:sp>
        <p:nvSpPr>
          <p:cNvPr id="281" name="Google Shape;281;p5"/>
          <p:cNvSpPr/>
          <p:nvPr/>
        </p:nvSpPr>
        <p:spPr>
          <a:xfrm>
            <a:off x="867952" y="1535099"/>
            <a:ext cx="546600" cy="2924100"/>
          </a:xfrm>
          <a:prstGeom prst="rect">
            <a:avLst/>
          </a:prstGeom>
          <a:solidFill>
            <a:srgbClr val="D9E5F8"/>
          </a:solidFill>
          <a:ln w="31850" cap="flat" cmpd="sng">
            <a:solidFill>
              <a:srgbClr val="7F7F7F"/>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82" name="Google Shape;282;p5"/>
          <p:cNvSpPr/>
          <p:nvPr/>
        </p:nvSpPr>
        <p:spPr>
          <a:xfrm>
            <a:off x="913062" y="2033801"/>
            <a:ext cx="456600" cy="600300"/>
          </a:xfrm>
          <a:prstGeom prst="rect">
            <a:avLst/>
          </a:prstGeom>
          <a:solidFill>
            <a:srgbClr val="595959"/>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83" name="Google Shape;283;p5"/>
          <p:cNvSpPr/>
          <p:nvPr/>
        </p:nvSpPr>
        <p:spPr>
          <a:xfrm>
            <a:off x="913062" y="2701931"/>
            <a:ext cx="456600" cy="600300"/>
          </a:xfrm>
          <a:prstGeom prst="rect">
            <a:avLst/>
          </a:prstGeom>
          <a:solidFill>
            <a:srgbClr val="595959"/>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84" name="Google Shape;284;p5"/>
          <p:cNvSpPr/>
          <p:nvPr/>
        </p:nvSpPr>
        <p:spPr>
          <a:xfrm>
            <a:off x="913062" y="3370060"/>
            <a:ext cx="456600" cy="600300"/>
          </a:xfrm>
          <a:prstGeom prst="rect">
            <a:avLst/>
          </a:prstGeom>
          <a:solidFill>
            <a:srgbClr val="595959"/>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cxnSp>
        <p:nvCxnSpPr>
          <p:cNvPr id="285" name="Google Shape;285;p5"/>
          <p:cNvCxnSpPr>
            <a:stCxn id="286" idx="1"/>
            <a:endCxn id="287" idx="0"/>
          </p:cNvCxnSpPr>
          <p:nvPr/>
        </p:nvCxnSpPr>
        <p:spPr>
          <a:xfrm flipH="1">
            <a:off x="1138293" y="1680476"/>
            <a:ext cx="446100" cy="115800"/>
          </a:xfrm>
          <a:prstGeom prst="straightConnector1">
            <a:avLst/>
          </a:prstGeom>
          <a:noFill/>
          <a:ln w="7075" cap="flat" cmpd="sng">
            <a:solidFill>
              <a:srgbClr val="262626"/>
            </a:solidFill>
            <a:prstDash val="solid"/>
            <a:miter lim="800000"/>
            <a:headEnd type="none" w="sm" len="sm"/>
            <a:tailEnd type="none" w="sm" len="sm"/>
          </a:ln>
        </p:spPr>
      </p:cxnSp>
      <p:sp>
        <p:nvSpPr>
          <p:cNvPr id="288" name="Google Shape;288;p5"/>
          <p:cNvSpPr/>
          <p:nvPr/>
        </p:nvSpPr>
        <p:spPr>
          <a:xfrm rot="1542406">
            <a:off x="509739" y="2291233"/>
            <a:ext cx="1262894" cy="133508"/>
          </a:xfrm>
          <a:prstGeom prst="rect">
            <a:avLst/>
          </a:prstGeom>
          <a:solidFill>
            <a:srgbClr val="FFFFFF"/>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89" name="Google Shape;289;p5"/>
          <p:cNvSpPr/>
          <p:nvPr/>
        </p:nvSpPr>
        <p:spPr>
          <a:xfrm rot="1542406">
            <a:off x="509738" y="3508824"/>
            <a:ext cx="1262894" cy="133508"/>
          </a:xfrm>
          <a:prstGeom prst="rect">
            <a:avLst/>
          </a:prstGeom>
          <a:solidFill>
            <a:srgbClr val="FFFFFF"/>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0" name="Google Shape;290;p5"/>
          <p:cNvSpPr/>
          <p:nvPr/>
        </p:nvSpPr>
        <p:spPr>
          <a:xfrm rot="688594">
            <a:off x="948232" y="1603612"/>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1" name="Google Shape;291;p5"/>
          <p:cNvSpPr/>
          <p:nvPr/>
        </p:nvSpPr>
        <p:spPr>
          <a:xfrm>
            <a:off x="948501" y="1545003"/>
            <a:ext cx="372780" cy="47114"/>
          </a:xfrm>
          <a:prstGeom prst="rect">
            <a:avLst/>
          </a:prstGeom>
          <a:solidFill>
            <a:srgbClr val="DCEAF7"/>
          </a:solid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2" name="Google Shape;292;p5"/>
          <p:cNvSpPr/>
          <p:nvPr/>
        </p:nvSpPr>
        <p:spPr>
          <a:xfrm rot="688594">
            <a:off x="948231" y="1651996"/>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3" name="Google Shape;293;p5"/>
          <p:cNvSpPr/>
          <p:nvPr/>
        </p:nvSpPr>
        <p:spPr>
          <a:xfrm rot="688594">
            <a:off x="948231" y="1700536"/>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4" name="Google Shape;294;p5"/>
          <p:cNvSpPr/>
          <p:nvPr/>
        </p:nvSpPr>
        <p:spPr>
          <a:xfrm rot="688594">
            <a:off x="948231" y="1747257"/>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87" name="Google Shape;287;p5"/>
          <p:cNvSpPr/>
          <p:nvPr/>
        </p:nvSpPr>
        <p:spPr>
          <a:xfrm rot="688594">
            <a:off x="947337" y="1795796"/>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5" name="Google Shape;295;p5"/>
          <p:cNvSpPr/>
          <p:nvPr/>
        </p:nvSpPr>
        <p:spPr>
          <a:xfrm rot="688594">
            <a:off x="947337" y="1844181"/>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6" name="Google Shape;296;p5"/>
          <p:cNvSpPr/>
          <p:nvPr/>
        </p:nvSpPr>
        <p:spPr>
          <a:xfrm rot="688594">
            <a:off x="947337" y="1892720"/>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7" name="Google Shape;297;p5"/>
          <p:cNvSpPr/>
          <p:nvPr/>
        </p:nvSpPr>
        <p:spPr>
          <a:xfrm rot="688594">
            <a:off x="947337" y="1939442"/>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8" name="Google Shape;298;p5"/>
          <p:cNvSpPr/>
          <p:nvPr/>
        </p:nvSpPr>
        <p:spPr>
          <a:xfrm>
            <a:off x="946713" y="1985982"/>
            <a:ext cx="372780" cy="47114"/>
          </a:xfrm>
          <a:prstGeom prst="rect">
            <a:avLst/>
          </a:prstGeom>
          <a:solidFill>
            <a:srgbClr val="DCEAF7"/>
          </a:solid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Arial"/>
              <a:ea typeface="Arial"/>
              <a:cs typeface="Arial"/>
              <a:sym typeface="Arial"/>
            </a:endParaRPr>
          </a:p>
        </p:txBody>
      </p:sp>
      <p:sp>
        <p:nvSpPr>
          <p:cNvPr id="299" name="Google Shape;299;p5"/>
          <p:cNvSpPr txBox="1"/>
          <p:nvPr/>
        </p:nvSpPr>
        <p:spPr>
          <a:xfrm rot="-5400000">
            <a:off x="441707" y="1703573"/>
            <a:ext cx="397800" cy="154200"/>
          </a:xfrm>
          <a:prstGeom prst="rect">
            <a:avLst/>
          </a:prstGeom>
          <a:noFill/>
          <a:ln w="5325" cap="flat" cmpd="sng">
            <a:solidFill>
              <a:srgbClr val="000000"/>
            </a:solidFill>
            <a:prstDash val="solid"/>
            <a:round/>
            <a:headEnd type="none" w="sm" len="sm"/>
            <a:tailEnd type="none" w="sm" len="sm"/>
          </a:ln>
        </p:spPr>
        <p:txBody>
          <a:bodyPr spcFirstLastPara="1" wrap="square" lIns="50925" tIns="25450" rIns="50925" bIns="25450" anchor="t" anchorCtr="0">
            <a:spAutoFit/>
          </a:bodyPr>
          <a:lstStyle/>
          <a:p>
            <a:pPr marL="0" marR="0" lvl="0" indent="0" algn="l" rtl="0">
              <a:spcBef>
                <a:spcPts val="0"/>
              </a:spcBef>
              <a:spcAft>
                <a:spcPts val="0"/>
              </a:spcAft>
              <a:buNone/>
            </a:pPr>
            <a:r>
              <a:rPr lang="en-GB" sz="668">
                <a:solidFill>
                  <a:srgbClr val="000000"/>
                </a:solidFill>
                <a:latin typeface="Arial"/>
                <a:ea typeface="Arial"/>
                <a:cs typeface="Arial"/>
                <a:sym typeface="Arial"/>
              </a:rPr>
              <a:t>Plenum</a:t>
            </a:r>
            <a:endParaRPr sz="780"/>
          </a:p>
        </p:txBody>
      </p:sp>
      <p:cxnSp>
        <p:nvCxnSpPr>
          <p:cNvPr id="300" name="Google Shape;300;p5"/>
          <p:cNvCxnSpPr>
            <a:stCxn id="301" idx="1"/>
          </p:cNvCxnSpPr>
          <p:nvPr/>
        </p:nvCxnSpPr>
        <p:spPr>
          <a:xfrm flipH="1">
            <a:off x="1213822" y="2922709"/>
            <a:ext cx="510000" cy="59100"/>
          </a:xfrm>
          <a:prstGeom prst="straightConnector1">
            <a:avLst/>
          </a:prstGeom>
          <a:noFill/>
          <a:ln w="7075" cap="flat" cmpd="sng">
            <a:solidFill>
              <a:srgbClr val="262626"/>
            </a:solidFill>
            <a:prstDash val="solid"/>
            <a:miter lim="800000"/>
            <a:headEnd type="none" w="sm" len="sm"/>
            <a:tailEnd type="none" w="sm" len="sm"/>
          </a:ln>
        </p:spPr>
      </p:cxnSp>
      <p:cxnSp>
        <p:nvCxnSpPr>
          <p:cNvPr id="302" name="Google Shape;302;p5"/>
          <p:cNvCxnSpPr>
            <a:stCxn id="303" idx="1"/>
          </p:cNvCxnSpPr>
          <p:nvPr/>
        </p:nvCxnSpPr>
        <p:spPr>
          <a:xfrm flipH="1">
            <a:off x="1411188" y="2202533"/>
            <a:ext cx="370200" cy="75300"/>
          </a:xfrm>
          <a:prstGeom prst="straightConnector1">
            <a:avLst/>
          </a:prstGeom>
          <a:noFill/>
          <a:ln w="7075" cap="flat" cmpd="sng">
            <a:solidFill>
              <a:srgbClr val="262626"/>
            </a:solidFill>
            <a:prstDash val="solid"/>
            <a:miter lim="800000"/>
            <a:headEnd type="none" w="sm" len="sm"/>
            <a:tailEnd type="none" w="sm" len="sm"/>
          </a:ln>
        </p:spPr>
      </p:cxnSp>
      <p:cxnSp>
        <p:nvCxnSpPr>
          <p:cNvPr id="304" name="Google Shape;304;p5"/>
          <p:cNvCxnSpPr>
            <a:stCxn id="305" idx="1"/>
          </p:cNvCxnSpPr>
          <p:nvPr/>
        </p:nvCxnSpPr>
        <p:spPr>
          <a:xfrm rot="10800000">
            <a:off x="1384394" y="3229500"/>
            <a:ext cx="411900" cy="116700"/>
          </a:xfrm>
          <a:prstGeom prst="straightConnector1">
            <a:avLst/>
          </a:prstGeom>
          <a:noFill/>
          <a:ln w="7075" cap="flat" cmpd="sng">
            <a:solidFill>
              <a:srgbClr val="262626"/>
            </a:solidFill>
            <a:prstDash val="solid"/>
            <a:miter lim="800000"/>
            <a:headEnd type="none" w="sm" len="sm"/>
            <a:tailEnd type="none" w="sm" len="sm"/>
          </a:ln>
        </p:spPr>
      </p:cxnSp>
      <p:sp>
        <p:nvSpPr>
          <p:cNvPr id="303" name="Google Shape;303;p5"/>
          <p:cNvSpPr/>
          <p:nvPr/>
        </p:nvSpPr>
        <p:spPr>
          <a:xfrm>
            <a:off x="1781388" y="2122283"/>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262626"/>
                </a:solidFill>
                <a:latin typeface="Arial"/>
                <a:ea typeface="Arial"/>
                <a:cs typeface="Arial"/>
                <a:sym typeface="Arial"/>
              </a:rPr>
              <a:t>Cladding</a:t>
            </a:r>
            <a:endParaRPr sz="668">
              <a:solidFill>
                <a:srgbClr val="262626"/>
              </a:solidFill>
              <a:latin typeface="Arial"/>
              <a:ea typeface="Arial"/>
              <a:cs typeface="Arial"/>
              <a:sym typeface="Arial"/>
            </a:endParaRPr>
          </a:p>
        </p:txBody>
      </p:sp>
      <p:sp>
        <p:nvSpPr>
          <p:cNvPr id="301" name="Google Shape;301;p5"/>
          <p:cNvSpPr/>
          <p:nvPr/>
        </p:nvSpPr>
        <p:spPr>
          <a:xfrm>
            <a:off x="1723822" y="2842459"/>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262626"/>
                </a:solidFill>
                <a:latin typeface="Arial"/>
                <a:ea typeface="Arial"/>
                <a:cs typeface="Arial"/>
                <a:sym typeface="Arial"/>
              </a:rPr>
              <a:t>Fuel</a:t>
            </a:r>
            <a:endParaRPr sz="668">
              <a:solidFill>
                <a:srgbClr val="262626"/>
              </a:solidFill>
              <a:latin typeface="Arial"/>
              <a:ea typeface="Arial"/>
              <a:cs typeface="Arial"/>
              <a:sym typeface="Arial"/>
            </a:endParaRPr>
          </a:p>
        </p:txBody>
      </p:sp>
      <p:sp>
        <p:nvSpPr>
          <p:cNvPr id="306" name="Google Shape;306;p5"/>
          <p:cNvSpPr/>
          <p:nvPr/>
        </p:nvSpPr>
        <p:spPr>
          <a:xfrm>
            <a:off x="919934" y="4134461"/>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262626"/>
                </a:solidFill>
                <a:latin typeface="Arial"/>
                <a:ea typeface="Arial"/>
                <a:cs typeface="Arial"/>
                <a:sym typeface="Arial"/>
              </a:rPr>
              <a:t>Helium</a:t>
            </a:r>
            <a:endParaRPr sz="668">
              <a:solidFill>
                <a:srgbClr val="262626"/>
              </a:solidFill>
              <a:latin typeface="Arial"/>
              <a:ea typeface="Arial"/>
              <a:cs typeface="Arial"/>
              <a:sym typeface="Arial"/>
            </a:endParaRPr>
          </a:p>
        </p:txBody>
      </p:sp>
      <p:sp>
        <p:nvSpPr>
          <p:cNvPr id="305" name="Google Shape;305;p5"/>
          <p:cNvSpPr/>
          <p:nvPr/>
        </p:nvSpPr>
        <p:spPr>
          <a:xfrm>
            <a:off x="1796294" y="3265950"/>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000000"/>
                </a:solidFill>
                <a:latin typeface="Arial"/>
                <a:ea typeface="Arial"/>
                <a:cs typeface="Arial"/>
                <a:sym typeface="Arial"/>
              </a:rPr>
              <a:t>Gap</a:t>
            </a:r>
            <a:endParaRPr sz="668">
              <a:solidFill>
                <a:srgbClr val="000000"/>
              </a:solidFill>
              <a:latin typeface="Arial"/>
              <a:ea typeface="Arial"/>
              <a:cs typeface="Arial"/>
              <a:sym typeface="Arial"/>
            </a:endParaRPr>
          </a:p>
        </p:txBody>
      </p:sp>
      <p:sp>
        <p:nvSpPr>
          <p:cNvPr id="286" name="Google Shape;286;p5"/>
          <p:cNvSpPr/>
          <p:nvPr/>
        </p:nvSpPr>
        <p:spPr>
          <a:xfrm>
            <a:off x="1584393" y="1600226"/>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262626"/>
                </a:solidFill>
                <a:latin typeface="Arial"/>
                <a:ea typeface="Arial"/>
                <a:cs typeface="Arial"/>
                <a:sym typeface="Arial"/>
              </a:rPr>
              <a:t>Spring</a:t>
            </a:r>
            <a:endParaRPr sz="668">
              <a:solidFill>
                <a:srgbClr val="262626"/>
              </a:solidFill>
              <a:latin typeface="Arial"/>
              <a:ea typeface="Arial"/>
              <a:cs typeface="Arial"/>
              <a:sym typeface="Arial"/>
            </a:endParaRPr>
          </a:p>
        </p:txBody>
      </p:sp>
      <p:pic>
        <p:nvPicPr>
          <p:cNvPr id="307" name="Google Shape;307;p5"/>
          <p:cNvPicPr preferRelativeResize="0"/>
          <p:nvPr/>
        </p:nvPicPr>
        <p:blipFill rotWithShape="1">
          <a:blip r:embed="rId3">
            <a:alphaModFix/>
          </a:blip>
          <a:srcRect/>
          <a:stretch/>
        </p:blipFill>
        <p:spPr>
          <a:xfrm>
            <a:off x="6718986" y="3078426"/>
            <a:ext cx="67378" cy="67378"/>
          </a:xfrm>
          <a:prstGeom prst="rect">
            <a:avLst/>
          </a:prstGeom>
          <a:noFill/>
          <a:ln>
            <a:noFill/>
          </a:ln>
        </p:spPr>
      </p:pic>
      <p:pic>
        <p:nvPicPr>
          <p:cNvPr id="308" name="Google Shape;308;p5"/>
          <p:cNvPicPr preferRelativeResize="0"/>
          <p:nvPr/>
        </p:nvPicPr>
        <p:blipFill rotWithShape="1">
          <a:blip r:embed="rId3">
            <a:alphaModFix/>
          </a:blip>
          <a:srcRect/>
          <a:stretch/>
        </p:blipFill>
        <p:spPr>
          <a:xfrm>
            <a:off x="6803355" y="2791618"/>
            <a:ext cx="67378" cy="67378"/>
          </a:xfrm>
          <a:prstGeom prst="rect">
            <a:avLst/>
          </a:prstGeom>
          <a:noFill/>
          <a:ln>
            <a:noFill/>
          </a:ln>
        </p:spPr>
      </p:pic>
      <p:pic>
        <p:nvPicPr>
          <p:cNvPr id="309" name="Google Shape;309;p5"/>
          <p:cNvPicPr preferRelativeResize="0"/>
          <p:nvPr/>
        </p:nvPicPr>
        <p:blipFill rotWithShape="1">
          <a:blip r:embed="rId3">
            <a:alphaModFix/>
          </a:blip>
          <a:srcRect/>
          <a:stretch/>
        </p:blipFill>
        <p:spPr>
          <a:xfrm>
            <a:off x="6669590" y="2381792"/>
            <a:ext cx="67378" cy="67378"/>
          </a:xfrm>
          <a:prstGeom prst="rect">
            <a:avLst/>
          </a:prstGeom>
          <a:noFill/>
          <a:ln>
            <a:noFill/>
          </a:ln>
        </p:spPr>
      </p:pic>
      <p:pic>
        <p:nvPicPr>
          <p:cNvPr id="310" name="Google Shape;310;p5"/>
          <p:cNvPicPr preferRelativeResize="0"/>
          <p:nvPr/>
        </p:nvPicPr>
        <p:blipFill rotWithShape="1">
          <a:blip r:embed="rId3">
            <a:alphaModFix/>
          </a:blip>
          <a:srcRect/>
          <a:stretch/>
        </p:blipFill>
        <p:spPr>
          <a:xfrm>
            <a:off x="6320565" y="2610875"/>
            <a:ext cx="67378" cy="67378"/>
          </a:xfrm>
          <a:prstGeom prst="rect">
            <a:avLst/>
          </a:prstGeom>
          <a:noFill/>
          <a:ln>
            <a:noFill/>
          </a:ln>
        </p:spPr>
      </p:pic>
      <p:pic>
        <p:nvPicPr>
          <p:cNvPr id="311" name="Google Shape;311;p5"/>
          <p:cNvPicPr preferRelativeResize="0"/>
          <p:nvPr/>
        </p:nvPicPr>
        <p:blipFill rotWithShape="1">
          <a:blip r:embed="rId3">
            <a:alphaModFix/>
          </a:blip>
          <a:srcRect/>
          <a:stretch/>
        </p:blipFill>
        <p:spPr>
          <a:xfrm>
            <a:off x="6811070" y="2213747"/>
            <a:ext cx="67378" cy="67378"/>
          </a:xfrm>
          <a:prstGeom prst="rect">
            <a:avLst/>
          </a:prstGeom>
          <a:noFill/>
          <a:ln>
            <a:noFill/>
          </a:ln>
        </p:spPr>
      </p:pic>
      <p:pic>
        <p:nvPicPr>
          <p:cNvPr id="312" name="Google Shape;312;p5"/>
          <p:cNvPicPr preferRelativeResize="0"/>
          <p:nvPr/>
        </p:nvPicPr>
        <p:blipFill rotWithShape="1">
          <a:blip r:embed="rId3">
            <a:alphaModFix/>
          </a:blip>
          <a:srcRect/>
          <a:stretch/>
        </p:blipFill>
        <p:spPr>
          <a:xfrm>
            <a:off x="7269415" y="2619782"/>
            <a:ext cx="67378" cy="67378"/>
          </a:xfrm>
          <a:prstGeom prst="rect">
            <a:avLst/>
          </a:prstGeom>
          <a:noFill/>
          <a:ln>
            <a:noFill/>
          </a:ln>
        </p:spPr>
      </p:pic>
      <p:pic>
        <p:nvPicPr>
          <p:cNvPr id="313" name="Google Shape;313;p5"/>
          <p:cNvPicPr preferRelativeResize="0"/>
          <p:nvPr/>
        </p:nvPicPr>
        <p:blipFill rotWithShape="1">
          <a:blip r:embed="rId3">
            <a:alphaModFix/>
          </a:blip>
          <a:srcRect/>
          <a:stretch/>
        </p:blipFill>
        <p:spPr>
          <a:xfrm>
            <a:off x="7022744" y="3172007"/>
            <a:ext cx="67378" cy="67378"/>
          </a:xfrm>
          <a:prstGeom prst="rect">
            <a:avLst/>
          </a:prstGeom>
          <a:noFill/>
          <a:ln>
            <a:noFill/>
          </a:ln>
        </p:spPr>
      </p:pic>
      <p:cxnSp>
        <p:nvCxnSpPr>
          <p:cNvPr id="314" name="Google Shape;314;p5"/>
          <p:cNvCxnSpPr>
            <a:stCxn id="315" idx="1"/>
          </p:cNvCxnSpPr>
          <p:nvPr/>
        </p:nvCxnSpPr>
        <p:spPr>
          <a:xfrm>
            <a:off x="7193691" y="3248751"/>
            <a:ext cx="363300" cy="321900"/>
          </a:xfrm>
          <a:prstGeom prst="straightConnector1">
            <a:avLst/>
          </a:prstGeom>
          <a:noFill/>
          <a:ln w="9150" cap="flat" cmpd="sng">
            <a:solidFill>
              <a:srgbClr val="000033"/>
            </a:solidFill>
            <a:prstDash val="solid"/>
            <a:miter lim="800000"/>
            <a:headEnd type="none" w="sm" len="sm"/>
            <a:tailEnd type="none" w="sm" len="sm"/>
          </a:ln>
        </p:spPr>
      </p:cxnSp>
      <p:sp>
        <p:nvSpPr>
          <p:cNvPr id="316" name="Google Shape;316;p5"/>
          <p:cNvSpPr/>
          <p:nvPr/>
        </p:nvSpPr>
        <p:spPr>
          <a:xfrm>
            <a:off x="6128337" y="2111358"/>
            <a:ext cx="1351800" cy="13518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17" name="Google Shape;317;p5"/>
          <p:cNvSpPr/>
          <p:nvPr/>
        </p:nvSpPr>
        <p:spPr>
          <a:xfrm>
            <a:off x="6441995" y="2421311"/>
            <a:ext cx="93900" cy="939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18" name="Google Shape;318;p5"/>
          <p:cNvSpPr/>
          <p:nvPr/>
        </p:nvSpPr>
        <p:spPr>
          <a:xfrm>
            <a:off x="7016635" y="2415484"/>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19" name="Google Shape;319;p5"/>
          <p:cNvSpPr/>
          <p:nvPr/>
        </p:nvSpPr>
        <p:spPr>
          <a:xfrm>
            <a:off x="6590163" y="2554449"/>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20" name="Google Shape;320;p5"/>
          <p:cNvSpPr/>
          <p:nvPr/>
        </p:nvSpPr>
        <p:spPr>
          <a:xfrm>
            <a:off x="6888747" y="2736704"/>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21" name="Google Shape;321;p5"/>
          <p:cNvSpPr/>
          <p:nvPr/>
        </p:nvSpPr>
        <p:spPr>
          <a:xfrm>
            <a:off x="6418529" y="2862329"/>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22" name="Google Shape;322;p5"/>
          <p:cNvSpPr/>
          <p:nvPr/>
        </p:nvSpPr>
        <p:spPr>
          <a:xfrm>
            <a:off x="6821274" y="3172007"/>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cxnSp>
        <p:nvCxnSpPr>
          <p:cNvPr id="323" name="Google Shape;323;p5"/>
          <p:cNvCxnSpPr/>
          <p:nvPr/>
        </p:nvCxnSpPr>
        <p:spPr>
          <a:xfrm rot="10800000" flipH="1">
            <a:off x="7022577" y="2041100"/>
            <a:ext cx="247200" cy="361200"/>
          </a:xfrm>
          <a:prstGeom prst="straightConnector1">
            <a:avLst/>
          </a:prstGeom>
          <a:noFill/>
          <a:ln w="9150" cap="flat" cmpd="sng">
            <a:solidFill>
              <a:srgbClr val="000033"/>
            </a:solidFill>
            <a:prstDash val="solid"/>
            <a:miter lim="800000"/>
            <a:headEnd type="none" w="sm" len="sm"/>
            <a:tailEnd type="triangle" w="med" len="med"/>
          </a:ln>
        </p:spPr>
      </p:cxnSp>
      <p:sp>
        <p:nvSpPr>
          <p:cNvPr id="324" name="Google Shape;324;p5"/>
          <p:cNvSpPr/>
          <p:nvPr/>
        </p:nvSpPr>
        <p:spPr>
          <a:xfrm>
            <a:off x="6774559" y="225295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25" name="Google Shape;325;p5"/>
          <p:cNvSpPr/>
          <p:nvPr/>
        </p:nvSpPr>
        <p:spPr>
          <a:xfrm>
            <a:off x="6654901" y="230644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26" name="Google Shape;326;p5"/>
          <p:cNvSpPr/>
          <p:nvPr/>
        </p:nvSpPr>
        <p:spPr>
          <a:xfrm>
            <a:off x="6795246" y="240043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27" name="Google Shape;327;p5"/>
          <p:cNvSpPr/>
          <p:nvPr/>
        </p:nvSpPr>
        <p:spPr>
          <a:xfrm>
            <a:off x="6634214" y="243471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28" name="Google Shape;328;p5"/>
          <p:cNvSpPr/>
          <p:nvPr/>
        </p:nvSpPr>
        <p:spPr>
          <a:xfrm>
            <a:off x="6800630" y="254096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29" name="Google Shape;329;p5"/>
          <p:cNvSpPr/>
          <p:nvPr/>
        </p:nvSpPr>
        <p:spPr>
          <a:xfrm>
            <a:off x="6822470" y="262740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30" name="Google Shape;330;p5"/>
          <p:cNvSpPr/>
          <p:nvPr/>
        </p:nvSpPr>
        <p:spPr>
          <a:xfrm>
            <a:off x="6930069" y="263891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31" name="Google Shape;331;p5"/>
          <p:cNvSpPr/>
          <p:nvPr/>
        </p:nvSpPr>
        <p:spPr>
          <a:xfrm>
            <a:off x="6962676" y="242587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32" name="Google Shape;332;p5"/>
          <p:cNvSpPr/>
          <p:nvPr/>
        </p:nvSpPr>
        <p:spPr>
          <a:xfrm>
            <a:off x="6613527" y="226803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33" name="Google Shape;333;p5"/>
          <p:cNvSpPr/>
          <p:nvPr/>
        </p:nvSpPr>
        <p:spPr>
          <a:xfrm>
            <a:off x="6452495" y="226803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34" name="Google Shape;334;p5"/>
          <p:cNvSpPr/>
          <p:nvPr/>
        </p:nvSpPr>
        <p:spPr>
          <a:xfrm>
            <a:off x="6392667" y="234450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35" name="Google Shape;335;p5"/>
          <p:cNvSpPr/>
          <p:nvPr/>
        </p:nvSpPr>
        <p:spPr>
          <a:xfrm>
            <a:off x="6593164" y="252028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36" name="Google Shape;336;p5"/>
          <p:cNvSpPr/>
          <p:nvPr/>
        </p:nvSpPr>
        <p:spPr>
          <a:xfrm>
            <a:off x="6475153" y="255308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37" name="Google Shape;337;p5"/>
          <p:cNvSpPr/>
          <p:nvPr/>
        </p:nvSpPr>
        <p:spPr>
          <a:xfrm>
            <a:off x="6490625" y="268405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38" name="Google Shape;338;p5"/>
          <p:cNvSpPr/>
          <p:nvPr/>
        </p:nvSpPr>
        <p:spPr>
          <a:xfrm>
            <a:off x="6675588" y="279483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39" name="Google Shape;339;p5"/>
          <p:cNvSpPr/>
          <p:nvPr/>
        </p:nvSpPr>
        <p:spPr>
          <a:xfrm>
            <a:off x="6597065" y="290980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0" name="Google Shape;340;p5"/>
          <p:cNvSpPr/>
          <p:nvPr/>
        </p:nvSpPr>
        <p:spPr>
          <a:xfrm>
            <a:off x="6753872" y="296612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1" name="Google Shape;341;p5"/>
          <p:cNvSpPr/>
          <p:nvPr/>
        </p:nvSpPr>
        <p:spPr>
          <a:xfrm>
            <a:off x="7368153" y="2588864"/>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2" name="Google Shape;342;p5"/>
          <p:cNvSpPr/>
          <p:nvPr/>
        </p:nvSpPr>
        <p:spPr>
          <a:xfrm>
            <a:off x="7248495" y="264235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3" name="Google Shape;343;p5"/>
          <p:cNvSpPr/>
          <p:nvPr/>
        </p:nvSpPr>
        <p:spPr>
          <a:xfrm>
            <a:off x="7388840" y="273634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4" name="Google Shape;344;p5"/>
          <p:cNvSpPr/>
          <p:nvPr/>
        </p:nvSpPr>
        <p:spPr>
          <a:xfrm>
            <a:off x="7227808" y="277062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5" name="Google Shape;345;p5"/>
          <p:cNvSpPr/>
          <p:nvPr/>
        </p:nvSpPr>
        <p:spPr>
          <a:xfrm>
            <a:off x="7394224" y="2876879"/>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6" name="Google Shape;346;p5"/>
          <p:cNvSpPr/>
          <p:nvPr/>
        </p:nvSpPr>
        <p:spPr>
          <a:xfrm>
            <a:off x="7365140" y="298839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7" name="Google Shape;347;p5"/>
          <p:cNvSpPr/>
          <p:nvPr/>
        </p:nvSpPr>
        <p:spPr>
          <a:xfrm>
            <a:off x="7207121" y="260394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8" name="Google Shape;348;p5"/>
          <p:cNvSpPr/>
          <p:nvPr/>
        </p:nvSpPr>
        <p:spPr>
          <a:xfrm>
            <a:off x="7046090" y="260394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49" name="Google Shape;349;p5"/>
          <p:cNvSpPr/>
          <p:nvPr/>
        </p:nvSpPr>
        <p:spPr>
          <a:xfrm>
            <a:off x="6986261" y="268041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0" name="Google Shape;350;p5"/>
          <p:cNvSpPr/>
          <p:nvPr/>
        </p:nvSpPr>
        <p:spPr>
          <a:xfrm>
            <a:off x="7291032" y="293141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1" name="Google Shape;351;p5"/>
          <p:cNvSpPr/>
          <p:nvPr/>
        </p:nvSpPr>
        <p:spPr>
          <a:xfrm>
            <a:off x="7068747" y="2888999"/>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2" name="Google Shape;352;p5"/>
          <p:cNvSpPr/>
          <p:nvPr/>
        </p:nvSpPr>
        <p:spPr>
          <a:xfrm>
            <a:off x="7084219" y="301996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3" name="Google Shape;353;p5"/>
          <p:cNvSpPr/>
          <p:nvPr/>
        </p:nvSpPr>
        <p:spPr>
          <a:xfrm>
            <a:off x="7269182" y="313074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15" name="Google Shape;315;p5"/>
          <p:cNvSpPr/>
          <p:nvPr/>
        </p:nvSpPr>
        <p:spPr>
          <a:xfrm>
            <a:off x="7190660" y="3245719"/>
            <a:ext cx="20700" cy="20700"/>
          </a:xfrm>
          <a:prstGeom prst="ellipse">
            <a:avLst/>
          </a:prstGeom>
          <a:solidFill>
            <a:srgbClr val="80FF80"/>
          </a:solidFill>
          <a:ln w="4575" cap="flat" cmpd="sng">
            <a:solidFill>
              <a:srgbClr val="000000"/>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4" name="Google Shape;354;p5"/>
          <p:cNvSpPr/>
          <p:nvPr/>
        </p:nvSpPr>
        <p:spPr>
          <a:xfrm>
            <a:off x="6579624" y="302039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5" name="Google Shape;355;p5"/>
          <p:cNvSpPr/>
          <p:nvPr/>
        </p:nvSpPr>
        <p:spPr>
          <a:xfrm>
            <a:off x="6328849" y="305039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56" name="Google Shape;356;p5"/>
          <p:cNvSpPr/>
          <p:nvPr/>
        </p:nvSpPr>
        <p:spPr>
          <a:xfrm>
            <a:off x="6585008" y="316092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7" name="Google Shape;357;p5"/>
          <p:cNvSpPr/>
          <p:nvPr/>
        </p:nvSpPr>
        <p:spPr>
          <a:xfrm>
            <a:off x="6606848" y="324736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8" name="Google Shape;358;p5"/>
          <p:cNvSpPr/>
          <p:nvPr/>
        </p:nvSpPr>
        <p:spPr>
          <a:xfrm>
            <a:off x="6714447" y="325886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59" name="Google Shape;359;p5"/>
          <p:cNvSpPr/>
          <p:nvPr/>
        </p:nvSpPr>
        <p:spPr>
          <a:xfrm>
            <a:off x="6747054" y="304582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60" name="Google Shape;360;p5"/>
          <p:cNvSpPr/>
          <p:nvPr/>
        </p:nvSpPr>
        <p:spPr>
          <a:xfrm>
            <a:off x="6299199" y="269261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61" name="Google Shape;361;p5"/>
          <p:cNvSpPr/>
          <p:nvPr/>
        </p:nvSpPr>
        <p:spPr>
          <a:xfrm>
            <a:off x="6299381" y="288521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62" name="Google Shape;362;p5"/>
          <p:cNvSpPr/>
          <p:nvPr/>
        </p:nvSpPr>
        <p:spPr>
          <a:xfrm>
            <a:off x="6377543" y="314023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63" name="Google Shape;363;p5"/>
          <p:cNvSpPr/>
          <p:nvPr/>
        </p:nvSpPr>
        <p:spPr>
          <a:xfrm>
            <a:off x="6888747" y="304843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64" name="Google Shape;364;p5"/>
          <p:cNvSpPr/>
          <p:nvPr/>
        </p:nvSpPr>
        <p:spPr>
          <a:xfrm>
            <a:off x="6878404" y="338668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65" name="Google Shape;365;p5"/>
          <p:cNvSpPr/>
          <p:nvPr/>
        </p:nvSpPr>
        <p:spPr>
          <a:xfrm>
            <a:off x="6711367" y="335418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66" name="Google Shape;366;p5"/>
          <p:cNvSpPr/>
          <p:nvPr/>
        </p:nvSpPr>
        <p:spPr>
          <a:xfrm>
            <a:off x="6535602" y="2546004"/>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67" name="Google Shape;367;p5"/>
          <p:cNvSpPr/>
          <p:nvPr/>
        </p:nvSpPr>
        <p:spPr>
          <a:xfrm>
            <a:off x="6415944" y="259949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68" name="Google Shape;368;p5"/>
          <p:cNvSpPr/>
          <p:nvPr/>
        </p:nvSpPr>
        <p:spPr>
          <a:xfrm>
            <a:off x="6556289" y="269348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69" name="Google Shape;369;p5"/>
          <p:cNvSpPr/>
          <p:nvPr/>
        </p:nvSpPr>
        <p:spPr>
          <a:xfrm>
            <a:off x="6395258" y="272776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70" name="Google Shape;370;p5"/>
          <p:cNvSpPr/>
          <p:nvPr/>
        </p:nvSpPr>
        <p:spPr>
          <a:xfrm>
            <a:off x="6561673" y="2834019"/>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71" name="Google Shape;371;p5"/>
          <p:cNvSpPr/>
          <p:nvPr/>
        </p:nvSpPr>
        <p:spPr>
          <a:xfrm>
            <a:off x="6691112" y="293196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72" name="Google Shape;372;p5"/>
          <p:cNvSpPr/>
          <p:nvPr/>
        </p:nvSpPr>
        <p:spPr>
          <a:xfrm>
            <a:off x="6723719" y="271892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73" name="Google Shape;373;p5"/>
          <p:cNvSpPr/>
          <p:nvPr/>
        </p:nvSpPr>
        <p:spPr>
          <a:xfrm>
            <a:off x="6374571" y="256108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74" name="Google Shape;374;p5"/>
          <p:cNvSpPr/>
          <p:nvPr/>
        </p:nvSpPr>
        <p:spPr>
          <a:xfrm>
            <a:off x="6213539" y="256108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75" name="Google Shape;375;p5"/>
          <p:cNvSpPr/>
          <p:nvPr/>
        </p:nvSpPr>
        <p:spPr>
          <a:xfrm>
            <a:off x="6192172" y="264183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76" name="Google Shape;376;p5"/>
          <p:cNvSpPr/>
          <p:nvPr/>
        </p:nvSpPr>
        <p:spPr>
          <a:xfrm>
            <a:off x="6354208" y="281333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77" name="Google Shape;377;p5"/>
          <p:cNvSpPr/>
          <p:nvPr/>
        </p:nvSpPr>
        <p:spPr>
          <a:xfrm>
            <a:off x="6251668" y="297710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78" name="Google Shape;378;p5"/>
          <p:cNvSpPr/>
          <p:nvPr/>
        </p:nvSpPr>
        <p:spPr>
          <a:xfrm>
            <a:off x="6436632" y="308788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79" name="Google Shape;379;p5"/>
          <p:cNvSpPr/>
          <p:nvPr/>
        </p:nvSpPr>
        <p:spPr>
          <a:xfrm>
            <a:off x="6514915" y="325918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80" name="Google Shape;380;p5"/>
          <p:cNvSpPr/>
          <p:nvPr/>
        </p:nvSpPr>
        <p:spPr>
          <a:xfrm>
            <a:off x="7069669" y="219594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1" name="Google Shape;381;p5"/>
          <p:cNvSpPr/>
          <p:nvPr/>
        </p:nvSpPr>
        <p:spPr>
          <a:xfrm>
            <a:off x="7210013" y="228994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2" name="Google Shape;382;p5"/>
          <p:cNvSpPr/>
          <p:nvPr/>
        </p:nvSpPr>
        <p:spPr>
          <a:xfrm>
            <a:off x="7215398" y="243047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3" name="Google Shape;383;p5"/>
          <p:cNvSpPr/>
          <p:nvPr/>
        </p:nvSpPr>
        <p:spPr>
          <a:xfrm>
            <a:off x="7237238" y="251691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4" name="Google Shape;384;p5"/>
          <p:cNvSpPr/>
          <p:nvPr/>
        </p:nvSpPr>
        <p:spPr>
          <a:xfrm>
            <a:off x="7344837" y="2528419"/>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5" name="Google Shape;385;p5"/>
          <p:cNvSpPr/>
          <p:nvPr/>
        </p:nvSpPr>
        <p:spPr>
          <a:xfrm>
            <a:off x="6933409" y="229564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6" name="Google Shape;386;p5"/>
          <p:cNvSpPr/>
          <p:nvPr/>
        </p:nvSpPr>
        <p:spPr>
          <a:xfrm>
            <a:off x="6889921" y="244259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7" name="Google Shape;387;p5"/>
          <p:cNvSpPr/>
          <p:nvPr/>
        </p:nvSpPr>
        <p:spPr>
          <a:xfrm>
            <a:off x="6905393" y="257355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8" name="Google Shape;388;p5"/>
          <p:cNvSpPr/>
          <p:nvPr/>
        </p:nvSpPr>
        <p:spPr>
          <a:xfrm>
            <a:off x="7090356" y="268433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89" name="Google Shape;389;p5"/>
          <p:cNvSpPr/>
          <p:nvPr/>
        </p:nvSpPr>
        <p:spPr>
          <a:xfrm>
            <a:off x="7168640" y="2855634"/>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90" name="Google Shape;390;p5"/>
          <p:cNvSpPr/>
          <p:nvPr/>
        </p:nvSpPr>
        <p:spPr>
          <a:xfrm>
            <a:off x="6669591" y="2167550"/>
            <a:ext cx="93900" cy="939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68">
              <a:solidFill>
                <a:srgbClr val="000033"/>
              </a:solidFill>
              <a:latin typeface="Play"/>
              <a:ea typeface="Play"/>
              <a:cs typeface="Play"/>
              <a:sym typeface="Play"/>
            </a:endParaRPr>
          </a:p>
        </p:txBody>
      </p:sp>
      <p:sp>
        <p:nvSpPr>
          <p:cNvPr id="391" name="Google Shape;391;p5"/>
          <p:cNvSpPr/>
          <p:nvPr/>
        </p:nvSpPr>
        <p:spPr>
          <a:xfrm rot="2621407">
            <a:off x="6213466" y="3229272"/>
            <a:ext cx="278390" cy="85511"/>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sp>
        <p:nvSpPr>
          <p:cNvPr id="392" name="Google Shape;392;p5"/>
          <p:cNvSpPr/>
          <p:nvPr/>
        </p:nvSpPr>
        <p:spPr>
          <a:xfrm rot="4236476">
            <a:off x="6035944" y="2950191"/>
            <a:ext cx="278288" cy="85585"/>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865">
              <a:solidFill>
                <a:srgbClr val="000033"/>
              </a:solidFill>
              <a:latin typeface="Play"/>
              <a:ea typeface="Play"/>
              <a:cs typeface="Play"/>
              <a:sym typeface="Play"/>
            </a:endParaRPr>
          </a:p>
        </p:txBody>
      </p:sp>
      <p:cxnSp>
        <p:nvCxnSpPr>
          <p:cNvPr id="393" name="Google Shape;393;p5"/>
          <p:cNvCxnSpPr/>
          <p:nvPr/>
        </p:nvCxnSpPr>
        <p:spPr>
          <a:xfrm>
            <a:off x="7193689" y="2171664"/>
            <a:ext cx="341100" cy="194100"/>
          </a:xfrm>
          <a:prstGeom prst="straightConnector1">
            <a:avLst/>
          </a:prstGeom>
          <a:noFill/>
          <a:ln w="9150" cap="flat" cmpd="sng">
            <a:solidFill>
              <a:srgbClr val="000033"/>
            </a:solidFill>
            <a:prstDash val="solid"/>
            <a:miter lim="800000"/>
            <a:headEnd type="none" w="sm" len="sm"/>
            <a:tailEnd type="none" w="sm" len="sm"/>
          </a:ln>
        </p:spPr>
      </p:cxnSp>
      <p:cxnSp>
        <p:nvCxnSpPr>
          <p:cNvPr id="394" name="Google Shape;394;p5"/>
          <p:cNvCxnSpPr/>
          <p:nvPr/>
        </p:nvCxnSpPr>
        <p:spPr>
          <a:xfrm rot="10800000" flipH="1">
            <a:off x="7175491" y="2607231"/>
            <a:ext cx="458100" cy="311700"/>
          </a:xfrm>
          <a:prstGeom prst="straightConnector1">
            <a:avLst/>
          </a:prstGeom>
          <a:noFill/>
          <a:ln w="9150" cap="flat" cmpd="sng">
            <a:solidFill>
              <a:srgbClr val="000033"/>
            </a:solidFill>
            <a:prstDash val="solid"/>
            <a:miter lim="800000"/>
            <a:headEnd type="none" w="sm" len="sm"/>
            <a:tailEnd type="none" w="sm" len="sm"/>
          </a:ln>
        </p:spPr>
      </p:cxnSp>
      <p:cxnSp>
        <p:nvCxnSpPr>
          <p:cNvPr id="395" name="Google Shape;395;p5"/>
          <p:cNvCxnSpPr/>
          <p:nvPr/>
        </p:nvCxnSpPr>
        <p:spPr>
          <a:xfrm rot="10800000" flipH="1">
            <a:off x="7058496" y="2855348"/>
            <a:ext cx="585000" cy="275100"/>
          </a:xfrm>
          <a:prstGeom prst="straightConnector1">
            <a:avLst/>
          </a:prstGeom>
          <a:noFill/>
          <a:ln w="9150" cap="flat" cmpd="sng">
            <a:solidFill>
              <a:srgbClr val="000033"/>
            </a:solidFill>
            <a:prstDash val="solid"/>
            <a:miter lim="800000"/>
            <a:headEnd type="none" w="sm" len="sm"/>
            <a:tailEnd type="none" w="sm" len="sm"/>
          </a:ln>
        </p:spPr>
      </p:cxnSp>
      <p:cxnSp>
        <p:nvCxnSpPr>
          <p:cNvPr id="396" name="Google Shape;396;p5"/>
          <p:cNvCxnSpPr/>
          <p:nvPr/>
        </p:nvCxnSpPr>
        <p:spPr>
          <a:xfrm>
            <a:off x="6888747" y="3262283"/>
            <a:ext cx="452400" cy="558900"/>
          </a:xfrm>
          <a:prstGeom prst="straightConnector1">
            <a:avLst/>
          </a:prstGeom>
          <a:noFill/>
          <a:ln w="9150" cap="flat" cmpd="sng">
            <a:solidFill>
              <a:srgbClr val="000033"/>
            </a:solidFill>
            <a:prstDash val="solid"/>
            <a:miter lim="800000"/>
            <a:headEnd type="none" w="sm" len="sm"/>
            <a:tailEnd type="none" w="sm" len="sm"/>
          </a:ln>
        </p:spPr>
      </p:cxnSp>
      <p:sp>
        <p:nvSpPr>
          <p:cNvPr id="397" name="Google Shape;397;p5"/>
          <p:cNvSpPr txBox="1"/>
          <p:nvPr/>
        </p:nvSpPr>
        <p:spPr>
          <a:xfrm>
            <a:off x="7537974" y="2214517"/>
            <a:ext cx="846900" cy="162900"/>
          </a:xfrm>
          <a:prstGeom prst="rect">
            <a:avLst/>
          </a:prstGeom>
          <a:blipFill rotWithShape="1">
            <a:blip r:embed="rId4">
              <a:alphaModFix/>
            </a:blip>
            <a:stretch>
              <a:fillRect l="-1729" t="-5448" b="-23638"/>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865">
                <a:latin typeface="Arial"/>
                <a:ea typeface="Arial"/>
                <a:cs typeface="Arial"/>
                <a:sym typeface="Arial"/>
              </a:rPr>
              <a:t> </a:t>
            </a:r>
            <a:endParaRPr sz="672"/>
          </a:p>
        </p:txBody>
      </p:sp>
      <p:sp>
        <p:nvSpPr>
          <p:cNvPr id="398" name="Google Shape;398;p5"/>
          <p:cNvSpPr txBox="1"/>
          <p:nvPr/>
        </p:nvSpPr>
        <p:spPr>
          <a:xfrm>
            <a:off x="7608057" y="2458980"/>
            <a:ext cx="846900" cy="162900"/>
          </a:xfrm>
          <a:prstGeom prst="rect">
            <a:avLst/>
          </a:prstGeom>
          <a:blipFill rotWithShape="1">
            <a:blip r:embed="rId5">
              <a:alphaModFix/>
            </a:blip>
            <a:stretch>
              <a:fillRect l="-2079" t="-5358" b="-21419"/>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865">
                <a:latin typeface="Arial"/>
                <a:ea typeface="Arial"/>
                <a:cs typeface="Arial"/>
                <a:sym typeface="Arial"/>
              </a:rPr>
              <a:t> </a:t>
            </a:r>
            <a:endParaRPr sz="672"/>
          </a:p>
        </p:txBody>
      </p:sp>
      <p:sp>
        <p:nvSpPr>
          <p:cNvPr id="399" name="Google Shape;399;p5"/>
          <p:cNvSpPr txBox="1"/>
          <p:nvPr/>
        </p:nvSpPr>
        <p:spPr>
          <a:xfrm>
            <a:off x="7649401" y="2708074"/>
            <a:ext cx="846900" cy="162900"/>
          </a:xfrm>
          <a:prstGeom prst="rect">
            <a:avLst/>
          </a:prstGeom>
          <a:blipFill rotWithShape="1">
            <a:blip r:embed="rId6">
              <a:alphaModFix/>
            </a:blip>
            <a:stretch>
              <a:fillRect l="-1729" t="-5358" b="-21419"/>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865">
                <a:latin typeface="Arial"/>
                <a:ea typeface="Arial"/>
                <a:cs typeface="Arial"/>
                <a:sym typeface="Arial"/>
              </a:rPr>
              <a:t> </a:t>
            </a:r>
            <a:endParaRPr sz="672"/>
          </a:p>
        </p:txBody>
      </p:sp>
      <p:sp>
        <p:nvSpPr>
          <p:cNvPr id="400" name="Google Shape;400;p5"/>
          <p:cNvSpPr txBox="1"/>
          <p:nvPr/>
        </p:nvSpPr>
        <p:spPr>
          <a:xfrm>
            <a:off x="7556852" y="3416078"/>
            <a:ext cx="846900" cy="162900"/>
          </a:xfrm>
          <a:prstGeom prst="rect">
            <a:avLst/>
          </a:prstGeom>
          <a:blipFill rotWithShape="1">
            <a:blip r:embed="rId7">
              <a:alphaModFix/>
            </a:blip>
            <a:stretch>
              <a:fillRect l="-1719" t="-5448" b="-23638"/>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865">
                <a:latin typeface="Arial"/>
                <a:ea typeface="Arial"/>
                <a:cs typeface="Arial"/>
                <a:sym typeface="Arial"/>
              </a:rPr>
              <a:t> </a:t>
            </a:r>
            <a:endParaRPr sz="672"/>
          </a:p>
        </p:txBody>
      </p:sp>
      <p:sp>
        <p:nvSpPr>
          <p:cNvPr id="401" name="Google Shape;401;p5"/>
          <p:cNvSpPr txBox="1"/>
          <p:nvPr/>
        </p:nvSpPr>
        <p:spPr>
          <a:xfrm>
            <a:off x="7341073" y="3671168"/>
            <a:ext cx="1155300" cy="162900"/>
          </a:xfrm>
          <a:prstGeom prst="rect">
            <a:avLst/>
          </a:prstGeom>
          <a:blipFill rotWithShape="1">
            <a:blip r:embed="rId8">
              <a:alphaModFix/>
            </a:blip>
            <a:stretch>
              <a:fillRect l="-1519" t="-5448" b="-23638"/>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865">
                <a:latin typeface="Arial"/>
                <a:ea typeface="Arial"/>
                <a:cs typeface="Arial"/>
                <a:sym typeface="Arial"/>
              </a:rPr>
              <a:t> </a:t>
            </a:r>
            <a:endParaRPr sz="672"/>
          </a:p>
        </p:txBody>
      </p:sp>
      <p:cxnSp>
        <p:nvCxnSpPr>
          <p:cNvPr id="402" name="Google Shape;402;p5"/>
          <p:cNvCxnSpPr/>
          <p:nvPr/>
        </p:nvCxnSpPr>
        <p:spPr>
          <a:xfrm>
            <a:off x="7534686" y="2365823"/>
            <a:ext cx="679500" cy="0"/>
          </a:xfrm>
          <a:prstGeom prst="straightConnector1">
            <a:avLst/>
          </a:prstGeom>
          <a:noFill/>
          <a:ln w="9150" cap="flat" cmpd="sng">
            <a:solidFill>
              <a:srgbClr val="000033"/>
            </a:solidFill>
            <a:prstDash val="solid"/>
            <a:miter lim="800000"/>
            <a:headEnd type="none" w="sm" len="sm"/>
            <a:tailEnd type="none" w="sm" len="sm"/>
          </a:ln>
        </p:spPr>
      </p:cxnSp>
      <p:cxnSp>
        <p:nvCxnSpPr>
          <p:cNvPr id="403" name="Google Shape;403;p5"/>
          <p:cNvCxnSpPr/>
          <p:nvPr/>
        </p:nvCxnSpPr>
        <p:spPr>
          <a:xfrm>
            <a:off x="7633698" y="2607399"/>
            <a:ext cx="531300" cy="0"/>
          </a:xfrm>
          <a:prstGeom prst="straightConnector1">
            <a:avLst/>
          </a:prstGeom>
          <a:noFill/>
          <a:ln w="9150" cap="flat" cmpd="sng">
            <a:solidFill>
              <a:srgbClr val="000033"/>
            </a:solidFill>
            <a:prstDash val="solid"/>
            <a:miter lim="800000"/>
            <a:headEnd type="none" w="sm" len="sm"/>
            <a:tailEnd type="none" w="sm" len="sm"/>
          </a:ln>
        </p:spPr>
      </p:cxnSp>
      <p:cxnSp>
        <p:nvCxnSpPr>
          <p:cNvPr id="404" name="Google Shape;404;p5"/>
          <p:cNvCxnSpPr/>
          <p:nvPr/>
        </p:nvCxnSpPr>
        <p:spPr>
          <a:xfrm>
            <a:off x="7638509" y="2857093"/>
            <a:ext cx="660900" cy="0"/>
          </a:xfrm>
          <a:prstGeom prst="straightConnector1">
            <a:avLst/>
          </a:prstGeom>
          <a:noFill/>
          <a:ln w="9150" cap="flat" cmpd="sng">
            <a:solidFill>
              <a:srgbClr val="000033"/>
            </a:solidFill>
            <a:prstDash val="solid"/>
            <a:miter lim="800000"/>
            <a:headEnd type="none" w="sm" len="sm"/>
            <a:tailEnd type="none" w="sm" len="sm"/>
          </a:ln>
        </p:spPr>
      </p:cxnSp>
      <p:cxnSp>
        <p:nvCxnSpPr>
          <p:cNvPr id="405" name="Google Shape;405;p5"/>
          <p:cNvCxnSpPr/>
          <p:nvPr/>
        </p:nvCxnSpPr>
        <p:spPr>
          <a:xfrm>
            <a:off x="7556852" y="3570748"/>
            <a:ext cx="657300" cy="0"/>
          </a:xfrm>
          <a:prstGeom prst="straightConnector1">
            <a:avLst/>
          </a:prstGeom>
          <a:noFill/>
          <a:ln w="9150" cap="flat" cmpd="sng">
            <a:solidFill>
              <a:srgbClr val="000033"/>
            </a:solidFill>
            <a:prstDash val="solid"/>
            <a:miter lim="800000"/>
            <a:headEnd type="none" w="sm" len="sm"/>
            <a:tailEnd type="none" w="sm" len="sm"/>
          </a:ln>
        </p:spPr>
      </p:cxnSp>
      <p:cxnSp>
        <p:nvCxnSpPr>
          <p:cNvPr id="406" name="Google Shape;406;p5"/>
          <p:cNvCxnSpPr/>
          <p:nvPr/>
        </p:nvCxnSpPr>
        <p:spPr>
          <a:xfrm>
            <a:off x="7341073" y="3821283"/>
            <a:ext cx="996600" cy="0"/>
          </a:xfrm>
          <a:prstGeom prst="straightConnector1">
            <a:avLst/>
          </a:prstGeom>
          <a:noFill/>
          <a:ln w="9150" cap="flat" cmpd="sng">
            <a:solidFill>
              <a:srgbClr val="000033"/>
            </a:solidFill>
            <a:prstDash val="solid"/>
            <a:miter lim="800000"/>
            <a:headEnd type="none" w="sm" len="sm"/>
            <a:tailEnd type="none" w="sm" len="sm"/>
          </a:ln>
        </p:spPr>
      </p:cxnSp>
      <p:cxnSp>
        <p:nvCxnSpPr>
          <p:cNvPr id="407" name="Google Shape;407;p5"/>
          <p:cNvCxnSpPr/>
          <p:nvPr/>
        </p:nvCxnSpPr>
        <p:spPr>
          <a:xfrm>
            <a:off x="6379807" y="3308430"/>
            <a:ext cx="537000" cy="757800"/>
          </a:xfrm>
          <a:prstGeom prst="straightConnector1">
            <a:avLst/>
          </a:prstGeom>
          <a:noFill/>
          <a:ln w="9150" cap="flat" cmpd="sng">
            <a:solidFill>
              <a:srgbClr val="000033"/>
            </a:solidFill>
            <a:prstDash val="solid"/>
            <a:miter lim="800000"/>
            <a:headEnd type="none" w="sm" len="sm"/>
            <a:tailEnd type="none" w="sm" len="sm"/>
          </a:ln>
        </p:spPr>
      </p:cxnSp>
      <p:sp>
        <p:nvSpPr>
          <p:cNvPr id="408" name="Google Shape;408;p5"/>
          <p:cNvSpPr txBox="1"/>
          <p:nvPr/>
        </p:nvSpPr>
        <p:spPr>
          <a:xfrm>
            <a:off x="6940662" y="3906913"/>
            <a:ext cx="1250700" cy="162900"/>
          </a:xfrm>
          <a:prstGeom prst="rect">
            <a:avLst/>
          </a:prstGeom>
          <a:noFill/>
          <a:ln>
            <a:noFill/>
          </a:ln>
        </p:spPr>
        <p:txBody>
          <a:bodyPr spcFirstLastPara="1" wrap="square" lIns="43950" tIns="21975" rIns="43950" bIns="21975" anchor="t" anchorCtr="0">
            <a:spAutoFit/>
          </a:bodyPr>
          <a:lstStyle/>
          <a:p>
            <a:pPr marL="0" marR="0" lvl="0" indent="0" algn="l" rtl="0">
              <a:spcBef>
                <a:spcPts val="0"/>
              </a:spcBef>
              <a:spcAft>
                <a:spcPts val="0"/>
              </a:spcAft>
              <a:buNone/>
            </a:pPr>
            <a:r>
              <a:rPr lang="en-GB" sz="768" i="1">
                <a:solidFill>
                  <a:srgbClr val="000000"/>
                </a:solidFill>
                <a:latin typeface="Play"/>
                <a:ea typeface="Play"/>
                <a:cs typeface="Play"/>
                <a:sym typeface="Play"/>
              </a:rPr>
              <a:t>Intergranular bubbles</a:t>
            </a:r>
            <a:endParaRPr sz="768" i="1">
              <a:solidFill>
                <a:srgbClr val="000000"/>
              </a:solidFill>
              <a:latin typeface="Play"/>
              <a:ea typeface="Play"/>
              <a:cs typeface="Play"/>
              <a:sym typeface="Play"/>
            </a:endParaRPr>
          </a:p>
        </p:txBody>
      </p:sp>
      <p:cxnSp>
        <p:nvCxnSpPr>
          <p:cNvPr id="409" name="Google Shape;409;p5"/>
          <p:cNvCxnSpPr/>
          <p:nvPr/>
        </p:nvCxnSpPr>
        <p:spPr>
          <a:xfrm>
            <a:off x="6917908" y="4070979"/>
            <a:ext cx="996600" cy="0"/>
          </a:xfrm>
          <a:prstGeom prst="straightConnector1">
            <a:avLst/>
          </a:prstGeom>
          <a:noFill/>
          <a:ln w="9150" cap="flat" cmpd="sng">
            <a:solidFill>
              <a:srgbClr val="000033"/>
            </a:solidFill>
            <a:prstDash val="solid"/>
            <a:miter lim="800000"/>
            <a:headEnd type="none" w="sm" len="sm"/>
            <a:tailEnd type="none" w="sm" len="sm"/>
          </a:ln>
        </p:spPr>
      </p:cxnSp>
      <p:cxnSp>
        <p:nvCxnSpPr>
          <p:cNvPr id="410" name="Google Shape;410;p5"/>
          <p:cNvCxnSpPr/>
          <p:nvPr/>
        </p:nvCxnSpPr>
        <p:spPr>
          <a:xfrm>
            <a:off x="7399397" y="3110538"/>
            <a:ext cx="257100" cy="147300"/>
          </a:xfrm>
          <a:prstGeom prst="straightConnector1">
            <a:avLst/>
          </a:prstGeom>
          <a:noFill/>
          <a:ln w="9150" cap="flat" cmpd="sng">
            <a:solidFill>
              <a:srgbClr val="000033"/>
            </a:solidFill>
            <a:prstDash val="solid"/>
            <a:miter lim="800000"/>
            <a:headEnd type="none" w="sm" len="sm"/>
            <a:tailEnd type="none" w="sm" len="sm"/>
          </a:ln>
        </p:spPr>
      </p:cxnSp>
      <p:cxnSp>
        <p:nvCxnSpPr>
          <p:cNvPr id="411" name="Google Shape;411;p5"/>
          <p:cNvCxnSpPr/>
          <p:nvPr/>
        </p:nvCxnSpPr>
        <p:spPr>
          <a:xfrm>
            <a:off x="7659656" y="3256889"/>
            <a:ext cx="679500" cy="0"/>
          </a:xfrm>
          <a:prstGeom prst="straightConnector1">
            <a:avLst/>
          </a:prstGeom>
          <a:noFill/>
          <a:ln w="9150" cap="flat" cmpd="sng">
            <a:solidFill>
              <a:srgbClr val="000033"/>
            </a:solidFill>
            <a:prstDash val="solid"/>
            <a:miter lim="800000"/>
            <a:headEnd type="none" w="sm" len="sm"/>
            <a:tailEnd type="none" w="sm" len="sm"/>
          </a:ln>
        </p:spPr>
      </p:cxnSp>
      <p:sp>
        <p:nvSpPr>
          <p:cNvPr id="412" name="Google Shape;412;p5"/>
          <p:cNvSpPr txBox="1"/>
          <p:nvPr/>
        </p:nvSpPr>
        <p:spPr>
          <a:xfrm>
            <a:off x="7666870" y="3092500"/>
            <a:ext cx="957000" cy="162900"/>
          </a:xfrm>
          <a:prstGeom prst="rect">
            <a:avLst/>
          </a:prstGeom>
          <a:noFill/>
          <a:ln>
            <a:noFill/>
          </a:ln>
        </p:spPr>
        <p:txBody>
          <a:bodyPr spcFirstLastPara="1" wrap="square" lIns="43950" tIns="21975" rIns="43950" bIns="21975" anchor="t" anchorCtr="0">
            <a:spAutoFit/>
          </a:bodyPr>
          <a:lstStyle/>
          <a:p>
            <a:pPr marL="0" marR="0" lvl="0" indent="0" algn="l" rtl="0">
              <a:spcBef>
                <a:spcPts val="0"/>
              </a:spcBef>
              <a:spcAft>
                <a:spcPts val="0"/>
              </a:spcAft>
              <a:buNone/>
            </a:pPr>
            <a:r>
              <a:rPr lang="en-GB" sz="768" i="1">
                <a:solidFill>
                  <a:srgbClr val="000000"/>
                </a:solidFill>
                <a:latin typeface="Play"/>
                <a:ea typeface="Play"/>
                <a:cs typeface="Play"/>
                <a:sym typeface="Play"/>
              </a:rPr>
              <a:t>Grain boundary</a:t>
            </a:r>
            <a:endParaRPr sz="768" i="1">
              <a:solidFill>
                <a:srgbClr val="000000"/>
              </a:solidFill>
              <a:latin typeface="Play"/>
              <a:ea typeface="Play"/>
              <a:cs typeface="Play"/>
              <a:sym typeface="Play"/>
            </a:endParaRPr>
          </a:p>
        </p:txBody>
      </p:sp>
      <p:cxnSp>
        <p:nvCxnSpPr>
          <p:cNvPr id="413" name="Google Shape;413;p5"/>
          <p:cNvCxnSpPr/>
          <p:nvPr/>
        </p:nvCxnSpPr>
        <p:spPr>
          <a:xfrm flipH="1">
            <a:off x="6839089" y="1933619"/>
            <a:ext cx="354600" cy="409200"/>
          </a:xfrm>
          <a:prstGeom prst="straightConnector1">
            <a:avLst/>
          </a:prstGeom>
          <a:noFill/>
          <a:ln w="9150" cap="flat" cmpd="sng">
            <a:solidFill>
              <a:srgbClr val="000033"/>
            </a:solidFill>
            <a:prstDash val="solid"/>
            <a:miter lim="800000"/>
            <a:headEnd type="none" w="sm" len="sm"/>
            <a:tailEnd type="none" w="sm" len="sm"/>
          </a:ln>
        </p:spPr>
      </p:cxnSp>
      <p:sp>
        <p:nvSpPr>
          <p:cNvPr id="414" name="Google Shape;414;p5"/>
          <p:cNvSpPr txBox="1"/>
          <p:nvPr/>
        </p:nvSpPr>
        <p:spPr>
          <a:xfrm>
            <a:off x="7177903" y="1774429"/>
            <a:ext cx="1084500" cy="162900"/>
          </a:xfrm>
          <a:prstGeom prst="rect">
            <a:avLst/>
          </a:prstGeom>
          <a:blipFill rotWithShape="1">
            <a:blip r:embed="rId9">
              <a:alphaModFix/>
            </a:blip>
            <a:stretch>
              <a:fillRect l="-1349" t="-5358" b="-21419"/>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865">
                <a:latin typeface="Arial"/>
                <a:ea typeface="Arial"/>
                <a:cs typeface="Arial"/>
                <a:sym typeface="Arial"/>
              </a:rPr>
              <a:t> </a:t>
            </a:r>
            <a:endParaRPr sz="672"/>
          </a:p>
        </p:txBody>
      </p:sp>
      <p:cxnSp>
        <p:nvCxnSpPr>
          <p:cNvPr id="415" name="Google Shape;415;p5"/>
          <p:cNvCxnSpPr/>
          <p:nvPr/>
        </p:nvCxnSpPr>
        <p:spPr>
          <a:xfrm>
            <a:off x="7193688" y="1934074"/>
            <a:ext cx="1068600" cy="0"/>
          </a:xfrm>
          <a:prstGeom prst="straightConnector1">
            <a:avLst/>
          </a:prstGeom>
          <a:noFill/>
          <a:ln w="9150" cap="flat" cmpd="sng">
            <a:solidFill>
              <a:srgbClr val="000033"/>
            </a:solidFill>
            <a:prstDash val="solid"/>
            <a:miter lim="800000"/>
            <a:headEnd type="none" w="sm" len="sm"/>
            <a:tailEnd type="none" w="sm" len="sm"/>
          </a:ln>
        </p:spPr>
      </p:cxnSp>
      <p:pic>
        <p:nvPicPr>
          <p:cNvPr id="416" name="Google Shape;416;p5"/>
          <p:cNvPicPr preferRelativeResize="0"/>
          <p:nvPr/>
        </p:nvPicPr>
        <p:blipFill rotWithShape="1">
          <a:blip r:embed="rId3">
            <a:alphaModFix/>
          </a:blip>
          <a:srcRect/>
          <a:stretch/>
        </p:blipFill>
        <p:spPr>
          <a:xfrm>
            <a:off x="6917066" y="3071082"/>
            <a:ext cx="67378" cy="67378"/>
          </a:xfrm>
          <a:prstGeom prst="rect">
            <a:avLst/>
          </a:prstGeom>
          <a:noFill/>
          <a:ln>
            <a:noFill/>
          </a:ln>
        </p:spPr>
      </p:pic>
      <p:cxnSp>
        <p:nvCxnSpPr>
          <p:cNvPr id="417" name="Google Shape;417;p5"/>
          <p:cNvCxnSpPr>
            <a:endCxn id="320" idx="4"/>
          </p:cNvCxnSpPr>
          <p:nvPr/>
        </p:nvCxnSpPr>
        <p:spPr>
          <a:xfrm rot="10800000">
            <a:off x="6968247" y="2895704"/>
            <a:ext cx="112500" cy="251700"/>
          </a:xfrm>
          <a:prstGeom prst="straightConnector1">
            <a:avLst/>
          </a:prstGeom>
          <a:noFill/>
          <a:ln w="9150" cap="flat" cmpd="sng">
            <a:solidFill>
              <a:srgbClr val="000033"/>
            </a:solidFill>
            <a:prstDash val="solid"/>
            <a:miter lim="800000"/>
            <a:headEnd type="none" w="sm" len="sm"/>
            <a:tailEnd type="triangle" w="med" len="med"/>
          </a:ln>
        </p:spPr>
      </p:cxnSp>
      <p:cxnSp>
        <p:nvCxnSpPr>
          <p:cNvPr id="418" name="Google Shape;418;p5"/>
          <p:cNvCxnSpPr>
            <a:stCxn id="320" idx="5"/>
          </p:cNvCxnSpPr>
          <p:nvPr/>
        </p:nvCxnSpPr>
        <p:spPr>
          <a:xfrm>
            <a:off x="7024462" y="2872419"/>
            <a:ext cx="228000" cy="85800"/>
          </a:xfrm>
          <a:prstGeom prst="straightConnector1">
            <a:avLst/>
          </a:prstGeom>
          <a:noFill/>
          <a:ln w="9150" cap="flat" cmpd="sng">
            <a:solidFill>
              <a:srgbClr val="000033"/>
            </a:solidFill>
            <a:prstDash val="solid"/>
            <a:miter lim="800000"/>
            <a:headEnd type="none" w="sm" len="sm"/>
            <a:tailEnd type="triangle" w="med" len="med"/>
          </a:ln>
        </p:spPr>
      </p:cxnSp>
      <p:sp>
        <p:nvSpPr>
          <p:cNvPr id="419" name="Google Shape;419;p5"/>
          <p:cNvSpPr/>
          <p:nvPr/>
        </p:nvSpPr>
        <p:spPr>
          <a:xfrm rot="5400000">
            <a:off x="3292705" y="2300095"/>
            <a:ext cx="1081829" cy="1215308"/>
          </a:xfrm>
          <a:prstGeom prst="flowChartOnlineStorage">
            <a:avLst/>
          </a:prstGeom>
          <a:solidFill>
            <a:srgbClr val="747474"/>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420" name="Google Shape;420;p5"/>
          <p:cNvSpPr/>
          <p:nvPr/>
        </p:nvSpPr>
        <p:spPr>
          <a:xfrm rot="5400000">
            <a:off x="3308985" y="2392349"/>
            <a:ext cx="1049166" cy="1063461"/>
          </a:xfrm>
          <a:prstGeom prst="flowChartOnlineStorage">
            <a:avLst/>
          </a:prstGeom>
          <a:solidFill>
            <a:srgbClr val="BFBFBF"/>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421" name="Google Shape;421;p5"/>
          <p:cNvSpPr/>
          <p:nvPr/>
        </p:nvSpPr>
        <p:spPr>
          <a:xfrm>
            <a:off x="3377707" y="2433935"/>
            <a:ext cx="912000" cy="1080000"/>
          </a:xfrm>
          <a:prstGeom prst="can">
            <a:avLst>
              <a:gd name="adj" fmla="val 31808"/>
            </a:avLst>
          </a:prstGeom>
          <a:solidFill>
            <a:srgbClr val="3A3A3A"/>
          </a:solidFill>
          <a:ln w="8825" cap="flat" cmpd="sng">
            <a:solidFill>
              <a:srgbClr val="191919"/>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422" name="Google Shape;422;p5"/>
          <p:cNvGrpSpPr/>
          <p:nvPr/>
        </p:nvGrpSpPr>
        <p:grpSpPr>
          <a:xfrm>
            <a:off x="3710547" y="2004488"/>
            <a:ext cx="394891" cy="518823"/>
            <a:chOff x="3796641" y="775621"/>
            <a:chExt cx="792000" cy="1119600"/>
          </a:xfrm>
        </p:grpSpPr>
        <p:cxnSp>
          <p:nvCxnSpPr>
            <p:cNvPr id="423" name="Google Shape;423;p5"/>
            <p:cNvCxnSpPr>
              <a:stCxn id="424" idx="2"/>
            </p:cNvCxnSpPr>
            <p:nvPr/>
          </p:nvCxnSpPr>
          <p:spPr>
            <a:xfrm flipH="1">
              <a:off x="4032441" y="1063621"/>
              <a:ext cx="160200" cy="831600"/>
            </a:xfrm>
            <a:prstGeom prst="straightConnector1">
              <a:avLst/>
            </a:prstGeom>
            <a:noFill/>
            <a:ln w="5900" cap="flat" cmpd="sng">
              <a:solidFill>
                <a:srgbClr val="262626"/>
              </a:solidFill>
              <a:prstDash val="solid"/>
              <a:miter lim="800000"/>
              <a:headEnd type="none" w="sm" len="sm"/>
              <a:tailEnd type="none" w="sm" len="sm"/>
            </a:ln>
          </p:spPr>
        </p:cxnSp>
        <p:sp>
          <p:nvSpPr>
            <p:cNvPr id="424" name="Google Shape;424;p5"/>
            <p:cNvSpPr/>
            <p:nvPr/>
          </p:nvSpPr>
          <p:spPr>
            <a:xfrm>
              <a:off x="3796641" y="77562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Pellet</a:t>
              </a:r>
              <a:endParaRPr sz="555">
                <a:solidFill>
                  <a:srgbClr val="262626"/>
                </a:solidFill>
                <a:latin typeface="Arial"/>
                <a:ea typeface="Arial"/>
                <a:cs typeface="Arial"/>
                <a:sym typeface="Arial"/>
              </a:endParaRPr>
            </a:p>
          </p:txBody>
        </p:sp>
      </p:grpSp>
      <p:cxnSp>
        <p:nvCxnSpPr>
          <p:cNvPr id="425" name="Google Shape;425;p5"/>
          <p:cNvCxnSpPr/>
          <p:nvPr/>
        </p:nvCxnSpPr>
        <p:spPr>
          <a:xfrm rot="10800000" flipH="1">
            <a:off x="4363716" y="2548712"/>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426" name="Google Shape;426;p5"/>
          <p:cNvGrpSpPr/>
          <p:nvPr/>
        </p:nvGrpSpPr>
        <p:grpSpPr>
          <a:xfrm>
            <a:off x="4364978" y="3122166"/>
            <a:ext cx="77183" cy="323764"/>
            <a:chOff x="9755471" y="3187529"/>
            <a:chExt cx="154800" cy="698671"/>
          </a:xfrm>
        </p:grpSpPr>
        <p:cxnSp>
          <p:nvCxnSpPr>
            <p:cNvPr id="427" name="Google Shape;427;p5"/>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428" name="Google Shape;428;p5"/>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cxnSp>
        <p:nvCxnSpPr>
          <p:cNvPr id="429" name="Google Shape;429;p5"/>
          <p:cNvCxnSpPr/>
          <p:nvPr/>
        </p:nvCxnSpPr>
        <p:spPr>
          <a:xfrm>
            <a:off x="3225967" y="2548740"/>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430" name="Google Shape;430;p5"/>
          <p:cNvGrpSpPr/>
          <p:nvPr/>
        </p:nvGrpSpPr>
        <p:grpSpPr>
          <a:xfrm>
            <a:off x="3226117" y="3122165"/>
            <a:ext cx="77183" cy="323764"/>
            <a:chOff x="9755471" y="3187529"/>
            <a:chExt cx="154800" cy="698671"/>
          </a:xfrm>
        </p:grpSpPr>
        <p:cxnSp>
          <p:nvCxnSpPr>
            <p:cNvPr id="431" name="Google Shape;431;p5"/>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432" name="Google Shape;432;p5"/>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grpSp>
        <p:nvGrpSpPr>
          <p:cNvPr id="433" name="Google Shape;433;p5"/>
          <p:cNvGrpSpPr/>
          <p:nvPr/>
        </p:nvGrpSpPr>
        <p:grpSpPr>
          <a:xfrm>
            <a:off x="2654815" y="2399585"/>
            <a:ext cx="602957" cy="414558"/>
            <a:chOff x="2866933" y="933607"/>
            <a:chExt cx="1209300" cy="894600"/>
          </a:xfrm>
        </p:grpSpPr>
        <p:cxnSp>
          <p:nvCxnSpPr>
            <p:cNvPr id="434" name="Google Shape;434;p5"/>
            <p:cNvCxnSpPr>
              <a:stCxn id="435" idx="3"/>
            </p:cNvCxnSpPr>
            <p:nvPr/>
          </p:nvCxnSpPr>
          <p:spPr>
            <a:xfrm>
              <a:off x="3658933" y="1077607"/>
              <a:ext cx="417300" cy="750600"/>
            </a:xfrm>
            <a:prstGeom prst="straightConnector1">
              <a:avLst/>
            </a:prstGeom>
            <a:noFill/>
            <a:ln w="5900" cap="flat" cmpd="sng">
              <a:solidFill>
                <a:srgbClr val="262626"/>
              </a:solidFill>
              <a:prstDash val="solid"/>
              <a:miter lim="800000"/>
              <a:headEnd type="none" w="sm" len="sm"/>
              <a:tailEnd type="none" w="sm" len="sm"/>
            </a:ln>
          </p:spPr>
        </p:cxnSp>
        <p:sp>
          <p:nvSpPr>
            <p:cNvPr id="435" name="Google Shape;435;p5"/>
            <p:cNvSpPr/>
            <p:nvPr/>
          </p:nvSpPr>
          <p:spPr>
            <a:xfrm>
              <a:off x="2866933" y="933607"/>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Cladding</a:t>
              </a:r>
              <a:endParaRPr sz="555">
                <a:solidFill>
                  <a:srgbClr val="262626"/>
                </a:solidFill>
                <a:latin typeface="Arial"/>
                <a:ea typeface="Arial"/>
                <a:cs typeface="Arial"/>
                <a:sym typeface="Arial"/>
              </a:endParaRPr>
            </a:p>
          </p:txBody>
        </p:sp>
      </p:grpSp>
      <p:grpSp>
        <p:nvGrpSpPr>
          <p:cNvPr id="436" name="Google Shape;436;p5"/>
          <p:cNvGrpSpPr/>
          <p:nvPr/>
        </p:nvGrpSpPr>
        <p:grpSpPr>
          <a:xfrm>
            <a:off x="3061513" y="2035378"/>
            <a:ext cx="394891" cy="701356"/>
            <a:chOff x="4708781" y="1062201"/>
            <a:chExt cx="792000" cy="1513500"/>
          </a:xfrm>
        </p:grpSpPr>
        <p:cxnSp>
          <p:nvCxnSpPr>
            <p:cNvPr id="437" name="Google Shape;437;p5"/>
            <p:cNvCxnSpPr>
              <a:stCxn id="438" idx="2"/>
            </p:cNvCxnSpPr>
            <p:nvPr/>
          </p:nvCxnSpPr>
          <p:spPr>
            <a:xfrm>
              <a:off x="5104781" y="1350201"/>
              <a:ext cx="190500" cy="1225500"/>
            </a:xfrm>
            <a:prstGeom prst="straightConnector1">
              <a:avLst/>
            </a:prstGeom>
            <a:noFill/>
            <a:ln w="5900" cap="flat" cmpd="sng">
              <a:solidFill>
                <a:srgbClr val="262626"/>
              </a:solidFill>
              <a:prstDash val="solid"/>
              <a:miter lim="800000"/>
              <a:headEnd type="none" w="sm" len="sm"/>
              <a:tailEnd type="none" w="sm" len="sm"/>
            </a:ln>
          </p:spPr>
        </p:cxnSp>
        <p:sp>
          <p:nvSpPr>
            <p:cNvPr id="438" name="Google Shape;438;p5"/>
            <p:cNvSpPr/>
            <p:nvPr/>
          </p:nvSpPr>
          <p:spPr>
            <a:xfrm>
              <a:off x="4708781" y="106220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Gap</a:t>
              </a:r>
              <a:endParaRPr sz="555">
                <a:solidFill>
                  <a:srgbClr val="262626"/>
                </a:solidFill>
                <a:latin typeface="Arial"/>
                <a:ea typeface="Arial"/>
                <a:cs typeface="Arial"/>
                <a:sym typeface="Arial"/>
              </a:endParaRPr>
            </a:p>
          </p:txBody>
        </p:sp>
      </p:grpSp>
      <p:cxnSp>
        <p:nvCxnSpPr>
          <p:cNvPr id="439" name="Google Shape;439;p5"/>
          <p:cNvCxnSpPr/>
          <p:nvPr/>
        </p:nvCxnSpPr>
        <p:spPr>
          <a:xfrm rot="10800000" flipH="1">
            <a:off x="3975089" y="2363914"/>
            <a:ext cx="940500" cy="536400"/>
          </a:xfrm>
          <a:prstGeom prst="straightConnector1">
            <a:avLst/>
          </a:prstGeom>
          <a:noFill/>
          <a:ln w="8825" cap="flat" cmpd="sng">
            <a:solidFill>
              <a:srgbClr val="000000"/>
            </a:solidFill>
            <a:prstDash val="solid"/>
            <a:miter lim="800000"/>
            <a:headEnd type="none" w="sm" len="sm"/>
            <a:tailEnd type="none" w="sm" len="sm"/>
          </a:ln>
        </p:spPr>
      </p:cxnSp>
      <p:cxnSp>
        <p:nvCxnSpPr>
          <p:cNvPr id="440" name="Google Shape;440;p5"/>
          <p:cNvCxnSpPr/>
          <p:nvPr/>
        </p:nvCxnSpPr>
        <p:spPr>
          <a:xfrm>
            <a:off x="3975089" y="3056488"/>
            <a:ext cx="940500" cy="150000"/>
          </a:xfrm>
          <a:prstGeom prst="straightConnector1">
            <a:avLst/>
          </a:prstGeom>
          <a:noFill/>
          <a:ln w="8825" cap="flat" cmpd="sng">
            <a:solidFill>
              <a:srgbClr val="000000"/>
            </a:solidFill>
            <a:prstDash val="solid"/>
            <a:miter lim="800000"/>
            <a:headEnd type="none" w="sm" len="sm"/>
            <a:tailEnd type="none" w="sm" len="sm"/>
          </a:ln>
        </p:spPr>
      </p:cxnSp>
      <p:sp>
        <p:nvSpPr>
          <p:cNvPr id="441" name="Google Shape;441;p5"/>
          <p:cNvSpPr/>
          <p:nvPr/>
        </p:nvSpPr>
        <p:spPr>
          <a:xfrm>
            <a:off x="4915582" y="2363735"/>
            <a:ext cx="901800" cy="842700"/>
          </a:xfrm>
          <a:prstGeom prst="rect">
            <a:avLst/>
          </a:prstGeom>
          <a:solidFill>
            <a:srgbClr val="747474"/>
          </a:solidFill>
          <a:ln w="8825" cap="flat" cmpd="sng">
            <a:solidFill>
              <a:srgbClr val="08283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442" name="Google Shape;442;p5"/>
          <p:cNvGrpSpPr/>
          <p:nvPr/>
        </p:nvGrpSpPr>
        <p:grpSpPr>
          <a:xfrm>
            <a:off x="5320408" y="2363800"/>
            <a:ext cx="496613" cy="458486"/>
            <a:chOff x="861338" y="1593726"/>
            <a:chExt cx="2895700" cy="2812800"/>
          </a:xfrm>
        </p:grpSpPr>
        <p:pic>
          <p:nvPicPr>
            <p:cNvPr id="443" name="Google Shape;443;p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444" name="Google Shape;444;p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445" name="Google Shape;445;p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446" name="Google Shape;446;p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447" name="Google Shape;447;p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448" name="Google Shape;448;p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449" name="Google Shape;449;p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450" name="Google Shape;450;p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51" name="Google Shape;451;p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52" name="Google Shape;452;p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53" name="Google Shape;453;p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54" name="Google Shape;454;p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55" name="Google Shape;455;p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56" name="Google Shape;456;p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57" name="Google Shape;457;p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58" name="Google Shape;458;p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59" name="Google Shape;459;p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60" name="Google Shape;460;p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61" name="Google Shape;461;p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62" name="Google Shape;462;p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63" name="Google Shape;463;p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64" name="Google Shape;464;p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65" name="Google Shape;465;p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66" name="Google Shape;466;p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67" name="Google Shape;467;p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68" name="Google Shape;468;p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69" name="Google Shape;469;p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70" name="Google Shape;470;p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71" name="Google Shape;471;p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72" name="Google Shape;472;p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73" name="Google Shape;473;p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74" name="Google Shape;474;p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75" name="Google Shape;475;p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76" name="Google Shape;476;p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77" name="Google Shape;477;p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78" name="Google Shape;478;p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79" name="Google Shape;479;p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0" name="Google Shape;480;p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1" name="Google Shape;481;p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2" name="Google Shape;482;p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3" name="Google Shape;483;p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4" name="Google Shape;484;p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5" name="Google Shape;485;p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6" name="Google Shape;486;p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7" name="Google Shape;487;p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8" name="Google Shape;488;p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89" name="Google Shape;489;p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90" name="Google Shape;490;p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91" name="Google Shape;491;p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92" name="Google Shape;492;p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93" name="Google Shape;493;p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94" name="Google Shape;494;p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95" name="Google Shape;495;p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96" name="Google Shape;496;p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497" name="Google Shape;497;p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98" name="Google Shape;498;p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499" name="Google Shape;499;p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00" name="Google Shape;500;p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01" name="Google Shape;501;p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02" name="Google Shape;502;p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03" name="Google Shape;503;p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04" name="Google Shape;504;p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05" name="Google Shape;505;p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06" name="Google Shape;506;p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07" name="Google Shape;507;p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08" name="Google Shape;508;p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09" name="Google Shape;509;p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10" name="Google Shape;510;p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11" name="Google Shape;511;p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12" name="Google Shape;512;p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13" name="Google Shape;513;p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14" name="Google Shape;514;p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15" name="Google Shape;515;p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16" name="Google Shape;516;p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17" name="Google Shape;517;p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18" name="Google Shape;518;p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19" name="Google Shape;519;p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20" name="Google Shape;520;p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21" name="Google Shape;521;p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22" name="Google Shape;522;p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23" name="Google Shape;523;p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24" name="Google Shape;524;p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25" name="Google Shape;525;p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26" name="Google Shape;526;p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527" name="Google Shape;527;p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528" name="Google Shape;528;p5"/>
          <p:cNvGrpSpPr/>
          <p:nvPr/>
        </p:nvGrpSpPr>
        <p:grpSpPr>
          <a:xfrm>
            <a:off x="4910032" y="2372523"/>
            <a:ext cx="429722" cy="396324"/>
            <a:chOff x="861338" y="1593726"/>
            <a:chExt cx="2895700" cy="2812800"/>
          </a:xfrm>
        </p:grpSpPr>
        <p:pic>
          <p:nvPicPr>
            <p:cNvPr id="529" name="Google Shape;529;p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530" name="Google Shape;530;p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531" name="Google Shape;531;p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532" name="Google Shape;532;p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533" name="Google Shape;533;p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534" name="Google Shape;534;p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535" name="Google Shape;535;p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536" name="Google Shape;536;p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37" name="Google Shape;537;p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38" name="Google Shape;538;p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39" name="Google Shape;539;p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0" name="Google Shape;540;p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1" name="Google Shape;541;p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42" name="Google Shape;542;p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3" name="Google Shape;543;p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4" name="Google Shape;544;p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5" name="Google Shape;545;p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6" name="Google Shape;546;p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7" name="Google Shape;547;p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8" name="Google Shape;548;p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49" name="Google Shape;549;p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50" name="Google Shape;550;p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51" name="Google Shape;551;p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52" name="Google Shape;552;p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53" name="Google Shape;553;p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54" name="Google Shape;554;p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55" name="Google Shape;555;p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56" name="Google Shape;556;p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57" name="Google Shape;557;p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58" name="Google Shape;558;p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59" name="Google Shape;559;p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0" name="Google Shape;560;p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1" name="Google Shape;561;p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2" name="Google Shape;562;p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3" name="Google Shape;563;p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4" name="Google Shape;564;p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5" name="Google Shape;565;p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6" name="Google Shape;566;p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7" name="Google Shape;567;p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8" name="Google Shape;568;p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69" name="Google Shape;569;p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0" name="Google Shape;570;p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1" name="Google Shape;571;p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2" name="Google Shape;572;p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3" name="Google Shape;573;p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4" name="Google Shape;574;p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5" name="Google Shape;575;p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76" name="Google Shape;576;p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7" name="Google Shape;577;p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8" name="Google Shape;578;p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79" name="Google Shape;579;p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80" name="Google Shape;580;p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81" name="Google Shape;581;p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82" name="Google Shape;582;p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83" name="Google Shape;583;p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84" name="Google Shape;584;p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85" name="Google Shape;585;p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86" name="Google Shape;586;p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87" name="Google Shape;587;p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88" name="Google Shape;588;p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89" name="Google Shape;589;p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90" name="Google Shape;590;p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91" name="Google Shape;591;p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92" name="Google Shape;592;p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593" name="Google Shape;593;p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94" name="Google Shape;594;p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95" name="Google Shape;595;p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96" name="Google Shape;596;p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97" name="Google Shape;597;p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98" name="Google Shape;598;p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599" name="Google Shape;599;p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00" name="Google Shape;600;p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1" name="Google Shape;601;p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2" name="Google Shape;602;p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3" name="Google Shape;603;p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4" name="Google Shape;604;p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5" name="Google Shape;605;p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6" name="Google Shape;606;p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7" name="Google Shape;607;p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8" name="Google Shape;608;p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09" name="Google Shape;609;p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10" name="Google Shape;610;p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11" name="Google Shape;611;p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12" name="Google Shape;612;p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613" name="Google Shape;613;p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614" name="Google Shape;614;p5"/>
          <p:cNvGrpSpPr/>
          <p:nvPr/>
        </p:nvGrpSpPr>
        <p:grpSpPr>
          <a:xfrm>
            <a:off x="5031696" y="2741552"/>
            <a:ext cx="496613" cy="458486"/>
            <a:chOff x="861338" y="1593726"/>
            <a:chExt cx="2895700" cy="2812800"/>
          </a:xfrm>
        </p:grpSpPr>
        <p:pic>
          <p:nvPicPr>
            <p:cNvPr id="615" name="Google Shape;615;p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616" name="Google Shape;616;p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617" name="Google Shape;617;p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618" name="Google Shape;618;p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619" name="Google Shape;619;p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620" name="Google Shape;620;p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621" name="Google Shape;621;p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622" name="Google Shape;622;p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23" name="Google Shape;623;p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24" name="Google Shape;624;p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25" name="Google Shape;625;p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26" name="Google Shape;626;p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27" name="Google Shape;627;p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28" name="Google Shape;628;p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29" name="Google Shape;629;p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0" name="Google Shape;630;p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1" name="Google Shape;631;p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2" name="Google Shape;632;p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3" name="Google Shape;633;p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4" name="Google Shape;634;p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5" name="Google Shape;635;p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6" name="Google Shape;636;p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7" name="Google Shape;637;p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38" name="Google Shape;638;p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39" name="Google Shape;639;p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40" name="Google Shape;640;p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41" name="Google Shape;641;p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42" name="Google Shape;642;p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43" name="Google Shape;643;p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44" name="Google Shape;644;p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45" name="Google Shape;645;p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46" name="Google Shape;646;p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47" name="Google Shape;647;p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48" name="Google Shape;648;p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49" name="Google Shape;649;p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0" name="Google Shape;650;p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1" name="Google Shape;651;p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2" name="Google Shape;652;p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3" name="Google Shape;653;p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4" name="Google Shape;654;p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5" name="Google Shape;655;p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6" name="Google Shape;656;p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7" name="Google Shape;657;p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8" name="Google Shape;658;p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59" name="Google Shape;659;p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60" name="Google Shape;660;p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61" name="Google Shape;661;p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62" name="Google Shape;662;p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63" name="Google Shape;663;p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64" name="Google Shape;664;p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65" name="Google Shape;665;p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66" name="Google Shape;666;p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67" name="Google Shape;667;p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68" name="Google Shape;668;p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69" name="Google Shape;669;p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70" name="Google Shape;670;p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71" name="Google Shape;671;p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72" name="Google Shape;672;p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73" name="Google Shape;673;p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74" name="Google Shape;674;p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75" name="Google Shape;675;p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76" name="Google Shape;676;p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77" name="Google Shape;677;p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78" name="Google Shape;678;p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79" name="Google Shape;679;p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80" name="Google Shape;680;p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81" name="Google Shape;681;p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82" name="Google Shape;682;p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83" name="Google Shape;683;p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84" name="Google Shape;684;p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85" name="Google Shape;685;p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86" name="Google Shape;686;p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87" name="Google Shape;687;p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88" name="Google Shape;688;p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89" name="Google Shape;689;p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90" name="Google Shape;690;p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91" name="Google Shape;691;p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92" name="Google Shape;692;p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93" name="Google Shape;693;p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94" name="Google Shape;694;p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95" name="Google Shape;695;p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96" name="Google Shape;696;p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697" name="Google Shape;697;p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698" name="Google Shape;698;p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699" name="Google Shape;699;p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700" name="Google Shape;700;p5"/>
          <p:cNvGrpSpPr/>
          <p:nvPr/>
        </p:nvGrpSpPr>
        <p:grpSpPr>
          <a:xfrm>
            <a:off x="4795810" y="2121841"/>
            <a:ext cx="394891" cy="387449"/>
            <a:chOff x="2669487" y="1048029"/>
            <a:chExt cx="792000" cy="836100"/>
          </a:xfrm>
        </p:grpSpPr>
        <p:cxnSp>
          <p:nvCxnSpPr>
            <p:cNvPr id="701" name="Google Shape;701;p5"/>
            <p:cNvCxnSpPr>
              <a:stCxn id="702" idx="2"/>
              <a:endCxn id="539" idx="7"/>
            </p:cNvCxnSpPr>
            <p:nvPr/>
          </p:nvCxnSpPr>
          <p:spPr>
            <a:xfrm>
              <a:off x="3065487" y="1336029"/>
              <a:ext cx="227700" cy="548100"/>
            </a:xfrm>
            <a:prstGeom prst="straightConnector1">
              <a:avLst/>
            </a:prstGeom>
            <a:noFill/>
            <a:ln w="5900" cap="flat" cmpd="sng">
              <a:solidFill>
                <a:srgbClr val="262626"/>
              </a:solidFill>
              <a:prstDash val="solid"/>
              <a:miter lim="800000"/>
              <a:headEnd type="none" w="sm" len="sm"/>
              <a:tailEnd type="none" w="sm" len="sm"/>
            </a:ln>
          </p:spPr>
        </p:cxnSp>
        <p:sp>
          <p:nvSpPr>
            <p:cNvPr id="702" name="Google Shape;702;p5"/>
            <p:cNvSpPr/>
            <p:nvPr/>
          </p:nvSpPr>
          <p:spPr>
            <a:xfrm>
              <a:off x="2669487" y="1048029"/>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Grains</a:t>
              </a:r>
              <a:endParaRPr sz="555">
                <a:solidFill>
                  <a:srgbClr val="262626"/>
                </a:solidFill>
                <a:latin typeface="Arial"/>
                <a:ea typeface="Arial"/>
                <a:cs typeface="Arial"/>
                <a:sym typeface="Arial"/>
              </a:endParaRPr>
            </a:p>
          </p:txBody>
        </p:sp>
      </p:grpSp>
      <p:cxnSp>
        <p:nvCxnSpPr>
          <p:cNvPr id="703" name="Google Shape;703;p5"/>
          <p:cNvCxnSpPr>
            <a:stCxn id="702" idx="2"/>
            <a:endCxn id="524" idx="5"/>
          </p:cNvCxnSpPr>
          <p:nvPr/>
        </p:nvCxnSpPr>
        <p:spPr>
          <a:xfrm>
            <a:off x="4993256" y="2255300"/>
            <a:ext cx="563100" cy="154800"/>
          </a:xfrm>
          <a:prstGeom prst="straightConnector1">
            <a:avLst/>
          </a:prstGeom>
          <a:noFill/>
          <a:ln w="5900" cap="flat" cmpd="sng">
            <a:solidFill>
              <a:srgbClr val="262626"/>
            </a:solidFill>
            <a:prstDash val="solid"/>
            <a:miter lim="800000"/>
            <a:headEnd type="none" w="sm" len="sm"/>
            <a:tailEnd type="none" w="sm" len="sm"/>
          </a:ln>
        </p:spPr>
      </p:cxnSp>
      <p:grpSp>
        <p:nvGrpSpPr>
          <p:cNvPr id="704" name="Google Shape;704;p5"/>
          <p:cNvGrpSpPr/>
          <p:nvPr/>
        </p:nvGrpSpPr>
        <p:grpSpPr>
          <a:xfrm>
            <a:off x="5278637" y="2067562"/>
            <a:ext cx="721987" cy="362981"/>
            <a:chOff x="2703097" y="980611"/>
            <a:chExt cx="792000" cy="783300"/>
          </a:xfrm>
        </p:grpSpPr>
        <p:cxnSp>
          <p:nvCxnSpPr>
            <p:cNvPr id="705" name="Google Shape;705;p5"/>
            <p:cNvCxnSpPr>
              <a:stCxn id="706" idx="2"/>
              <a:endCxn id="536" idx="7"/>
            </p:cNvCxnSpPr>
            <p:nvPr/>
          </p:nvCxnSpPr>
          <p:spPr>
            <a:xfrm flipH="1">
              <a:off x="2703097" y="1268611"/>
              <a:ext cx="396000" cy="495300"/>
            </a:xfrm>
            <a:prstGeom prst="straightConnector1">
              <a:avLst/>
            </a:prstGeom>
            <a:noFill/>
            <a:ln w="5900" cap="flat" cmpd="sng">
              <a:solidFill>
                <a:srgbClr val="262626"/>
              </a:solidFill>
              <a:prstDash val="solid"/>
              <a:miter lim="800000"/>
              <a:headEnd type="none" w="sm" len="sm"/>
              <a:tailEnd type="none" w="sm" len="sm"/>
            </a:ln>
          </p:spPr>
        </p:cxnSp>
        <p:sp>
          <p:nvSpPr>
            <p:cNvPr id="706" name="Google Shape;706;p5"/>
            <p:cNvSpPr/>
            <p:nvPr/>
          </p:nvSpPr>
          <p:spPr>
            <a:xfrm>
              <a:off x="2703097" y="98061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 boundary</a:t>
              </a:r>
              <a:endParaRPr sz="555">
                <a:solidFill>
                  <a:srgbClr val="262626"/>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8"/>
                                        </p:tgtEl>
                                        <p:attrNameLst>
                                          <p:attrName>style.visibility</p:attrName>
                                        </p:attrNameLst>
                                      </p:cBhvr>
                                      <p:to>
                                        <p:strVal val="visible"/>
                                      </p:to>
                                    </p:set>
                                    <p:animEffect transition="in" filter="fade">
                                      <p:cBhvr>
                                        <p:cTn id="7" dur="500"/>
                                        <p:tgtEl>
                                          <p:spTgt spid="2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9"/>
                                        </p:tgtEl>
                                        <p:attrNameLst>
                                          <p:attrName>style.visibility</p:attrName>
                                        </p:attrNameLst>
                                      </p:cBhvr>
                                      <p:to>
                                        <p:strVal val="visible"/>
                                      </p:to>
                                    </p:set>
                                    <p:animEffect transition="in" filter="fade">
                                      <p:cBhvr>
                                        <p:cTn id="12" dur="500"/>
                                        <p:tgtEl>
                                          <p:spTgt spid="279"/>
                                        </p:tgtEl>
                                      </p:cBhvr>
                                    </p:animEffect>
                                  </p:childTnLst>
                                </p:cTn>
                              </p:par>
                              <p:par>
                                <p:cTn id="13" presetID="10" presetClass="entr" presetSubtype="0" fill="hold" nodeType="withEffect">
                                  <p:stCondLst>
                                    <p:cond delay="0"/>
                                  </p:stCondLst>
                                  <p:childTnLst>
                                    <p:set>
                                      <p:cBhvr>
                                        <p:cTn id="14" dur="1" fill="hold">
                                          <p:stCondLst>
                                            <p:cond delay="0"/>
                                          </p:stCondLst>
                                        </p:cTn>
                                        <p:tgtEl>
                                          <p:spTgt spid="280"/>
                                        </p:tgtEl>
                                        <p:attrNameLst>
                                          <p:attrName>style.visibility</p:attrName>
                                        </p:attrNameLst>
                                      </p:cBhvr>
                                      <p:to>
                                        <p:strVal val="visible"/>
                                      </p:to>
                                    </p:set>
                                    <p:animEffect transition="in" filter="fade">
                                      <p:cBhvr>
                                        <p:cTn id="15" dur="50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8"/>
          <p:cNvSpPr txBox="1">
            <a:spLocks noGrp="1"/>
          </p:cNvSpPr>
          <p:nvPr>
            <p:ph type="title" idx="4294967295"/>
          </p:nvPr>
        </p:nvSpPr>
        <p:spPr>
          <a:xfrm>
            <a:off x="3389468" y="178944"/>
            <a:ext cx="5557972"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Multi-scale modelling approach, requirements</a:t>
            </a:r>
            <a:endParaRPr/>
          </a:p>
        </p:txBody>
      </p:sp>
      <p:sp>
        <p:nvSpPr>
          <p:cNvPr id="725" name="Google Shape;725;p8"/>
          <p:cNvSpPr/>
          <p:nvPr/>
        </p:nvSpPr>
        <p:spPr>
          <a:xfrm>
            <a:off x="2784451" y="893502"/>
            <a:ext cx="6162900" cy="3537900"/>
          </a:xfrm>
          <a:prstGeom prst="rect">
            <a:avLst/>
          </a:prstGeom>
          <a:noFill/>
          <a:ln>
            <a:noFill/>
          </a:ln>
        </p:spPr>
        <p:txBody>
          <a:bodyPr spcFirstLastPara="1" wrap="square" lIns="90000" tIns="45000" rIns="90000" bIns="45000" anchor="t" anchorCtr="0">
            <a:spAutoFit/>
          </a:bodyPr>
          <a:lstStyle/>
          <a:p>
            <a:pPr marL="0" marR="0" lvl="0" indent="0" algn="just" rtl="0">
              <a:spcBef>
                <a:spcPts val="0"/>
              </a:spcBef>
              <a:spcAft>
                <a:spcPts val="0"/>
              </a:spcAft>
              <a:buNone/>
            </a:pPr>
            <a:r>
              <a:rPr lang="en-GB" sz="1600" b="1" dirty="0">
                <a:solidFill>
                  <a:schemeClr val="dk1"/>
                </a:solidFill>
                <a:latin typeface="Arial"/>
                <a:ea typeface="Arial"/>
                <a:cs typeface="Arial"/>
                <a:sym typeface="Arial"/>
              </a:rPr>
              <a:t>Physics-based models, </a:t>
            </a:r>
            <a:r>
              <a:rPr lang="en-GB" sz="1600" dirty="0">
                <a:solidFill>
                  <a:schemeClr val="dk1"/>
                </a:solidFill>
                <a:latin typeface="Arial"/>
                <a:ea typeface="Arial"/>
                <a:cs typeface="Arial"/>
                <a:sym typeface="Arial"/>
              </a:rPr>
              <a:t>to bridge between different scales:</a:t>
            </a:r>
            <a:endParaRPr dirty="0"/>
          </a:p>
          <a:p>
            <a:pPr marL="342900" marR="0" lvl="0" indent="-342900" algn="just" rtl="0">
              <a:spcBef>
                <a:spcPts val="0"/>
              </a:spcBef>
              <a:spcAft>
                <a:spcPts val="0"/>
              </a:spcAft>
              <a:buClr>
                <a:schemeClr val="dk1"/>
              </a:buClr>
              <a:buSzPts val="1600"/>
              <a:buChar char="•"/>
            </a:pPr>
            <a:r>
              <a:rPr lang="en-GB" sz="1600" dirty="0">
                <a:solidFill>
                  <a:schemeClr val="dk1"/>
                </a:solidFill>
              </a:rPr>
              <a:t>From the </a:t>
            </a:r>
            <a:r>
              <a:rPr lang="en-GB" sz="1600" b="1" dirty="0">
                <a:solidFill>
                  <a:schemeClr val="dk1"/>
                </a:solidFill>
              </a:rPr>
              <a:t>atomic scale</a:t>
            </a:r>
            <a:endParaRPr dirty="0"/>
          </a:p>
          <a:p>
            <a:pPr marL="342900" marR="0" lvl="0" indent="-342900" algn="just" rtl="0">
              <a:spcBef>
                <a:spcPts val="0"/>
              </a:spcBef>
              <a:spcAft>
                <a:spcPts val="0"/>
              </a:spcAft>
              <a:buClr>
                <a:schemeClr val="dk1"/>
              </a:buClr>
              <a:buSzPts val="1600"/>
              <a:buChar char="•"/>
            </a:pPr>
            <a:r>
              <a:rPr lang="en-GB" sz="1600" dirty="0">
                <a:solidFill>
                  <a:schemeClr val="dk1"/>
                </a:solidFill>
              </a:rPr>
              <a:t>Up to the </a:t>
            </a:r>
            <a:r>
              <a:rPr lang="en-GB" sz="1600" b="1" dirty="0">
                <a:solidFill>
                  <a:schemeClr val="dk1"/>
                </a:solidFill>
              </a:rPr>
              <a:t>macroscopic</a:t>
            </a:r>
            <a:r>
              <a:rPr lang="en-GB" sz="1600" dirty="0">
                <a:solidFill>
                  <a:schemeClr val="dk1"/>
                </a:solidFill>
              </a:rPr>
              <a:t>, engineering </a:t>
            </a:r>
            <a:r>
              <a:rPr lang="en-GB" sz="1600" b="1" dirty="0">
                <a:solidFill>
                  <a:schemeClr val="dk1"/>
                </a:solidFill>
              </a:rPr>
              <a:t>scale </a:t>
            </a:r>
            <a:r>
              <a:rPr lang="en-GB" sz="1600" dirty="0">
                <a:solidFill>
                  <a:schemeClr val="dk1"/>
                </a:solidFill>
              </a:rPr>
              <a:t>of the fuel rod</a:t>
            </a:r>
            <a:endParaRPr dirty="0"/>
          </a:p>
          <a:p>
            <a:pPr marL="0" marR="0" lvl="0" indent="0" algn="just" rtl="0">
              <a:spcBef>
                <a:spcPts val="0"/>
              </a:spcBef>
              <a:spcAft>
                <a:spcPts val="0"/>
              </a:spcAft>
              <a:buClr>
                <a:schemeClr val="dk1"/>
              </a:buClr>
              <a:buSzPts val="1600"/>
              <a:buFont typeface="Arial"/>
              <a:buNone/>
            </a:pPr>
            <a:endParaRPr sz="1600" dirty="0">
              <a:solidFill>
                <a:schemeClr val="dk1"/>
              </a:solidFill>
            </a:endParaRPr>
          </a:p>
          <a:p>
            <a:pPr marL="0" marR="0" lvl="0" indent="0" algn="just" rtl="0">
              <a:spcBef>
                <a:spcPts val="0"/>
              </a:spcBef>
              <a:spcAft>
                <a:spcPts val="0"/>
              </a:spcAft>
              <a:buClr>
                <a:schemeClr val="dk1"/>
              </a:buClr>
              <a:buSzPts val="1600"/>
              <a:buFont typeface="Arial"/>
              <a:buNone/>
            </a:pPr>
            <a:r>
              <a:rPr lang="en-GB" sz="1600" b="1" u="sng" dirty="0">
                <a:solidFill>
                  <a:schemeClr val="dk1"/>
                </a:solidFill>
              </a:rPr>
              <a:t>Requirements</a:t>
            </a:r>
            <a:r>
              <a:rPr lang="en-GB" sz="1600" b="1" dirty="0">
                <a:solidFill>
                  <a:schemeClr val="dk1"/>
                </a:solidFill>
              </a:rPr>
              <a:t>:</a:t>
            </a:r>
            <a:endParaRPr dirty="0"/>
          </a:p>
          <a:p>
            <a:pPr marL="342900" marR="0" lvl="0" indent="-342900" algn="just" rtl="0">
              <a:spcBef>
                <a:spcPts val="0"/>
              </a:spcBef>
              <a:spcAft>
                <a:spcPts val="0"/>
              </a:spcAft>
              <a:buClr>
                <a:schemeClr val="dk1"/>
              </a:buClr>
              <a:buSzPts val="1600"/>
              <a:buFont typeface="Arial"/>
              <a:buChar char="•"/>
            </a:pPr>
            <a:r>
              <a:rPr lang="en-GB" sz="1600" dirty="0">
                <a:solidFill>
                  <a:schemeClr val="dk1"/>
                </a:solidFill>
              </a:rPr>
              <a:t>Numerical robustness</a:t>
            </a:r>
            <a:endParaRPr sz="1600" dirty="0">
              <a:solidFill>
                <a:schemeClr val="dk1"/>
              </a:solidFill>
            </a:endParaRPr>
          </a:p>
          <a:p>
            <a:pPr marL="342900" marR="0" lvl="0" indent="-342900" algn="l" rtl="0">
              <a:spcBef>
                <a:spcPts val="0"/>
              </a:spcBef>
              <a:spcAft>
                <a:spcPts val="0"/>
              </a:spcAft>
              <a:buClr>
                <a:schemeClr val="dk1"/>
              </a:buClr>
              <a:buSzPts val="1600"/>
              <a:buFont typeface="Arial"/>
              <a:buChar char="•"/>
            </a:pPr>
            <a:r>
              <a:rPr lang="en-GB" sz="1600" dirty="0">
                <a:solidFill>
                  <a:schemeClr val="dk1"/>
                </a:solidFill>
              </a:rPr>
              <a:t>Low computational time for effective use within fuel performance codes</a:t>
            </a:r>
            <a:endParaRPr sz="1600" dirty="0">
              <a:solidFill>
                <a:schemeClr val="dk1"/>
              </a:solidFill>
            </a:endParaRPr>
          </a:p>
          <a:p>
            <a:pPr marL="342900" marR="0" lvl="0" indent="-342900" algn="l" rtl="0">
              <a:spcBef>
                <a:spcPts val="0"/>
              </a:spcBef>
              <a:spcAft>
                <a:spcPts val="0"/>
              </a:spcAft>
              <a:buClr>
                <a:schemeClr val="dk1"/>
              </a:buClr>
              <a:buSzPts val="1600"/>
              <a:buFont typeface="Arial"/>
              <a:buChar char="•"/>
            </a:pPr>
            <a:r>
              <a:rPr lang="en-GB" sz="1600" dirty="0">
                <a:solidFill>
                  <a:schemeClr val="dk1"/>
                </a:solidFill>
                <a:latin typeface="Arial"/>
                <a:ea typeface="Arial"/>
                <a:cs typeface="Arial"/>
                <a:sym typeface="Arial"/>
              </a:rPr>
              <a:t>Meso-scale model </a:t>
            </a:r>
            <a:r>
              <a:rPr lang="en-GB" sz="1600" dirty="0">
                <a:solidFill>
                  <a:schemeClr val="dk1"/>
                </a:solidFill>
              </a:rPr>
              <a:t>called </a:t>
            </a:r>
            <a:r>
              <a:rPr lang="en-GB" sz="1600" dirty="0">
                <a:solidFill>
                  <a:schemeClr val="dk1"/>
                </a:solidFill>
                <a:latin typeface="Arial"/>
                <a:ea typeface="Arial"/>
                <a:cs typeface="Arial"/>
                <a:sym typeface="Arial"/>
              </a:rPr>
              <a:t>at each thermo-mechanical iteration, in each time-step of the simulation, in each mesh point</a:t>
            </a:r>
            <a:endParaRPr dirty="0"/>
          </a:p>
          <a:p>
            <a:pPr marL="0" marR="0" lvl="0" indent="0" algn="just" rtl="0">
              <a:spcBef>
                <a:spcPts val="0"/>
              </a:spcBef>
              <a:spcAft>
                <a:spcPts val="0"/>
              </a:spcAft>
              <a:buNone/>
            </a:pPr>
            <a:endParaRPr dirty="0"/>
          </a:p>
          <a:p>
            <a:pPr marL="0" marR="0" lvl="0" indent="0" algn="just" rtl="0">
              <a:spcBef>
                <a:spcPts val="0"/>
              </a:spcBef>
              <a:spcAft>
                <a:spcPts val="0"/>
              </a:spcAft>
              <a:buNone/>
            </a:pPr>
            <a:r>
              <a:rPr lang="en-GB" sz="1600" b="1" dirty="0">
                <a:solidFill>
                  <a:schemeClr val="dk1"/>
                </a:solidFill>
                <a:latin typeface="Arial"/>
                <a:ea typeface="Arial"/>
                <a:cs typeface="Arial"/>
                <a:sym typeface="Arial"/>
              </a:rPr>
              <a:t>Possibly, open-source!</a:t>
            </a:r>
            <a:endParaRPr dirty="0"/>
          </a:p>
        </p:txBody>
      </p:sp>
      <p:sp>
        <p:nvSpPr>
          <p:cNvPr id="726" name="Google Shape;726;p8"/>
          <p:cNvSpPr/>
          <p:nvPr/>
        </p:nvSpPr>
        <p:spPr>
          <a:xfrm>
            <a:off x="853412" y="1009650"/>
            <a:ext cx="356400" cy="1905900"/>
          </a:xfrm>
          <a:prstGeom prst="rect">
            <a:avLst/>
          </a:prstGeom>
          <a:solidFill>
            <a:srgbClr val="D9E5F8"/>
          </a:solidFill>
          <a:ln w="20750" cap="flat" cmpd="sng">
            <a:solidFill>
              <a:srgbClr val="7F7F7F"/>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27" name="Google Shape;727;p8"/>
          <p:cNvSpPr/>
          <p:nvPr/>
        </p:nvSpPr>
        <p:spPr>
          <a:xfrm>
            <a:off x="882813" y="1334686"/>
            <a:ext cx="297600" cy="391200"/>
          </a:xfrm>
          <a:prstGeom prst="rect">
            <a:avLst/>
          </a:prstGeom>
          <a:solidFill>
            <a:srgbClr val="595959"/>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28" name="Google Shape;728;p8"/>
          <p:cNvSpPr/>
          <p:nvPr/>
        </p:nvSpPr>
        <p:spPr>
          <a:xfrm>
            <a:off x="882813" y="1770149"/>
            <a:ext cx="297600" cy="391200"/>
          </a:xfrm>
          <a:prstGeom prst="rect">
            <a:avLst/>
          </a:prstGeom>
          <a:solidFill>
            <a:srgbClr val="595959"/>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29" name="Google Shape;729;p8"/>
          <p:cNvSpPr/>
          <p:nvPr/>
        </p:nvSpPr>
        <p:spPr>
          <a:xfrm>
            <a:off x="882813" y="2205612"/>
            <a:ext cx="297600" cy="391200"/>
          </a:xfrm>
          <a:prstGeom prst="rect">
            <a:avLst/>
          </a:prstGeom>
          <a:solidFill>
            <a:srgbClr val="595959"/>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cxnSp>
        <p:nvCxnSpPr>
          <p:cNvPr id="730" name="Google Shape;730;p8"/>
          <p:cNvCxnSpPr>
            <a:stCxn id="731" idx="1"/>
            <a:endCxn id="732" idx="0"/>
          </p:cNvCxnSpPr>
          <p:nvPr/>
        </p:nvCxnSpPr>
        <p:spPr>
          <a:xfrm flipH="1">
            <a:off x="1029967" y="1104447"/>
            <a:ext cx="290400" cy="75300"/>
          </a:xfrm>
          <a:prstGeom prst="straightConnector1">
            <a:avLst/>
          </a:prstGeom>
          <a:noFill/>
          <a:ln w="4600" cap="flat" cmpd="sng">
            <a:solidFill>
              <a:srgbClr val="262626"/>
            </a:solidFill>
            <a:prstDash val="solid"/>
            <a:miter lim="800000"/>
            <a:headEnd type="none" w="sm" len="sm"/>
            <a:tailEnd type="none" w="sm" len="sm"/>
          </a:ln>
        </p:spPr>
      </p:cxnSp>
      <p:sp>
        <p:nvSpPr>
          <p:cNvPr id="733" name="Google Shape;733;p8"/>
          <p:cNvSpPr/>
          <p:nvPr/>
        </p:nvSpPr>
        <p:spPr>
          <a:xfrm rot="1542346">
            <a:off x="619914" y="1502434"/>
            <a:ext cx="823055" cy="86947"/>
          </a:xfrm>
          <a:prstGeom prst="rect">
            <a:avLst/>
          </a:prstGeom>
          <a:solidFill>
            <a:srgbClr val="FFFFFF"/>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4" name="Google Shape;734;p8"/>
          <p:cNvSpPr/>
          <p:nvPr/>
        </p:nvSpPr>
        <p:spPr>
          <a:xfrm rot="1542346">
            <a:off x="619913" y="2296017"/>
            <a:ext cx="823055" cy="86947"/>
          </a:xfrm>
          <a:prstGeom prst="rect">
            <a:avLst/>
          </a:prstGeom>
          <a:solidFill>
            <a:srgbClr val="FFFFFF"/>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grpSp>
        <p:nvGrpSpPr>
          <p:cNvPr id="735" name="Google Shape;735;p8"/>
          <p:cNvGrpSpPr/>
          <p:nvPr/>
        </p:nvGrpSpPr>
        <p:grpSpPr>
          <a:xfrm>
            <a:off x="904906" y="1016067"/>
            <a:ext cx="244766" cy="318079"/>
            <a:chOff x="6641818" y="1087569"/>
            <a:chExt cx="988156" cy="1240074"/>
          </a:xfrm>
        </p:grpSpPr>
        <p:sp>
          <p:nvSpPr>
            <p:cNvPr id="736" name="Google Shape;736;p8"/>
            <p:cNvSpPr/>
            <p:nvPr/>
          </p:nvSpPr>
          <p:spPr>
            <a:xfrm rot="665401">
              <a:off x="6646564" y="1236398"/>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7" name="Google Shape;737;p8"/>
            <p:cNvSpPr/>
            <p:nvPr/>
          </p:nvSpPr>
          <p:spPr>
            <a:xfrm>
              <a:off x="6646611" y="1087569"/>
              <a:ext cx="981000" cy="119700"/>
            </a:xfrm>
            <a:prstGeom prst="rect">
              <a:avLst/>
            </a:prstGeom>
            <a:solidFill>
              <a:srgbClr val="DCEAF7"/>
            </a:solid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8" name="Google Shape;738;p8"/>
            <p:cNvSpPr/>
            <p:nvPr/>
          </p:nvSpPr>
          <p:spPr>
            <a:xfrm rot="665401">
              <a:off x="6646563" y="1359325"/>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9" name="Google Shape;739;p8"/>
            <p:cNvSpPr/>
            <p:nvPr/>
          </p:nvSpPr>
          <p:spPr>
            <a:xfrm rot="665401">
              <a:off x="6646563" y="1482648"/>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0" name="Google Shape;740;p8"/>
            <p:cNvSpPr/>
            <p:nvPr/>
          </p:nvSpPr>
          <p:spPr>
            <a:xfrm rot="665401">
              <a:off x="6646562" y="1601350"/>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2" name="Google Shape;732;p8"/>
            <p:cNvSpPr/>
            <p:nvPr/>
          </p:nvSpPr>
          <p:spPr>
            <a:xfrm rot="665401">
              <a:off x="6644210" y="1724672"/>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1" name="Google Shape;741;p8"/>
            <p:cNvSpPr/>
            <p:nvPr/>
          </p:nvSpPr>
          <p:spPr>
            <a:xfrm rot="665401">
              <a:off x="6644209" y="1847599"/>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2" name="Google Shape;742;p8"/>
            <p:cNvSpPr/>
            <p:nvPr/>
          </p:nvSpPr>
          <p:spPr>
            <a:xfrm rot="665401">
              <a:off x="6644209" y="1970922"/>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3" name="Google Shape;743;p8"/>
            <p:cNvSpPr/>
            <p:nvPr/>
          </p:nvSpPr>
          <p:spPr>
            <a:xfrm rot="665401">
              <a:off x="6644208" y="2089624"/>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4" name="Google Shape;744;p8"/>
            <p:cNvSpPr/>
            <p:nvPr/>
          </p:nvSpPr>
          <p:spPr>
            <a:xfrm>
              <a:off x="6641906" y="2207943"/>
              <a:ext cx="981000" cy="119700"/>
            </a:xfrm>
            <a:prstGeom prst="rect">
              <a:avLst/>
            </a:prstGeom>
            <a:solidFill>
              <a:srgbClr val="DCEAF7"/>
            </a:solid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grpSp>
      <p:sp>
        <p:nvSpPr>
          <p:cNvPr id="745" name="Google Shape;745;p8"/>
          <p:cNvSpPr txBox="1"/>
          <p:nvPr/>
        </p:nvSpPr>
        <p:spPr>
          <a:xfrm rot="-5400000">
            <a:off x="575634" y="1119492"/>
            <a:ext cx="259200" cy="100500"/>
          </a:xfrm>
          <a:prstGeom prst="rect">
            <a:avLst/>
          </a:prstGeom>
          <a:noFill/>
          <a:ln w="3475" cap="flat" cmpd="sng">
            <a:solidFill>
              <a:srgbClr val="000000"/>
            </a:solidFill>
            <a:prstDash val="solid"/>
            <a:round/>
            <a:headEnd type="none" w="sm" len="sm"/>
            <a:tailEnd type="none" w="sm" len="sm"/>
          </a:ln>
        </p:spPr>
        <p:txBody>
          <a:bodyPr spcFirstLastPara="1" wrap="square" lIns="33200" tIns="16575" rIns="33200" bIns="16575" anchor="t" anchorCtr="0">
            <a:spAutoFit/>
          </a:bodyPr>
          <a:lstStyle/>
          <a:p>
            <a:pPr marL="0" marR="0" lvl="0" indent="0" algn="l" rtl="0">
              <a:spcBef>
                <a:spcPts val="0"/>
              </a:spcBef>
              <a:spcAft>
                <a:spcPts val="0"/>
              </a:spcAft>
              <a:buNone/>
            </a:pPr>
            <a:r>
              <a:rPr lang="en-GB" sz="435">
                <a:solidFill>
                  <a:srgbClr val="000000"/>
                </a:solidFill>
                <a:latin typeface="Arial"/>
                <a:ea typeface="Arial"/>
                <a:cs typeface="Arial"/>
                <a:sym typeface="Arial"/>
              </a:rPr>
              <a:t>Plenum</a:t>
            </a:r>
            <a:endParaRPr sz="508"/>
          </a:p>
        </p:txBody>
      </p:sp>
      <p:cxnSp>
        <p:nvCxnSpPr>
          <p:cNvPr id="746" name="Google Shape;746;p8"/>
          <p:cNvCxnSpPr>
            <a:stCxn id="747" idx="1"/>
          </p:cNvCxnSpPr>
          <p:nvPr/>
        </p:nvCxnSpPr>
        <p:spPr>
          <a:xfrm flipH="1">
            <a:off x="1078842" y="1914091"/>
            <a:ext cx="332400" cy="38400"/>
          </a:xfrm>
          <a:prstGeom prst="straightConnector1">
            <a:avLst/>
          </a:prstGeom>
          <a:noFill/>
          <a:ln w="4600" cap="flat" cmpd="sng">
            <a:solidFill>
              <a:srgbClr val="262626"/>
            </a:solidFill>
            <a:prstDash val="solid"/>
            <a:miter lim="800000"/>
            <a:headEnd type="none" w="sm" len="sm"/>
            <a:tailEnd type="none" w="sm" len="sm"/>
          </a:ln>
        </p:spPr>
      </p:cxnSp>
      <p:cxnSp>
        <p:nvCxnSpPr>
          <p:cNvPr id="748" name="Google Shape;748;p8"/>
          <p:cNvCxnSpPr>
            <a:stCxn id="749" idx="1"/>
          </p:cNvCxnSpPr>
          <p:nvPr/>
        </p:nvCxnSpPr>
        <p:spPr>
          <a:xfrm flipH="1">
            <a:off x="1207562" y="1444706"/>
            <a:ext cx="241200" cy="49200"/>
          </a:xfrm>
          <a:prstGeom prst="straightConnector1">
            <a:avLst/>
          </a:prstGeom>
          <a:noFill/>
          <a:ln w="4600" cap="flat" cmpd="sng">
            <a:solidFill>
              <a:srgbClr val="262626"/>
            </a:solidFill>
            <a:prstDash val="solid"/>
            <a:miter lim="800000"/>
            <a:headEnd type="none" w="sm" len="sm"/>
            <a:tailEnd type="none" w="sm" len="sm"/>
          </a:ln>
        </p:spPr>
      </p:cxnSp>
      <p:cxnSp>
        <p:nvCxnSpPr>
          <p:cNvPr id="750" name="Google Shape;750;p8"/>
          <p:cNvCxnSpPr>
            <a:stCxn id="751" idx="1"/>
          </p:cNvCxnSpPr>
          <p:nvPr/>
        </p:nvCxnSpPr>
        <p:spPr>
          <a:xfrm rot="10800000">
            <a:off x="1189977" y="2113907"/>
            <a:ext cx="268500" cy="76200"/>
          </a:xfrm>
          <a:prstGeom prst="straightConnector1">
            <a:avLst/>
          </a:prstGeom>
          <a:noFill/>
          <a:ln w="4600" cap="flat" cmpd="sng">
            <a:solidFill>
              <a:srgbClr val="262626"/>
            </a:solidFill>
            <a:prstDash val="solid"/>
            <a:miter lim="800000"/>
            <a:headEnd type="none" w="sm" len="sm"/>
            <a:tailEnd type="none" w="sm" len="sm"/>
          </a:ln>
        </p:spPr>
      </p:cxnSp>
      <p:sp>
        <p:nvSpPr>
          <p:cNvPr id="749" name="Google Shape;749;p8"/>
          <p:cNvSpPr/>
          <p:nvPr/>
        </p:nvSpPr>
        <p:spPr>
          <a:xfrm>
            <a:off x="1448762" y="1392356"/>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262626"/>
                </a:solidFill>
                <a:latin typeface="Arial"/>
                <a:ea typeface="Arial"/>
                <a:cs typeface="Arial"/>
                <a:sym typeface="Arial"/>
              </a:rPr>
              <a:t>Cladding</a:t>
            </a:r>
            <a:endParaRPr sz="435">
              <a:solidFill>
                <a:srgbClr val="262626"/>
              </a:solidFill>
              <a:latin typeface="Arial"/>
              <a:ea typeface="Arial"/>
              <a:cs typeface="Arial"/>
              <a:sym typeface="Arial"/>
            </a:endParaRPr>
          </a:p>
        </p:txBody>
      </p:sp>
      <p:sp>
        <p:nvSpPr>
          <p:cNvPr id="747" name="Google Shape;747;p8"/>
          <p:cNvSpPr/>
          <p:nvPr/>
        </p:nvSpPr>
        <p:spPr>
          <a:xfrm>
            <a:off x="1411242" y="1861741"/>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262626"/>
                </a:solidFill>
                <a:latin typeface="Arial"/>
                <a:ea typeface="Arial"/>
                <a:cs typeface="Arial"/>
                <a:sym typeface="Arial"/>
              </a:rPr>
              <a:t>Fuel</a:t>
            </a:r>
            <a:endParaRPr sz="435">
              <a:solidFill>
                <a:srgbClr val="262626"/>
              </a:solidFill>
              <a:latin typeface="Arial"/>
              <a:ea typeface="Arial"/>
              <a:cs typeface="Arial"/>
              <a:sym typeface="Arial"/>
            </a:endParaRPr>
          </a:p>
        </p:txBody>
      </p:sp>
      <p:sp>
        <p:nvSpPr>
          <p:cNvPr id="752" name="Google Shape;752;p8"/>
          <p:cNvSpPr/>
          <p:nvPr/>
        </p:nvSpPr>
        <p:spPr>
          <a:xfrm>
            <a:off x="887292" y="2703822"/>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262626"/>
                </a:solidFill>
                <a:latin typeface="Arial"/>
                <a:ea typeface="Arial"/>
                <a:cs typeface="Arial"/>
                <a:sym typeface="Arial"/>
              </a:rPr>
              <a:t>Helium</a:t>
            </a:r>
            <a:endParaRPr sz="435">
              <a:solidFill>
                <a:srgbClr val="262626"/>
              </a:solidFill>
              <a:latin typeface="Arial"/>
              <a:ea typeface="Arial"/>
              <a:cs typeface="Arial"/>
              <a:sym typeface="Arial"/>
            </a:endParaRPr>
          </a:p>
        </p:txBody>
      </p:sp>
      <p:sp>
        <p:nvSpPr>
          <p:cNvPr id="751" name="Google Shape;751;p8"/>
          <p:cNvSpPr/>
          <p:nvPr/>
        </p:nvSpPr>
        <p:spPr>
          <a:xfrm>
            <a:off x="1458477" y="2137757"/>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000000"/>
                </a:solidFill>
                <a:latin typeface="Arial"/>
                <a:ea typeface="Arial"/>
                <a:cs typeface="Arial"/>
                <a:sym typeface="Arial"/>
              </a:rPr>
              <a:t>Gap</a:t>
            </a:r>
            <a:endParaRPr sz="435">
              <a:solidFill>
                <a:srgbClr val="000000"/>
              </a:solidFill>
              <a:latin typeface="Arial"/>
              <a:ea typeface="Arial"/>
              <a:cs typeface="Arial"/>
              <a:sym typeface="Arial"/>
            </a:endParaRPr>
          </a:p>
        </p:txBody>
      </p:sp>
      <p:sp>
        <p:nvSpPr>
          <p:cNvPr id="731" name="Google Shape;731;p8"/>
          <p:cNvSpPr/>
          <p:nvPr/>
        </p:nvSpPr>
        <p:spPr>
          <a:xfrm>
            <a:off x="1320367" y="1052097"/>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262626"/>
                </a:solidFill>
                <a:latin typeface="Arial"/>
                <a:ea typeface="Arial"/>
                <a:cs typeface="Arial"/>
                <a:sym typeface="Arial"/>
              </a:rPr>
              <a:t>Spring</a:t>
            </a:r>
            <a:endParaRPr sz="435">
              <a:solidFill>
                <a:srgbClr val="262626"/>
              </a:solidFill>
              <a:latin typeface="Arial"/>
              <a:ea typeface="Arial"/>
              <a:cs typeface="Arial"/>
              <a:sym typeface="Arial"/>
            </a:endParaRPr>
          </a:p>
        </p:txBody>
      </p:sp>
      <p:pic>
        <p:nvPicPr>
          <p:cNvPr id="753" name="Google Shape;753;p8"/>
          <p:cNvPicPr preferRelativeResize="0"/>
          <p:nvPr/>
        </p:nvPicPr>
        <p:blipFill rotWithShape="1">
          <a:blip r:embed="rId3">
            <a:alphaModFix/>
          </a:blip>
          <a:srcRect/>
          <a:stretch/>
        </p:blipFill>
        <p:spPr>
          <a:xfrm>
            <a:off x="714488" y="4019044"/>
            <a:ext cx="48700" cy="48700"/>
          </a:xfrm>
          <a:prstGeom prst="rect">
            <a:avLst/>
          </a:prstGeom>
          <a:noFill/>
          <a:ln>
            <a:noFill/>
          </a:ln>
        </p:spPr>
      </p:pic>
      <p:pic>
        <p:nvPicPr>
          <p:cNvPr id="754" name="Google Shape;754;p8"/>
          <p:cNvPicPr preferRelativeResize="0"/>
          <p:nvPr/>
        </p:nvPicPr>
        <p:blipFill rotWithShape="1">
          <a:blip r:embed="rId3">
            <a:alphaModFix/>
          </a:blip>
          <a:srcRect/>
          <a:stretch/>
        </p:blipFill>
        <p:spPr>
          <a:xfrm>
            <a:off x="775468" y="3811741"/>
            <a:ext cx="48700" cy="48700"/>
          </a:xfrm>
          <a:prstGeom prst="rect">
            <a:avLst/>
          </a:prstGeom>
          <a:noFill/>
          <a:ln>
            <a:noFill/>
          </a:ln>
        </p:spPr>
      </p:pic>
      <p:pic>
        <p:nvPicPr>
          <p:cNvPr id="755" name="Google Shape;755;p8"/>
          <p:cNvPicPr preferRelativeResize="0"/>
          <p:nvPr/>
        </p:nvPicPr>
        <p:blipFill rotWithShape="1">
          <a:blip r:embed="rId3">
            <a:alphaModFix/>
          </a:blip>
          <a:srcRect/>
          <a:stretch/>
        </p:blipFill>
        <p:spPr>
          <a:xfrm>
            <a:off x="678785" y="3515523"/>
            <a:ext cx="48700" cy="48700"/>
          </a:xfrm>
          <a:prstGeom prst="rect">
            <a:avLst/>
          </a:prstGeom>
          <a:noFill/>
          <a:ln>
            <a:noFill/>
          </a:ln>
        </p:spPr>
      </p:pic>
      <p:pic>
        <p:nvPicPr>
          <p:cNvPr id="756" name="Google Shape;756;p8"/>
          <p:cNvPicPr preferRelativeResize="0"/>
          <p:nvPr/>
        </p:nvPicPr>
        <p:blipFill rotWithShape="1">
          <a:blip r:embed="rId3">
            <a:alphaModFix/>
          </a:blip>
          <a:srcRect/>
          <a:stretch/>
        </p:blipFill>
        <p:spPr>
          <a:xfrm>
            <a:off x="426515" y="3681102"/>
            <a:ext cx="48700" cy="48700"/>
          </a:xfrm>
          <a:prstGeom prst="rect">
            <a:avLst/>
          </a:prstGeom>
          <a:noFill/>
          <a:ln>
            <a:noFill/>
          </a:ln>
        </p:spPr>
      </p:pic>
      <p:pic>
        <p:nvPicPr>
          <p:cNvPr id="757" name="Google Shape;757;p8"/>
          <p:cNvPicPr preferRelativeResize="0"/>
          <p:nvPr/>
        </p:nvPicPr>
        <p:blipFill rotWithShape="1">
          <a:blip r:embed="rId3">
            <a:alphaModFix/>
          </a:blip>
          <a:srcRect/>
          <a:stretch/>
        </p:blipFill>
        <p:spPr>
          <a:xfrm>
            <a:off x="781044" y="3394061"/>
            <a:ext cx="48700" cy="48700"/>
          </a:xfrm>
          <a:prstGeom prst="rect">
            <a:avLst/>
          </a:prstGeom>
          <a:noFill/>
          <a:ln>
            <a:noFill/>
          </a:ln>
        </p:spPr>
      </p:pic>
      <p:pic>
        <p:nvPicPr>
          <p:cNvPr id="758" name="Google Shape;758;p8"/>
          <p:cNvPicPr preferRelativeResize="0"/>
          <p:nvPr/>
        </p:nvPicPr>
        <p:blipFill rotWithShape="1">
          <a:blip r:embed="rId3">
            <a:alphaModFix/>
          </a:blip>
          <a:srcRect/>
          <a:stretch/>
        </p:blipFill>
        <p:spPr>
          <a:xfrm>
            <a:off x="1112330" y="3687539"/>
            <a:ext cx="48700" cy="48700"/>
          </a:xfrm>
          <a:prstGeom prst="rect">
            <a:avLst/>
          </a:prstGeom>
          <a:noFill/>
          <a:ln>
            <a:noFill/>
          </a:ln>
        </p:spPr>
      </p:pic>
      <p:pic>
        <p:nvPicPr>
          <p:cNvPr id="759" name="Google Shape;759;p8"/>
          <p:cNvPicPr preferRelativeResize="0"/>
          <p:nvPr/>
        </p:nvPicPr>
        <p:blipFill rotWithShape="1">
          <a:blip r:embed="rId3">
            <a:alphaModFix/>
          </a:blip>
          <a:srcRect/>
          <a:stretch/>
        </p:blipFill>
        <p:spPr>
          <a:xfrm>
            <a:off x="934039" y="4086683"/>
            <a:ext cx="48700" cy="48700"/>
          </a:xfrm>
          <a:prstGeom prst="rect">
            <a:avLst/>
          </a:prstGeom>
          <a:noFill/>
          <a:ln>
            <a:noFill/>
          </a:ln>
        </p:spPr>
      </p:pic>
      <p:cxnSp>
        <p:nvCxnSpPr>
          <p:cNvPr id="760" name="Google Shape;760;p8"/>
          <p:cNvCxnSpPr>
            <a:stCxn id="761" idx="1"/>
          </p:cNvCxnSpPr>
          <p:nvPr/>
        </p:nvCxnSpPr>
        <p:spPr>
          <a:xfrm>
            <a:off x="1057603" y="4142158"/>
            <a:ext cx="262500" cy="232800"/>
          </a:xfrm>
          <a:prstGeom prst="straightConnector1">
            <a:avLst/>
          </a:prstGeom>
          <a:noFill/>
          <a:ln w="6625" cap="flat" cmpd="sng">
            <a:solidFill>
              <a:srgbClr val="000033"/>
            </a:solidFill>
            <a:prstDash val="solid"/>
            <a:miter lim="800000"/>
            <a:headEnd type="none" w="sm" len="sm"/>
            <a:tailEnd type="none" w="sm" len="sm"/>
          </a:ln>
        </p:spPr>
      </p:cxnSp>
      <p:sp>
        <p:nvSpPr>
          <p:cNvPr id="762" name="Google Shape;762;p8"/>
          <p:cNvSpPr/>
          <p:nvPr/>
        </p:nvSpPr>
        <p:spPr>
          <a:xfrm>
            <a:off x="287575" y="3320056"/>
            <a:ext cx="977100" cy="9771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63" name="Google Shape;763;p8"/>
          <p:cNvSpPr/>
          <p:nvPr/>
        </p:nvSpPr>
        <p:spPr>
          <a:xfrm>
            <a:off x="514283" y="3544087"/>
            <a:ext cx="67800" cy="678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64" name="Google Shape;764;p8"/>
          <p:cNvSpPr/>
          <p:nvPr/>
        </p:nvSpPr>
        <p:spPr>
          <a:xfrm>
            <a:off x="929624" y="3539875"/>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65" name="Google Shape;765;p8"/>
          <p:cNvSpPr/>
          <p:nvPr/>
        </p:nvSpPr>
        <p:spPr>
          <a:xfrm>
            <a:off x="621376" y="3640318"/>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66" name="Google Shape;766;p8"/>
          <p:cNvSpPr/>
          <p:nvPr/>
        </p:nvSpPr>
        <p:spPr>
          <a:xfrm>
            <a:off x="837189" y="3772050"/>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67" name="Google Shape;767;p8"/>
          <p:cNvSpPr/>
          <p:nvPr/>
        </p:nvSpPr>
        <p:spPr>
          <a:xfrm>
            <a:off x="497322" y="3862850"/>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68" name="Google Shape;768;p8"/>
          <p:cNvSpPr/>
          <p:nvPr/>
        </p:nvSpPr>
        <p:spPr>
          <a:xfrm>
            <a:off x="788420" y="4086683"/>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cxnSp>
        <p:nvCxnSpPr>
          <p:cNvPr id="769" name="Google Shape;769;p8"/>
          <p:cNvCxnSpPr/>
          <p:nvPr/>
        </p:nvCxnSpPr>
        <p:spPr>
          <a:xfrm rot="10800000" flipH="1">
            <a:off x="933919" y="3269345"/>
            <a:ext cx="178800" cy="261000"/>
          </a:xfrm>
          <a:prstGeom prst="straightConnector1">
            <a:avLst/>
          </a:prstGeom>
          <a:noFill/>
          <a:ln w="6625" cap="flat" cmpd="sng">
            <a:solidFill>
              <a:srgbClr val="000033"/>
            </a:solidFill>
            <a:prstDash val="solid"/>
            <a:miter lim="800000"/>
            <a:headEnd type="none" w="sm" len="sm"/>
            <a:tailEnd type="triangle" w="med" len="med"/>
          </a:ln>
        </p:spPr>
      </p:cxnSp>
      <p:sp>
        <p:nvSpPr>
          <p:cNvPr id="770" name="Google Shape;770;p8"/>
          <p:cNvSpPr/>
          <p:nvPr/>
        </p:nvSpPr>
        <p:spPr>
          <a:xfrm>
            <a:off x="754655" y="342239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1" name="Google Shape;771;p8"/>
          <p:cNvSpPr/>
          <p:nvPr/>
        </p:nvSpPr>
        <p:spPr>
          <a:xfrm>
            <a:off x="668168" y="346105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2" name="Google Shape;772;p8"/>
          <p:cNvSpPr/>
          <p:nvPr/>
        </p:nvSpPr>
        <p:spPr>
          <a:xfrm>
            <a:off x="769607" y="352899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3" name="Google Shape;773;p8"/>
          <p:cNvSpPr/>
          <p:nvPr/>
        </p:nvSpPr>
        <p:spPr>
          <a:xfrm>
            <a:off x="653216" y="3553775"/>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4" name="Google Shape;774;p8"/>
          <p:cNvSpPr/>
          <p:nvPr/>
        </p:nvSpPr>
        <p:spPr>
          <a:xfrm>
            <a:off x="773498" y="363057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5" name="Google Shape;775;p8"/>
          <p:cNvSpPr/>
          <p:nvPr/>
        </p:nvSpPr>
        <p:spPr>
          <a:xfrm>
            <a:off x="789284" y="3693051"/>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6" name="Google Shape;776;p8"/>
          <p:cNvSpPr/>
          <p:nvPr/>
        </p:nvSpPr>
        <p:spPr>
          <a:xfrm>
            <a:off x="867055" y="370136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7" name="Google Shape;777;p8"/>
          <p:cNvSpPr/>
          <p:nvPr/>
        </p:nvSpPr>
        <p:spPr>
          <a:xfrm>
            <a:off x="890623" y="354738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8" name="Google Shape;778;p8"/>
          <p:cNvSpPr/>
          <p:nvPr/>
        </p:nvSpPr>
        <p:spPr>
          <a:xfrm>
            <a:off x="638264" y="343329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9" name="Google Shape;779;p8"/>
          <p:cNvSpPr/>
          <p:nvPr/>
        </p:nvSpPr>
        <p:spPr>
          <a:xfrm>
            <a:off x="521872" y="343329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80" name="Google Shape;780;p8"/>
          <p:cNvSpPr/>
          <p:nvPr/>
        </p:nvSpPr>
        <p:spPr>
          <a:xfrm>
            <a:off x="478629" y="348857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81" name="Google Shape;781;p8"/>
          <p:cNvSpPr/>
          <p:nvPr/>
        </p:nvSpPr>
        <p:spPr>
          <a:xfrm>
            <a:off x="623545" y="3615621"/>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2" name="Google Shape;782;p8"/>
          <p:cNvSpPr/>
          <p:nvPr/>
        </p:nvSpPr>
        <p:spPr>
          <a:xfrm>
            <a:off x="538249" y="363933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83" name="Google Shape;783;p8"/>
          <p:cNvSpPr/>
          <p:nvPr/>
        </p:nvSpPr>
        <p:spPr>
          <a:xfrm>
            <a:off x="549431" y="373399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84" name="Google Shape;784;p8"/>
          <p:cNvSpPr/>
          <p:nvPr/>
        </p:nvSpPr>
        <p:spPr>
          <a:xfrm>
            <a:off x="683120" y="381406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5" name="Google Shape;785;p8"/>
          <p:cNvSpPr/>
          <p:nvPr/>
        </p:nvSpPr>
        <p:spPr>
          <a:xfrm>
            <a:off x="626365" y="389716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6" name="Google Shape;786;p8"/>
          <p:cNvSpPr/>
          <p:nvPr/>
        </p:nvSpPr>
        <p:spPr>
          <a:xfrm>
            <a:off x="739703" y="3937876"/>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7" name="Google Shape;787;p8"/>
          <p:cNvSpPr/>
          <p:nvPr/>
        </p:nvSpPr>
        <p:spPr>
          <a:xfrm>
            <a:off x="1183696" y="36651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8" name="Google Shape;788;p8"/>
          <p:cNvSpPr/>
          <p:nvPr/>
        </p:nvSpPr>
        <p:spPr>
          <a:xfrm>
            <a:off x="1097209" y="370385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9" name="Google Shape;789;p8"/>
          <p:cNvSpPr/>
          <p:nvPr/>
        </p:nvSpPr>
        <p:spPr>
          <a:xfrm>
            <a:off x="1198648" y="37717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0" name="Google Shape;790;p8"/>
          <p:cNvSpPr/>
          <p:nvPr/>
        </p:nvSpPr>
        <p:spPr>
          <a:xfrm>
            <a:off x="1082257" y="379656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1" name="Google Shape;791;p8"/>
          <p:cNvSpPr/>
          <p:nvPr/>
        </p:nvSpPr>
        <p:spPr>
          <a:xfrm>
            <a:off x="1202540" y="387336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2" name="Google Shape;792;p8"/>
          <p:cNvSpPr/>
          <p:nvPr/>
        </p:nvSpPr>
        <p:spPr>
          <a:xfrm>
            <a:off x="1181518" y="3953970"/>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3" name="Google Shape;793;p8"/>
          <p:cNvSpPr/>
          <p:nvPr/>
        </p:nvSpPr>
        <p:spPr>
          <a:xfrm>
            <a:off x="1067305" y="36760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4" name="Google Shape;794;p8"/>
          <p:cNvSpPr/>
          <p:nvPr/>
        </p:nvSpPr>
        <p:spPr>
          <a:xfrm>
            <a:off x="950913" y="36760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5" name="Google Shape;795;p8"/>
          <p:cNvSpPr/>
          <p:nvPr/>
        </p:nvSpPr>
        <p:spPr>
          <a:xfrm>
            <a:off x="907670" y="373136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6" name="Google Shape;796;p8"/>
          <p:cNvSpPr/>
          <p:nvPr/>
        </p:nvSpPr>
        <p:spPr>
          <a:xfrm>
            <a:off x="1127954" y="391278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7" name="Google Shape;797;p8"/>
          <p:cNvSpPr/>
          <p:nvPr/>
        </p:nvSpPr>
        <p:spPr>
          <a:xfrm>
            <a:off x="967290" y="388212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8" name="Google Shape;798;p8"/>
          <p:cNvSpPr/>
          <p:nvPr/>
        </p:nvSpPr>
        <p:spPr>
          <a:xfrm>
            <a:off x="978473" y="3976786"/>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9" name="Google Shape;799;p8"/>
          <p:cNvSpPr/>
          <p:nvPr/>
        </p:nvSpPr>
        <p:spPr>
          <a:xfrm>
            <a:off x="1112161" y="4056856"/>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61" name="Google Shape;761;p8"/>
          <p:cNvSpPr/>
          <p:nvPr/>
        </p:nvSpPr>
        <p:spPr>
          <a:xfrm>
            <a:off x="1055406" y="4139961"/>
            <a:ext cx="15000" cy="15000"/>
          </a:xfrm>
          <a:prstGeom prst="ellipse">
            <a:avLst/>
          </a:prstGeom>
          <a:solidFill>
            <a:srgbClr val="80FF80"/>
          </a:solidFill>
          <a:ln w="3300" cap="flat" cmpd="sng">
            <a:solidFill>
              <a:srgbClr val="000000"/>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0" name="Google Shape;800;p8"/>
          <p:cNvSpPr/>
          <p:nvPr/>
        </p:nvSpPr>
        <p:spPr>
          <a:xfrm>
            <a:off x="613759" y="3977095"/>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1" name="Google Shape;801;p8"/>
          <p:cNvSpPr/>
          <p:nvPr/>
        </p:nvSpPr>
        <p:spPr>
          <a:xfrm>
            <a:off x="432503" y="399878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02" name="Google Shape;802;p8"/>
          <p:cNvSpPr/>
          <p:nvPr/>
        </p:nvSpPr>
        <p:spPr>
          <a:xfrm>
            <a:off x="617651" y="4078670"/>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3" name="Google Shape;803;p8"/>
          <p:cNvSpPr/>
          <p:nvPr/>
        </p:nvSpPr>
        <p:spPr>
          <a:xfrm>
            <a:off x="633436" y="414114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4" name="Google Shape;804;p8"/>
          <p:cNvSpPr/>
          <p:nvPr/>
        </p:nvSpPr>
        <p:spPr>
          <a:xfrm>
            <a:off x="711207" y="4149465"/>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5" name="Google Shape;805;p8"/>
          <p:cNvSpPr/>
          <p:nvPr/>
        </p:nvSpPr>
        <p:spPr>
          <a:xfrm>
            <a:off x="734775" y="3995480"/>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6" name="Google Shape;806;p8"/>
          <p:cNvSpPr/>
          <p:nvPr/>
        </p:nvSpPr>
        <p:spPr>
          <a:xfrm>
            <a:off x="411072" y="374018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07" name="Google Shape;807;p8"/>
          <p:cNvSpPr/>
          <p:nvPr/>
        </p:nvSpPr>
        <p:spPr>
          <a:xfrm>
            <a:off x="411203" y="38793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08" name="Google Shape;808;p8"/>
          <p:cNvSpPr/>
          <p:nvPr/>
        </p:nvSpPr>
        <p:spPr>
          <a:xfrm>
            <a:off x="467697" y="406371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09" name="Google Shape;809;p8"/>
          <p:cNvSpPr/>
          <p:nvPr/>
        </p:nvSpPr>
        <p:spPr>
          <a:xfrm>
            <a:off x="837189" y="399736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0" name="Google Shape;810;p8"/>
          <p:cNvSpPr/>
          <p:nvPr/>
        </p:nvSpPr>
        <p:spPr>
          <a:xfrm>
            <a:off x="829713" y="424184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1" name="Google Shape;811;p8"/>
          <p:cNvSpPr/>
          <p:nvPr/>
        </p:nvSpPr>
        <p:spPr>
          <a:xfrm>
            <a:off x="708981" y="421835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2" name="Google Shape;812;p8"/>
          <p:cNvSpPr/>
          <p:nvPr/>
        </p:nvSpPr>
        <p:spPr>
          <a:xfrm>
            <a:off x="581941" y="363421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3" name="Google Shape;813;p8"/>
          <p:cNvSpPr/>
          <p:nvPr/>
        </p:nvSpPr>
        <p:spPr>
          <a:xfrm>
            <a:off x="495454" y="367287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4" name="Google Shape;814;p8"/>
          <p:cNvSpPr/>
          <p:nvPr/>
        </p:nvSpPr>
        <p:spPr>
          <a:xfrm>
            <a:off x="596893" y="374081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5" name="Google Shape;815;p8"/>
          <p:cNvSpPr/>
          <p:nvPr/>
        </p:nvSpPr>
        <p:spPr>
          <a:xfrm>
            <a:off x="480502" y="3765590"/>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6" name="Google Shape;816;p8"/>
          <p:cNvSpPr/>
          <p:nvPr/>
        </p:nvSpPr>
        <p:spPr>
          <a:xfrm>
            <a:off x="600784" y="384238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7" name="Google Shape;817;p8"/>
          <p:cNvSpPr/>
          <p:nvPr/>
        </p:nvSpPr>
        <p:spPr>
          <a:xfrm>
            <a:off x="694341" y="391318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8" name="Google Shape;818;p8"/>
          <p:cNvSpPr/>
          <p:nvPr/>
        </p:nvSpPr>
        <p:spPr>
          <a:xfrm>
            <a:off x="717909" y="375919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9" name="Google Shape;819;p8"/>
          <p:cNvSpPr/>
          <p:nvPr/>
        </p:nvSpPr>
        <p:spPr>
          <a:xfrm>
            <a:off x="465550" y="364511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0" name="Google Shape;820;p8"/>
          <p:cNvSpPr/>
          <p:nvPr/>
        </p:nvSpPr>
        <p:spPr>
          <a:xfrm>
            <a:off x="349158" y="364511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1" name="Google Shape;821;p8"/>
          <p:cNvSpPr/>
          <p:nvPr/>
        </p:nvSpPr>
        <p:spPr>
          <a:xfrm>
            <a:off x="333714" y="370347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2" name="Google Shape;822;p8"/>
          <p:cNvSpPr/>
          <p:nvPr/>
        </p:nvSpPr>
        <p:spPr>
          <a:xfrm>
            <a:off x="450831" y="3827436"/>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3" name="Google Shape;823;p8"/>
          <p:cNvSpPr/>
          <p:nvPr/>
        </p:nvSpPr>
        <p:spPr>
          <a:xfrm>
            <a:off x="376717" y="394580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4" name="Google Shape;824;p8"/>
          <p:cNvSpPr/>
          <p:nvPr/>
        </p:nvSpPr>
        <p:spPr>
          <a:xfrm>
            <a:off x="510406" y="402587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5" name="Google Shape;825;p8"/>
          <p:cNvSpPr/>
          <p:nvPr/>
        </p:nvSpPr>
        <p:spPr>
          <a:xfrm>
            <a:off x="566989" y="4149691"/>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6" name="Google Shape;826;p8"/>
          <p:cNvSpPr/>
          <p:nvPr/>
        </p:nvSpPr>
        <p:spPr>
          <a:xfrm>
            <a:off x="967956" y="3381195"/>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27" name="Google Shape;827;p8"/>
          <p:cNvSpPr/>
          <p:nvPr/>
        </p:nvSpPr>
        <p:spPr>
          <a:xfrm>
            <a:off x="1069395" y="344913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28" name="Google Shape;828;p8"/>
          <p:cNvSpPr/>
          <p:nvPr/>
        </p:nvSpPr>
        <p:spPr>
          <a:xfrm>
            <a:off x="1073287" y="355070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29" name="Google Shape;829;p8"/>
          <p:cNvSpPr/>
          <p:nvPr/>
        </p:nvSpPr>
        <p:spPr>
          <a:xfrm>
            <a:off x="1089072" y="361318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0" name="Google Shape;830;p8"/>
          <p:cNvSpPr/>
          <p:nvPr/>
        </p:nvSpPr>
        <p:spPr>
          <a:xfrm>
            <a:off x="1166843" y="362150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1" name="Google Shape;831;p8"/>
          <p:cNvSpPr/>
          <p:nvPr/>
        </p:nvSpPr>
        <p:spPr>
          <a:xfrm>
            <a:off x="869469" y="345325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2" name="Google Shape;832;p8"/>
          <p:cNvSpPr/>
          <p:nvPr/>
        </p:nvSpPr>
        <p:spPr>
          <a:xfrm>
            <a:off x="838037" y="355946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3" name="Google Shape;833;p8"/>
          <p:cNvSpPr/>
          <p:nvPr/>
        </p:nvSpPr>
        <p:spPr>
          <a:xfrm>
            <a:off x="849220" y="365412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4" name="Google Shape;834;p8"/>
          <p:cNvSpPr/>
          <p:nvPr/>
        </p:nvSpPr>
        <p:spPr>
          <a:xfrm>
            <a:off x="982908" y="373419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5" name="Google Shape;835;p8"/>
          <p:cNvSpPr/>
          <p:nvPr/>
        </p:nvSpPr>
        <p:spPr>
          <a:xfrm>
            <a:off x="1039491" y="3858011"/>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6" name="Google Shape;836;p8"/>
          <p:cNvSpPr/>
          <p:nvPr/>
        </p:nvSpPr>
        <p:spPr>
          <a:xfrm>
            <a:off x="678786" y="3360670"/>
            <a:ext cx="67800" cy="678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7" name="Google Shape;837;p8"/>
          <p:cNvSpPr/>
          <p:nvPr/>
        </p:nvSpPr>
        <p:spPr>
          <a:xfrm rot="2620235">
            <a:off x="349196" y="4128072"/>
            <a:ext cx="201155" cy="61748"/>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38" name="Google Shape;838;p8"/>
          <p:cNvSpPr/>
          <p:nvPr/>
        </p:nvSpPr>
        <p:spPr>
          <a:xfrm rot="4233882">
            <a:off x="220960" y="3926384"/>
            <a:ext cx="201057" cy="61772"/>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cxnSp>
        <p:nvCxnSpPr>
          <p:cNvPr id="839" name="Google Shape;839;p8"/>
          <p:cNvCxnSpPr/>
          <p:nvPr/>
        </p:nvCxnSpPr>
        <p:spPr>
          <a:xfrm>
            <a:off x="1057596" y="3363644"/>
            <a:ext cx="246600" cy="140400"/>
          </a:xfrm>
          <a:prstGeom prst="straightConnector1">
            <a:avLst/>
          </a:prstGeom>
          <a:noFill/>
          <a:ln w="6625" cap="flat" cmpd="sng">
            <a:solidFill>
              <a:srgbClr val="000033"/>
            </a:solidFill>
            <a:prstDash val="solid"/>
            <a:miter lim="800000"/>
            <a:headEnd type="none" w="sm" len="sm"/>
            <a:tailEnd type="none" w="sm" len="sm"/>
          </a:ln>
        </p:spPr>
      </p:cxnSp>
      <p:cxnSp>
        <p:nvCxnSpPr>
          <p:cNvPr id="840" name="Google Shape;840;p8"/>
          <p:cNvCxnSpPr/>
          <p:nvPr/>
        </p:nvCxnSpPr>
        <p:spPr>
          <a:xfrm rot="10800000" flipH="1">
            <a:off x="1044443" y="3678462"/>
            <a:ext cx="331200" cy="225300"/>
          </a:xfrm>
          <a:prstGeom prst="straightConnector1">
            <a:avLst/>
          </a:prstGeom>
          <a:noFill/>
          <a:ln w="6625" cap="flat" cmpd="sng">
            <a:solidFill>
              <a:srgbClr val="000033"/>
            </a:solidFill>
            <a:prstDash val="solid"/>
            <a:miter lim="800000"/>
            <a:headEnd type="none" w="sm" len="sm"/>
            <a:tailEnd type="none" w="sm" len="sm"/>
          </a:ln>
        </p:spPr>
      </p:cxnSp>
      <p:cxnSp>
        <p:nvCxnSpPr>
          <p:cNvPr id="841" name="Google Shape;841;p8"/>
          <p:cNvCxnSpPr/>
          <p:nvPr/>
        </p:nvCxnSpPr>
        <p:spPr>
          <a:xfrm rot="10800000" flipH="1">
            <a:off x="959880" y="3857744"/>
            <a:ext cx="422700" cy="198900"/>
          </a:xfrm>
          <a:prstGeom prst="straightConnector1">
            <a:avLst/>
          </a:prstGeom>
          <a:noFill/>
          <a:ln w="6625" cap="flat" cmpd="sng">
            <a:solidFill>
              <a:srgbClr val="000033"/>
            </a:solidFill>
            <a:prstDash val="solid"/>
            <a:miter lim="800000"/>
            <a:headEnd type="none" w="sm" len="sm"/>
            <a:tailEnd type="none" w="sm" len="sm"/>
          </a:ln>
        </p:spPr>
      </p:cxnSp>
      <p:cxnSp>
        <p:nvCxnSpPr>
          <p:cNvPr id="842" name="Google Shape;842;p8"/>
          <p:cNvCxnSpPr/>
          <p:nvPr/>
        </p:nvCxnSpPr>
        <p:spPr>
          <a:xfrm>
            <a:off x="837189" y="4151934"/>
            <a:ext cx="327000" cy="404100"/>
          </a:xfrm>
          <a:prstGeom prst="straightConnector1">
            <a:avLst/>
          </a:prstGeom>
          <a:noFill/>
          <a:ln w="6625" cap="flat" cmpd="sng">
            <a:solidFill>
              <a:srgbClr val="000033"/>
            </a:solidFill>
            <a:prstDash val="solid"/>
            <a:miter lim="800000"/>
            <a:headEnd type="none" w="sm" len="sm"/>
            <a:tailEnd type="none" w="sm" len="sm"/>
          </a:ln>
        </p:spPr>
      </p:cxnSp>
      <p:sp>
        <p:nvSpPr>
          <p:cNvPr id="843" name="Google Shape;843;p8"/>
          <p:cNvSpPr txBox="1"/>
          <p:nvPr/>
        </p:nvSpPr>
        <p:spPr>
          <a:xfrm>
            <a:off x="1306440" y="3394617"/>
            <a:ext cx="612000" cy="117600"/>
          </a:xfrm>
          <a:prstGeom prst="rect">
            <a:avLst/>
          </a:prstGeom>
          <a:blipFill rotWithShape="1">
            <a:blip r:embed="rId4">
              <a:alphaModFix/>
            </a:blip>
            <a:stretch>
              <a:fillRect l="-1729" t="-5448" b="-23638"/>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sp>
        <p:nvSpPr>
          <p:cNvPr id="844" name="Google Shape;844;p8"/>
          <p:cNvSpPr txBox="1"/>
          <p:nvPr/>
        </p:nvSpPr>
        <p:spPr>
          <a:xfrm>
            <a:off x="1357095" y="3571313"/>
            <a:ext cx="612000" cy="117600"/>
          </a:xfrm>
          <a:prstGeom prst="rect">
            <a:avLst/>
          </a:prstGeom>
          <a:blipFill rotWithShape="1">
            <a:blip r:embed="rId5">
              <a:alphaModFix/>
            </a:blip>
            <a:stretch>
              <a:fillRect l="-2079" t="-5358" b="-21419"/>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sp>
        <p:nvSpPr>
          <p:cNvPr id="845" name="Google Shape;845;p8"/>
          <p:cNvSpPr txBox="1"/>
          <p:nvPr/>
        </p:nvSpPr>
        <p:spPr>
          <a:xfrm>
            <a:off x="1386978" y="3751356"/>
            <a:ext cx="612000" cy="117600"/>
          </a:xfrm>
          <a:prstGeom prst="rect">
            <a:avLst/>
          </a:prstGeom>
          <a:blipFill rotWithShape="1">
            <a:blip r:embed="rId6">
              <a:alphaModFix/>
            </a:blip>
            <a:stretch>
              <a:fillRect l="-1729" t="-5358" b="-21419"/>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sp>
        <p:nvSpPr>
          <p:cNvPr id="846" name="Google Shape;846;p8"/>
          <p:cNvSpPr txBox="1"/>
          <p:nvPr/>
        </p:nvSpPr>
        <p:spPr>
          <a:xfrm>
            <a:off x="1320085" y="4263095"/>
            <a:ext cx="612000" cy="117600"/>
          </a:xfrm>
          <a:prstGeom prst="rect">
            <a:avLst/>
          </a:prstGeom>
          <a:blipFill rotWithShape="1">
            <a:blip r:embed="rId7">
              <a:alphaModFix/>
            </a:blip>
            <a:stretch>
              <a:fillRect l="-1719" t="-5448" b="-23638"/>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sp>
        <p:nvSpPr>
          <p:cNvPr id="847" name="Google Shape;847;p8"/>
          <p:cNvSpPr txBox="1"/>
          <p:nvPr/>
        </p:nvSpPr>
        <p:spPr>
          <a:xfrm>
            <a:off x="1164123" y="4447472"/>
            <a:ext cx="834900" cy="117600"/>
          </a:xfrm>
          <a:prstGeom prst="rect">
            <a:avLst/>
          </a:prstGeom>
          <a:blipFill rotWithShape="1">
            <a:blip r:embed="rId8">
              <a:alphaModFix/>
            </a:blip>
            <a:stretch>
              <a:fillRect l="-1519" t="-5448" b="-23638"/>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cxnSp>
        <p:nvCxnSpPr>
          <p:cNvPr id="848" name="Google Shape;848;p8"/>
          <p:cNvCxnSpPr/>
          <p:nvPr/>
        </p:nvCxnSpPr>
        <p:spPr>
          <a:xfrm>
            <a:off x="1304063" y="3503980"/>
            <a:ext cx="491100" cy="0"/>
          </a:xfrm>
          <a:prstGeom prst="straightConnector1">
            <a:avLst/>
          </a:prstGeom>
          <a:noFill/>
          <a:ln w="6625" cap="flat" cmpd="sng">
            <a:solidFill>
              <a:srgbClr val="000033"/>
            </a:solidFill>
            <a:prstDash val="solid"/>
            <a:miter lim="800000"/>
            <a:headEnd type="none" w="sm" len="sm"/>
            <a:tailEnd type="none" w="sm" len="sm"/>
          </a:ln>
        </p:spPr>
      </p:cxnSp>
      <p:cxnSp>
        <p:nvCxnSpPr>
          <p:cNvPr id="849" name="Google Shape;849;p8"/>
          <p:cNvCxnSpPr/>
          <p:nvPr/>
        </p:nvCxnSpPr>
        <p:spPr>
          <a:xfrm>
            <a:off x="1375628" y="3678589"/>
            <a:ext cx="384000" cy="0"/>
          </a:xfrm>
          <a:prstGeom prst="straightConnector1">
            <a:avLst/>
          </a:prstGeom>
          <a:noFill/>
          <a:ln w="6625" cap="flat" cmpd="sng">
            <a:solidFill>
              <a:srgbClr val="000033"/>
            </a:solidFill>
            <a:prstDash val="solid"/>
            <a:miter lim="800000"/>
            <a:headEnd type="none" w="sm" len="sm"/>
            <a:tailEnd type="none" w="sm" len="sm"/>
          </a:ln>
        </p:spPr>
      </p:cxnSp>
      <p:cxnSp>
        <p:nvCxnSpPr>
          <p:cNvPr id="850" name="Google Shape;850;p8"/>
          <p:cNvCxnSpPr/>
          <p:nvPr/>
        </p:nvCxnSpPr>
        <p:spPr>
          <a:xfrm>
            <a:off x="1379105" y="3859066"/>
            <a:ext cx="477600" cy="0"/>
          </a:xfrm>
          <a:prstGeom prst="straightConnector1">
            <a:avLst/>
          </a:prstGeom>
          <a:noFill/>
          <a:ln w="6625" cap="flat" cmpd="sng">
            <a:solidFill>
              <a:srgbClr val="000033"/>
            </a:solidFill>
            <a:prstDash val="solid"/>
            <a:miter lim="800000"/>
            <a:headEnd type="none" w="sm" len="sm"/>
            <a:tailEnd type="none" w="sm" len="sm"/>
          </a:ln>
        </p:spPr>
      </p:cxnSp>
      <p:cxnSp>
        <p:nvCxnSpPr>
          <p:cNvPr id="851" name="Google Shape;851;p8"/>
          <p:cNvCxnSpPr/>
          <p:nvPr/>
        </p:nvCxnSpPr>
        <p:spPr>
          <a:xfrm>
            <a:off x="1320085" y="4374889"/>
            <a:ext cx="475200" cy="0"/>
          </a:xfrm>
          <a:prstGeom prst="straightConnector1">
            <a:avLst/>
          </a:prstGeom>
          <a:noFill/>
          <a:ln w="6625" cap="flat" cmpd="sng">
            <a:solidFill>
              <a:srgbClr val="000033"/>
            </a:solidFill>
            <a:prstDash val="solid"/>
            <a:miter lim="800000"/>
            <a:headEnd type="none" w="sm" len="sm"/>
            <a:tailEnd type="none" w="sm" len="sm"/>
          </a:ln>
        </p:spPr>
      </p:cxnSp>
      <p:cxnSp>
        <p:nvCxnSpPr>
          <p:cNvPr id="852" name="Google Shape;852;p8"/>
          <p:cNvCxnSpPr/>
          <p:nvPr/>
        </p:nvCxnSpPr>
        <p:spPr>
          <a:xfrm>
            <a:off x="1164123" y="4555974"/>
            <a:ext cx="720300" cy="0"/>
          </a:xfrm>
          <a:prstGeom prst="straightConnector1">
            <a:avLst/>
          </a:prstGeom>
          <a:noFill/>
          <a:ln w="6625" cap="flat" cmpd="sng">
            <a:solidFill>
              <a:srgbClr val="000033"/>
            </a:solidFill>
            <a:prstDash val="solid"/>
            <a:miter lim="800000"/>
            <a:headEnd type="none" w="sm" len="sm"/>
            <a:tailEnd type="none" w="sm" len="sm"/>
          </a:ln>
        </p:spPr>
      </p:cxnSp>
      <p:cxnSp>
        <p:nvCxnSpPr>
          <p:cNvPr id="853" name="Google Shape;853;p8"/>
          <p:cNvCxnSpPr/>
          <p:nvPr/>
        </p:nvCxnSpPr>
        <p:spPr>
          <a:xfrm>
            <a:off x="469334" y="4185288"/>
            <a:ext cx="388200" cy="547800"/>
          </a:xfrm>
          <a:prstGeom prst="straightConnector1">
            <a:avLst/>
          </a:prstGeom>
          <a:noFill/>
          <a:ln w="6625" cap="flat" cmpd="sng">
            <a:solidFill>
              <a:srgbClr val="000033"/>
            </a:solidFill>
            <a:prstDash val="solid"/>
            <a:miter lim="800000"/>
            <a:headEnd type="none" w="sm" len="sm"/>
            <a:tailEnd type="none" w="sm" len="sm"/>
          </a:ln>
        </p:spPr>
      </p:cxnSp>
      <p:sp>
        <p:nvSpPr>
          <p:cNvPr id="854" name="Google Shape;854;p8"/>
          <p:cNvSpPr txBox="1"/>
          <p:nvPr/>
        </p:nvSpPr>
        <p:spPr>
          <a:xfrm>
            <a:off x="874712" y="4617866"/>
            <a:ext cx="903900" cy="117600"/>
          </a:xfrm>
          <a:prstGeom prst="rect">
            <a:avLst/>
          </a:prstGeom>
          <a:noFill/>
          <a:ln>
            <a:noFill/>
          </a:ln>
        </p:spPr>
        <p:txBody>
          <a:bodyPr spcFirstLastPara="1" wrap="square" lIns="31775" tIns="15875" rIns="31775" bIns="15875" anchor="t" anchorCtr="0">
            <a:spAutoFit/>
          </a:bodyPr>
          <a:lstStyle/>
          <a:p>
            <a:pPr marL="0" marR="0" lvl="0" indent="0" algn="l" rtl="0">
              <a:spcBef>
                <a:spcPts val="0"/>
              </a:spcBef>
              <a:spcAft>
                <a:spcPts val="0"/>
              </a:spcAft>
              <a:buNone/>
            </a:pPr>
            <a:r>
              <a:rPr lang="en-GB" sz="555" i="1">
                <a:solidFill>
                  <a:srgbClr val="000000"/>
                </a:solidFill>
                <a:latin typeface="Play"/>
                <a:ea typeface="Play"/>
                <a:cs typeface="Play"/>
                <a:sym typeface="Play"/>
              </a:rPr>
              <a:t>Intergranular bubbles</a:t>
            </a:r>
            <a:endParaRPr sz="555" i="1">
              <a:solidFill>
                <a:srgbClr val="000000"/>
              </a:solidFill>
              <a:latin typeface="Play"/>
              <a:ea typeface="Play"/>
              <a:cs typeface="Play"/>
              <a:sym typeface="Play"/>
            </a:endParaRPr>
          </a:p>
        </p:txBody>
      </p:sp>
      <p:cxnSp>
        <p:nvCxnSpPr>
          <p:cNvPr id="855" name="Google Shape;855;p8"/>
          <p:cNvCxnSpPr/>
          <p:nvPr/>
        </p:nvCxnSpPr>
        <p:spPr>
          <a:xfrm>
            <a:off x="858266" y="4736451"/>
            <a:ext cx="720300" cy="0"/>
          </a:xfrm>
          <a:prstGeom prst="straightConnector1">
            <a:avLst/>
          </a:prstGeom>
          <a:noFill/>
          <a:ln w="6625" cap="flat" cmpd="sng">
            <a:solidFill>
              <a:srgbClr val="000033"/>
            </a:solidFill>
            <a:prstDash val="solid"/>
            <a:miter lim="800000"/>
            <a:headEnd type="none" w="sm" len="sm"/>
            <a:tailEnd type="none" w="sm" len="sm"/>
          </a:ln>
        </p:spPr>
      </p:cxnSp>
      <p:cxnSp>
        <p:nvCxnSpPr>
          <p:cNvPr id="856" name="Google Shape;856;p8"/>
          <p:cNvCxnSpPr/>
          <p:nvPr/>
        </p:nvCxnSpPr>
        <p:spPr>
          <a:xfrm>
            <a:off x="1206279" y="4042254"/>
            <a:ext cx="185700" cy="106500"/>
          </a:xfrm>
          <a:prstGeom prst="straightConnector1">
            <a:avLst/>
          </a:prstGeom>
          <a:noFill/>
          <a:ln w="6625" cap="flat" cmpd="sng">
            <a:solidFill>
              <a:srgbClr val="000033"/>
            </a:solidFill>
            <a:prstDash val="solid"/>
            <a:miter lim="800000"/>
            <a:headEnd type="none" w="sm" len="sm"/>
            <a:tailEnd type="none" w="sm" len="sm"/>
          </a:ln>
        </p:spPr>
      </p:cxnSp>
      <p:cxnSp>
        <p:nvCxnSpPr>
          <p:cNvPr id="857" name="Google Shape;857;p8"/>
          <p:cNvCxnSpPr/>
          <p:nvPr/>
        </p:nvCxnSpPr>
        <p:spPr>
          <a:xfrm>
            <a:off x="1394390" y="4148035"/>
            <a:ext cx="491100" cy="0"/>
          </a:xfrm>
          <a:prstGeom prst="straightConnector1">
            <a:avLst/>
          </a:prstGeom>
          <a:noFill/>
          <a:ln w="6625" cap="flat" cmpd="sng">
            <a:solidFill>
              <a:srgbClr val="000033"/>
            </a:solidFill>
            <a:prstDash val="solid"/>
            <a:miter lim="800000"/>
            <a:headEnd type="none" w="sm" len="sm"/>
            <a:tailEnd type="none" w="sm" len="sm"/>
          </a:ln>
        </p:spPr>
      </p:cxnSp>
      <p:sp>
        <p:nvSpPr>
          <p:cNvPr id="858" name="Google Shape;858;p8"/>
          <p:cNvSpPr txBox="1"/>
          <p:nvPr/>
        </p:nvSpPr>
        <p:spPr>
          <a:xfrm>
            <a:off x="1399604" y="4029216"/>
            <a:ext cx="691800" cy="117600"/>
          </a:xfrm>
          <a:prstGeom prst="rect">
            <a:avLst/>
          </a:prstGeom>
          <a:noFill/>
          <a:ln>
            <a:noFill/>
          </a:ln>
        </p:spPr>
        <p:txBody>
          <a:bodyPr spcFirstLastPara="1" wrap="square" lIns="31775" tIns="15875" rIns="31775" bIns="15875" anchor="t" anchorCtr="0">
            <a:spAutoFit/>
          </a:bodyPr>
          <a:lstStyle/>
          <a:p>
            <a:pPr marL="0" marR="0" lvl="0" indent="0" algn="l" rtl="0">
              <a:spcBef>
                <a:spcPts val="0"/>
              </a:spcBef>
              <a:spcAft>
                <a:spcPts val="0"/>
              </a:spcAft>
              <a:buNone/>
            </a:pPr>
            <a:r>
              <a:rPr lang="en-GB" sz="555" i="1">
                <a:solidFill>
                  <a:srgbClr val="000000"/>
                </a:solidFill>
                <a:latin typeface="Play"/>
                <a:ea typeface="Play"/>
                <a:cs typeface="Play"/>
                <a:sym typeface="Play"/>
              </a:rPr>
              <a:t>Grain boundary</a:t>
            </a:r>
            <a:endParaRPr sz="555" i="1">
              <a:solidFill>
                <a:srgbClr val="000000"/>
              </a:solidFill>
              <a:latin typeface="Play"/>
              <a:ea typeface="Play"/>
              <a:cs typeface="Play"/>
              <a:sym typeface="Play"/>
            </a:endParaRPr>
          </a:p>
        </p:txBody>
      </p:sp>
      <p:cxnSp>
        <p:nvCxnSpPr>
          <p:cNvPr id="859" name="Google Shape;859;p8"/>
          <p:cNvCxnSpPr/>
          <p:nvPr/>
        </p:nvCxnSpPr>
        <p:spPr>
          <a:xfrm flipH="1">
            <a:off x="801396" y="3191588"/>
            <a:ext cx="256200" cy="295800"/>
          </a:xfrm>
          <a:prstGeom prst="straightConnector1">
            <a:avLst/>
          </a:prstGeom>
          <a:noFill/>
          <a:ln w="6625" cap="flat" cmpd="sng">
            <a:solidFill>
              <a:srgbClr val="000033"/>
            </a:solidFill>
            <a:prstDash val="solid"/>
            <a:miter lim="800000"/>
            <a:headEnd type="none" w="sm" len="sm"/>
            <a:tailEnd type="none" w="sm" len="sm"/>
          </a:ln>
        </p:spPr>
      </p:cxnSp>
      <p:sp>
        <p:nvSpPr>
          <p:cNvPr id="860" name="Google Shape;860;p8"/>
          <p:cNvSpPr txBox="1"/>
          <p:nvPr/>
        </p:nvSpPr>
        <p:spPr>
          <a:xfrm>
            <a:off x="1046186" y="3076526"/>
            <a:ext cx="783900" cy="117600"/>
          </a:xfrm>
          <a:prstGeom prst="rect">
            <a:avLst/>
          </a:prstGeom>
          <a:blipFill rotWithShape="1">
            <a:blip r:embed="rId9">
              <a:alphaModFix/>
            </a:blip>
            <a:stretch>
              <a:fillRect l="-1349" t="-5358" b="-21419"/>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cxnSp>
        <p:nvCxnSpPr>
          <p:cNvPr id="861" name="Google Shape;861;p8"/>
          <p:cNvCxnSpPr/>
          <p:nvPr/>
        </p:nvCxnSpPr>
        <p:spPr>
          <a:xfrm>
            <a:off x="1057595" y="3191916"/>
            <a:ext cx="772500" cy="0"/>
          </a:xfrm>
          <a:prstGeom prst="straightConnector1">
            <a:avLst/>
          </a:prstGeom>
          <a:noFill/>
          <a:ln w="6625" cap="flat" cmpd="sng">
            <a:solidFill>
              <a:srgbClr val="000033"/>
            </a:solidFill>
            <a:prstDash val="solid"/>
            <a:miter lim="800000"/>
            <a:headEnd type="none" w="sm" len="sm"/>
            <a:tailEnd type="none" w="sm" len="sm"/>
          </a:ln>
        </p:spPr>
      </p:cxnSp>
      <p:pic>
        <p:nvPicPr>
          <p:cNvPr id="862" name="Google Shape;862;p8"/>
          <p:cNvPicPr preferRelativeResize="0"/>
          <p:nvPr/>
        </p:nvPicPr>
        <p:blipFill rotWithShape="1">
          <a:blip r:embed="rId3">
            <a:alphaModFix/>
          </a:blip>
          <a:srcRect/>
          <a:stretch/>
        </p:blipFill>
        <p:spPr>
          <a:xfrm>
            <a:off x="857657" y="4013735"/>
            <a:ext cx="48700" cy="48700"/>
          </a:xfrm>
          <a:prstGeom prst="rect">
            <a:avLst/>
          </a:prstGeom>
          <a:noFill/>
          <a:ln>
            <a:noFill/>
          </a:ln>
        </p:spPr>
      </p:pic>
      <p:cxnSp>
        <p:nvCxnSpPr>
          <p:cNvPr id="863" name="Google Shape;863;p8"/>
          <p:cNvCxnSpPr>
            <a:endCxn id="766" idx="4"/>
          </p:cNvCxnSpPr>
          <p:nvPr/>
        </p:nvCxnSpPr>
        <p:spPr>
          <a:xfrm rot="10800000">
            <a:off x="894639" y="3886950"/>
            <a:ext cx="81300" cy="181800"/>
          </a:xfrm>
          <a:prstGeom prst="straightConnector1">
            <a:avLst/>
          </a:prstGeom>
          <a:noFill/>
          <a:ln w="6625" cap="flat" cmpd="sng">
            <a:solidFill>
              <a:srgbClr val="000033"/>
            </a:solidFill>
            <a:prstDash val="solid"/>
            <a:miter lim="800000"/>
            <a:headEnd type="none" w="sm" len="sm"/>
            <a:tailEnd type="triangle" w="med" len="med"/>
          </a:ln>
        </p:spPr>
      </p:cxnSp>
      <p:cxnSp>
        <p:nvCxnSpPr>
          <p:cNvPr id="864" name="Google Shape;864;p8"/>
          <p:cNvCxnSpPr>
            <a:stCxn id="766" idx="5"/>
          </p:cNvCxnSpPr>
          <p:nvPr/>
        </p:nvCxnSpPr>
        <p:spPr>
          <a:xfrm>
            <a:off x="935262" y="3870123"/>
            <a:ext cx="164700" cy="62100"/>
          </a:xfrm>
          <a:prstGeom prst="straightConnector1">
            <a:avLst/>
          </a:prstGeom>
          <a:noFill/>
          <a:ln w="6625" cap="flat" cmpd="sng">
            <a:solidFill>
              <a:srgbClr val="000033"/>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5">
                                            <p:txEl>
                                              <p:pRg st="0" end="0"/>
                                            </p:txEl>
                                          </p:spTgt>
                                        </p:tgtEl>
                                        <p:attrNameLst>
                                          <p:attrName>style.visibility</p:attrName>
                                        </p:attrNameLst>
                                      </p:cBhvr>
                                      <p:to>
                                        <p:strVal val="visible"/>
                                      </p:to>
                                    </p:set>
                                    <p:animEffect transition="in" filter="fade">
                                      <p:cBhvr>
                                        <p:cTn id="7" dur="500"/>
                                        <p:tgtEl>
                                          <p:spTgt spid="7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5">
                                            <p:txEl>
                                              <p:pRg st="1" end="1"/>
                                            </p:txEl>
                                          </p:spTgt>
                                        </p:tgtEl>
                                        <p:attrNameLst>
                                          <p:attrName>style.visibility</p:attrName>
                                        </p:attrNameLst>
                                      </p:cBhvr>
                                      <p:to>
                                        <p:strVal val="visible"/>
                                      </p:to>
                                    </p:set>
                                    <p:animEffect transition="in" filter="fade">
                                      <p:cBhvr>
                                        <p:cTn id="12" dur="500"/>
                                        <p:tgtEl>
                                          <p:spTgt spid="7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5">
                                            <p:txEl>
                                              <p:pRg st="2" end="2"/>
                                            </p:txEl>
                                          </p:spTgt>
                                        </p:tgtEl>
                                        <p:attrNameLst>
                                          <p:attrName>style.visibility</p:attrName>
                                        </p:attrNameLst>
                                      </p:cBhvr>
                                      <p:to>
                                        <p:strVal val="visible"/>
                                      </p:to>
                                    </p:set>
                                    <p:animEffect transition="in" filter="fade">
                                      <p:cBhvr>
                                        <p:cTn id="17" dur="500"/>
                                        <p:tgtEl>
                                          <p:spTgt spid="7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5">
                                            <p:txEl>
                                              <p:pRg st="3" end="3"/>
                                            </p:txEl>
                                          </p:spTgt>
                                        </p:tgtEl>
                                        <p:attrNameLst>
                                          <p:attrName>style.visibility</p:attrName>
                                        </p:attrNameLst>
                                      </p:cBhvr>
                                      <p:to>
                                        <p:strVal val="visible"/>
                                      </p:to>
                                    </p:set>
                                    <p:animEffect transition="in" filter="fade">
                                      <p:cBhvr>
                                        <p:cTn id="22" dur="500"/>
                                        <p:tgtEl>
                                          <p:spTgt spid="72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5">
                                            <p:txEl>
                                              <p:pRg st="4" end="4"/>
                                            </p:txEl>
                                          </p:spTgt>
                                        </p:tgtEl>
                                        <p:attrNameLst>
                                          <p:attrName>style.visibility</p:attrName>
                                        </p:attrNameLst>
                                      </p:cBhvr>
                                      <p:to>
                                        <p:strVal val="visible"/>
                                      </p:to>
                                    </p:set>
                                    <p:animEffect transition="in" filter="fade">
                                      <p:cBhvr>
                                        <p:cTn id="27" dur="500"/>
                                        <p:tgtEl>
                                          <p:spTgt spid="72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5">
                                            <p:txEl>
                                              <p:pRg st="5" end="5"/>
                                            </p:txEl>
                                          </p:spTgt>
                                        </p:tgtEl>
                                        <p:attrNameLst>
                                          <p:attrName>style.visibility</p:attrName>
                                        </p:attrNameLst>
                                      </p:cBhvr>
                                      <p:to>
                                        <p:strVal val="visible"/>
                                      </p:to>
                                    </p:set>
                                    <p:animEffect transition="in" filter="fade">
                                      <p:cBhvr>
                                        <p:cTn id="32" dur="500"/>
                                        <p:tgtEl>
                                          <p:spTgt spid="72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25">
                                            <p:txEl>
                                              <p:pRg st="6" end="6"/>
                                            </p:txEl>
                                          </p:spTgt>
                                        </p:tgtEl>
                                        <p:attrNameLst>
                                          <p:attrName>style.visibility</p:attrName>
                                        </p:attrNameLst>
                                      </p:cBhvr>
                                      <p:to>
                                        <p:strVal val="visible"/>
                                      </p:to>
                                    </p:set>
                                    <p:animEffect transition="in" filter="fade">
                                      <p:cBhvr>
                                        <p:cTn id="37" dur="500"/>
                                        <p:tgtEl>
                                          <p:spTgt spid="72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25">
                                            <p:txEl>
                                              <p:pRg st="7" end="7"/>
                                            </p:txEl>
                                          </p:spTgt>
                                        </p:tgtEl>
                                        <p:attrNameLst>
                                          <p:attrName>style.visibility</p:attrName>
                                        </p:attrNameLst>
                                      </p:cBhvr>
                                      <p:to>
                                        <p:strVal val="visible"/>
                                      </p:to>
                                    </p:set>
                                    <p:animEffect transition="in" filter="fade">
                                      <p:cBhvr>
                                        <p:cTn id="42" dur="500"/>
                                        <p:tgtEl>
                                          <p:spTgt spid="72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25">
                                            <p:txEl>
                                              <p:pRg st="8" end="8"/>
                                            </p:txEl>
                                          </p:spTgt>
                                        </p:tgtEl>
                                        <p:attrNameLst>
                                          <p:attrName>style.visibility</p:attrName>
                                        </p:attrNameLst>
                                      </p:cBhvr>
                                      <p:to>
                                        <p:strVal val="visible"/>
                                      </p:to>
                                    </p:set>
                                    <p:animEffect transition="in" filter="fade">
                                      <p:cBhvr>
                                        <p:cTn id="47" dur="500"/>
                                        <p:tgtEl>
                                          <p:spTgt spid="72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25">
                                            <p:txEl>
                                              <p:pRg st="9" end="9"/>
                                            </p:txEl>
                                          </p:spTgt>
                                        </p:tgtEl>
                                        <p:attrNameLst>
                                          <p:attrName>style.visibility</p:attrName>
                                        </p:attrNameLst>
                                      </p:cBhvr>
                                      <p:to>
                                        <p:strVal val="visible"/>
                                      </p:to>
                                    </p:set>
                                    <p:animEffect transition="in" filter="fade">
                                      <p:cBhvr>
                                        <p:cTn id="52" dur="500"/>
                                        <p:tgtEl>
                                          <p:spTgt spid="72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9"/>
          <p:cNvSpPr txBox="1">
            <a:spLocks noGrp="1"/>
          </p:cNvSpPr>
          <p:nvPr>
            <p:ph type="title" idx="4294967295"/>
          </p:nvPr>
        </p:nvSpPr>
        <p:spPr>
          <a:xfrm>
            <a:off x="5727032" y="178944"/>
            <a:ext cx="322040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Nuclear fuel, UO</a:t>
            </a:r>
            <a:r>
              <a:rPr lang="en-GB" sz="2000" b="0" i="0" u="none" strike="noStrike" cap="none" baseline="-25000">
                <a:solidFill>
                  <a:srgbClr val="0157A3"/>
                </a:solidFill>
                <a:latin typeface="Arial"/>
                <a:ea typeface="Arial"/>
                <a:cs typeface="Arial"/>
                <a:sym typeface="Arial"/>
              </a:rPr>
              <a:t>2</a:t>
            </a:r>
            <a:r>
              <a:rPr lang="en-GB" sz="2000" b="0" i="0" u="none" strike="noStrike" cap="none">
                <a:solidFill>
                  <a:srgbClr val="0157A3"/>
                </a:solidFill>
                <a:latin typeface="Arial"/>
                <a:ea typeface="Arial"/>
                <a:cs typeface="Arial"/>
                <a:sym typeface="Arial"/>
              </a:rPr>
              <a:t> grain</a:t>
            </a:r>
            <a:endParaRPr/>
          </a:p>
        </p:txBody>
      </p:sp>
      <p:pic>
        <p:nvPicPr>
          <p:cNvPr id="871" name="Google Shape;871;p9"/>
          <p:cNvPicPr preferRelativeResize="0"/>
          <p:nvPr/>
        </p:nvPicPr>
        <p:blipFill>
          <a:blip r:embed="rId3">
            <a:alphaModFix/>
          </a:blip>
          <a:stretch>
            <a:fillRect/>
          </a:stretch>
        </p:blipFill>
        <p:spPr>
          <a:xfrm>
            <a:off x="2774262" y="785900"/>
            <a:ext cx="3595475" cy="3571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10"/>
          <p:cNvSpPr txBox="1">
            <a:spLocks noGrp="1"/>
          </p:cNvSpPr>
          <p:nvPr>
            <p:ph type="title" idx="4294967295"/>
          </p:nvPr>
        </p:nvSpPr>
        <p:spPr>
          <a:xfrm>
            <a:off x="3149601" y="178943"/>
            <a:ext cx="5797840" cy="398655"/>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Fission gas behaviour, main physical aspects</a:t>
            </a:r>
            <a:endParaRPr/>
          </a:p>
        </p:txBody>
      </p:sp>
      <p:sp>
        <p:nvSpPr>
          <p:cNvPr id="878" name="Google Shape;878;p10"/>
          <p:cNvSpPr/>
          <p:nvPr/>
        </p:nvSpPr>
        <p:spPr>
          <a:xfrm>
            <a:off x="5653977" y="1935263"/>
            <a:ext cx="86760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Diffusion</a:t>
            </a:r>
            <a:endParaRPr sz="1200" strike="noStrike">
              <a:solidFill>
                <a:srgbClr val="0070C0"/>
              </a:solidFill>
              <a:latin typeface="Arial"/>
              <a:ea typeface="Arial"/>
              <a:cs typeface="Arial"/>
              <a:sym typeface="Arial"/>
            </a:endParaRPr>
          </a:p>
        </p:txBody>
      </p:sp>
      <p:sp>
        <p:nvSpPr>
          <p:cNvPr id="879" name="Google Shape;879;p10"/>
          <p:cNvSpPr/>
          <p:nvPr/>
        </p:nvSpPr>
        <p:spPr>
          <a:xfrm>
            <a:off x="2797654" y="2491260"/>
            <a:ext cx="1166157"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Re-solution</a:t>
            </a:r>
            <a:endParaRPr sz="1200" strike="noStrike">
              <a:solidFill>
                <a:srgbClr val="0070C0"/>
              </a:solidFill>
              <a:latin typeface="Arial"/>
              <a:ea typeface="Arial"/>
              <a:cs typeface="Arial"/>
              <a:sym typeface="Arial"/>
            </a:endParaRPr>
          </a:p>
        </p:txBody>
      </p:sp>
      <p:sp>
        <p:nvSpPr>
          <p:cNvPr id="880" name="Google Shape;880;p10"/>
          <p:cNvSpPr/>
          <p:nvPr/>
        </p:nvSpPr>
        <p:spPr>
          <a:xfrm>
            <a:off x="2524857" y="2158918"/>
            <a:ext cx="64044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Trapping</a:t>
            </a:r>
            <a:endParaRPr sz="1200" strike="noStrike">
              <a:solidFill>
                <a:srgbClr val="0070C0"/>
              </a:solidFill>
              <a:latin typeface="Arial"/>
              <a:ea typeface="Arial"/>
              <a:cs typeface="Arial"/>
              <a:sym typeface="Arial"/>
            </a:endParaRPr>
          </a:p>
        </p:txBody>
      </p:sp>
      <p:sp>
        <p:nvSpPr>
          <p:cNvPr id="881" name="Google Shape;881;p10"/>
          <p:cNvSpPr/>
          <p:nvPr/>
        </p:nvSpPr>
        <p:spPr>
          <a:xfrm>
            <a:off x="3459197" y="1239135"/>
            <a:ext cx="2207857"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Fission gases (Xe, Kr) and fission products (Cs, I, Te, …)</a:t>
            </a:r>
            <a:endParaRPr/>
          </a:p>
        </p:txBody>
      </p:sp>
      <p:sp>
        <p:nvSpPr>
          <p:cNvPr id="882" name="Google Shape;882;p10"/>
          <p:cNvSpPr/>
          <p:nvPr/>
        </p:nvSpPr>
        <p:spPr>
          <a:xfrm>
            <a:off x="3781025" y="712996"/>
            <a:ext cx="1564200" cy="247554"/>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Fission </a:t>
            </a:r>
            <a:r>
              <a:rPr lang="en-GB" sz="1200">
                <a:solidFill>
                  <a:srgbClr val="000000"/>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reactions</a:t>
            </a:r>
            <a:endParaRPr/>
          </a:p>
        </p:txBody>
      </p:sp>
      <p:sp>
        <p:nvSpPr>
          <p:cNvPr id="883" name="Google Shape;883;p10"/>
          <p:cNvSpPr/>
          <p:nvPr/>
        </p:nvSpPr>
        <p:spPr>
          <a:xfrm>
            <a:off x="7046298" y="2238414"/>
            <a:ext cx="1704000" cy="43230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Inter-granular / grain-boundary bubbles</a:t>
            </a:r>
            <a:endParaRPr/>
          </a:p>
        </p:txBody>
      </p:sp>
      <p:sp>
        <p:nvSpPr>
          <p:cNvPr id="884" name="Google Shape;884;p10"/>
          <p:cNvSpPr/>
          <p:nvPr/>
        </p:nvSpPr>
        <p:spPr>
          <a:xfrm>
            <a:off x="456025" y="2491200"/>
            <a:ext cx="1623900" cy="24690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Intra-granular bubbles</a:t>
            </a:r>
            <a:endParaRPr sz="1100"/>
          </a:p>
        </p:txBody>
      </p:sp>
      <p:sp>
        <p:nvSpPr>
          <p:cNvPr id="885" name="Google Shape;885;p10"/>
          <p:cNvSpPr/>
          <p:nvPr/>
        </p:nvSpPr>
        <p:spPr>
          <a:xfrm>
            <a:off x="3867696" y="1935263"/>
            <a:ext cx="1390858"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Intra-granular (single atoms)</a:t>
            </a:r>
            <a:endParaRPr/>
          </a:p>
        </p:txBody>
      </p:sp>
      <p:sp>
        <p:nvSpPr>
          <p:cNvPr id="886" name="Google Shape;886;p10"/>
          <p:cNvSpPr/>
          <p:nvPr/>
        </p:nvSpPr>
        <p:spPr>
          <a:xfrm>
            <a:off x="3306725" y="3752065"/>
            <a:ext cx="2512800"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rPr>
              <a:t>Grain-face </a:t>
            </a:r>
            <a:r>
              <a:rPr lang="en-GB" sz="1200" b="1" strike="noStrike">
                <a:solidFill>
                  <a:srgbClr val="000000"/>
                </a:solidFill>
                <a:latin typeface="Arial"/>
                <a:ea typeface="Arial"/>
                <a:cs typeface="Arial"/>
                <a:sym typeface="Arial"/>
              </a:rPr>
              <a:t>saturation</a:t>
            </a:r>
            <a:r>
              <a:rPr lang="en-GB" sz="1200" b="1">
                <a:solidFill>
                  <a:srgbClr val="000000"/>
                </a:solidFill>
                <a:latin typeface="Arial"/>
                <a:ea typeface="Arial"/>
                <a:cs typeface="Arial"/>
                <a:sym typeface="Arial"/>
              </a:rPr>
              <a:t> </a:t>
            </a:r>
            <a:r>
              <a:rPr lang="en-GB" sz="1200" strike="noStrike">
                <a:solidFill>
                  <a:srgbClr val="000000"/>
                </a:solidFill>
                <a:latin typeface="Arial"/>
                <a:ea typeface="Arial"/>
                <a:cs typeface="Arial"/>
                <a:sym typeface="Arial"/>
              </a:rPr>
              <a:t>and/or </a:t>
            </a:r>
            <a:r>
              <a:rPr lang="en-GB" sz="1200" b="1" strike="noStrike">
                <a:solidFill>
                  <a:srgbClr val="000000"/>
                </a:solidFill>
                <a:latin typeface="Arial"/>
                <a:ea typeface="Arial"/>
                <a:cs typeface="Arial"/>
                <a:sym typeface="Arial"/>
              </a:rPr>
              <a:t>micro-</a:t>
            </a:r>
            <a:r>
              <a:rPr lang="en-GB" sz="1200" b="1" strike="noStrike">
                <a:solidFill>
                  <a:srgbClr val="000000"/>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cracking</a:t>
            </a:r>
            <a:endParaRPr sz="1200" b="1" strike="noStrike">
              <a:solidFill>
                <a:srgbClr val="000000"/>
              </a:solidFill>
              <a:latin typeface="Arial"/>
              <a:ea typeface="Arial"/>
              <a:cs typeface="Arial"/>
              <a:sym typeface="Arial"/>
            </a:endParaRPr>
          </a:p>
        </p:txBody>
      </p:sp>
      <p:sp>
        <p:nvSpPr>
          <p:cNvPr id="887" name="Google Shape;887;p10"/>
          <p:cNvSpPr/>
          <p:nvPr/>
        </p:nvSpPr>
        <p:spPr>
          <a:xfrm>
            <a:off x="3698026" y="4433374"/>
            <a:ext cx="1730199" cy="275545"/>
          </a:xfrm>
          <a:prstGeom prst="rect">
            <a:avLst/>
          </a:prstGeom>
          <a:solidFill>
            <a:srgbClr val="DDD9C3"/>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rPr>
              <a:t>Fission gas release</a:t>
            </a:r>
            <a:endParaRPr sz="1200" strike="noStrike">
              <a:solidFill>
                <a:srgbClr val="000000"/>
              </a:solidFill>
              <a:latin typeface="Arial"/>
              <a:ea typeface="Arial"/>
              <a:cs typeface="Arial"/>
              <a:sym typeface="Arial"/>
            </a:endParaRPr>
          </a:p>
        </p:txBody>
      </p:sp>
      <p:sp>
        <p:nvSpPr>
          <p:cNvPr id="888" name="Google Shape;888;p10"/>
          <p:cNvSpPr/>
          <p:nvPr/>
        </p:nvSpPr>
        <p:spPr>
          <a:xfrm>
            <a:off x="7046250" y="4248650"/>
            <a:ext cx="1671900" cy="303300"/>
          </a:xfrm>
          <a:prstGeom prst="rect">
            <a:avLst/>
          </a:prstGeom>
          <a:solidFill>
            <a:srgbClr val="DDD9C3"/>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High-burnup structure</a:t>
            </a:r>
            <a:endParaRPr sz="1200" strike="noStrike">
              <a:solidFill>
                <a:srgbClr val="000000"/>
              </a:solidFill>
              <a:latin typeface="Arial"/>
              <a:ea typeface="Arial"/>
              <a:cs typeface="Arial"/>
              <a:sym typeface="Arial"/>
            </a:endParaRPr>
          </a:p>
        </p:txBody>
      </p:sp>
      <p:cxnSp>
        <p:nvCxnSpPr>
          <p:cNvPr id="889" name="Google Shape;889;p10"/>
          <p:cNvCxnSpPr/>
          <p:nvPr/>
        </p:nvCxnSpPr>
        <p:spPr>
          <a:xfrm>
            <a:off x="4563125" y="983633"/>
            <a:ext cx="1" cy="255502"/>
          </a:xfrm>
          <a:prstGeom prst="straightConnector1">
            <a:avLst/>
          </a:prstGeom>
          <a:noFill/>
          <a:ln w="9525" cap="flat" cmpd="sng">
            <a:solidFill>
              <a:srgbClr val="5F497A"/>
            </a:solidFill>
            <a:prstDash val="solid"/>
            <a:miter lim="8000"/>
            <a:headEnd type="none" w="sm" len="sm"/>
            <a:tailEnd type="triangle" w="med" len="med"/>
          </a:ln>
        </p:spPr>
      </p:cxnSp>
      <p:cxnSp>
        <p:nvCxnSpPr>
          <p:cNvPr id="890" name="Google Shape;890;p10"/>
          <p:cNvCxnSpPr>
            <a:endCxn id="885" idx="0"/>
          </p:cNvCxnSpPr>
          <p:nvPr/>
        </p:nvCxnSpPr>
        <p:spPr>
          <a:xfrm>
            <a:off x="4559525" y="1688363"/>
            <a:ext cx="3600" cy="246900"/>
          </a:xfrm>
          <a:prstGeom prst="straightConnector1">
            <a:avLst/>
          </a:prstGeom>
          <a:noFill/>
          <a:ln w="9525" cap="flat" cmpd="sng">
            <a:solidFill>
              <a:srgbClr val="5F497A"/>
            </a:solidFill>
            <a:prstDash val="solid"/>
            <a:miter lim="8000"/>
            <a:headEnd type="none" w="sm" len="sm"/>
            <a:tailEnd type="triangle" w="med" len="med"/>
          </a:ln>
        </p:spPr>
      </p:cxnSp>
      <p:cxnSp>
        <p:nvCxnSpPr>
          <p:cNvPr id="891" name="Google Shape;891;p10"/>
          <p:cNvCxnSpPr>
            <a:stCxn id="885" idx="1"/>
            <a:endCxn id="884" idx="3"/>
          </p:cNvCxnSpPr>
          <p:nvPr/>
        </p:nvCxnSpPr>
        <p:spPr>
          <a:xfrm flipH="1">
            <a:off x="2079996" y="2151373"/>
            <a:ext cx="1787700" cy="463200"/>
          </a:xfrm>
          <a:prstGeom prst="straightConnector1">
            <a:avLst/>
          </a:prstGeom>
          <a:noFill/>
          <a:ln w="9525" cap="flat" cmpd="sng">
            <a:solidFill>
              <a:srgbClr val="5F497A"/>
            </a:solidFill>
            <a:prstDash val="solid"/>
            <a:miter lim="8000"/>
            <a:headEnd type="triangle" w="med" len="med"/>
            <a:tailEnd type="triangle" w="med" len="med"/>
          </a:ln>
        </p:spPr>
      </p:cxnSp>
      <p:cxnSp>
        <p:nvCxnSpPr>
          <p:cNvPr id="892" name="Google Shape;892;p10"/>
          <p:cNvCxnSpPr>
            <a:stCxn id="885" idx="3"/>
            <a:endCxn id="883" idx="1"/>
          </p:cNvCxnSpPr>
          <p:nvPr/>
        </p:nvCxnSpPr>
        <p:spPr>
          <a:xfrm>
            <a:off x="5258554" y="2151373"/>
            <a:ext cx="1787700" cy="303300"/>
          </a:xfrm>
          <a:prstGeom prst="straightConnector1">
            <a:avLst/>
          </a:prstGeom>
          <a:noFill/>
          <a:ln w="9525" cap="flat" cmpd="sng">
            <a:solidFill>
              <a:srgbClr val="5F497A"/>
            </a:solidFill>
            <a:prstDash val="solid"/>
            <a:miter lim="8000"/>
            <a:headEnd type="none" w="sm" len="sm"/>
            <a:tailEnd type="triangle" w="med" len="med"/>
          </a:ln>
        </p:spPr>
      </p:cxnSp>
      <p:cxnSp>
        <p:nvCxnSpPr>
          <p:cNvPr id="893" name="Google Shape;893;p10"/>
          <p:cNvCxnSpPr>
            <a:stCxn id="883" idx="1"/>
            <a:endCxn id="886" idx="0"/>
          </p:cNvCxnSpPr>
          <p:nvPr/>
        </p:nvCxnSpPr>
        <p:spPr>
          <a:xfrm flipH="1">
            <a:off x="4563198" y="2454564"/>
            <a:ext cx="2483100" cy="1297500"/>
          </a:xfrm>
          <a:prstGeom prst="straightConnector1">
            <a:avLst/>
          </a:prstGeom>
          <a:noFill/>
          <a:ln w="9525" cap="flat" cmpd="sng">
            <a:solidFill>
              <a:srgbClr val="5F497A"/>
            </a:solidFill>
            <a:prstDash val="solid"/>
            <a:miter lim="8000"/>
            <a:headEnd type="none" w="sm" len="sm"/>
            <a:tailEnd type="triangle" w="med" len="med"/>
          </a:ln>
        </p:spPr>
      </p:cxnSp>
      <p:sp>
        <p:nvSpPr>
          <p:cNvPr id="894" name="Google Shape;894;p10"/>
          <p:cNvSpPr/>
          <p:nvPr/>
        </p:nvSpPr>
        <p:spPr>
          <a:xfrm>
            <a:off x="456100" y="3599347"/>
            <a:ext cx="1623900" cy="275400"/>
          </a:xfrm>
          <a:prstGeom prst="rect">
            <a:avLst/>
          </a:prstGeom>
          <a:solidFill>
            <a:srgbClr val="DDD9C3"/>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100">
                <a:solidFill>
                  <a:srgbClr val="000000"/>
                </a:solidFill>
                <a:latin typeface="Arial"/>
                <a:ea typeface="Arial"/>
                <a:cs typeface="Arial"/>
                <a:sym typeface="Arial"/>
              </a:rPr>
              <a:t>Gaseous fuel</a:t>
            </a:r>
            <a:r>
              <a:rPr lang="en-GB" sz="1100" strike="noStrike">
                <a:solidFill>
                  <a:srgbClr val="000000"/>
                </a:solidFill>
                <a:latin typeface="Arial"/>
                <a:ea typeface="Arial"/>
                <a:cs typeface="Arial"/>
                <a:sym typeface="Arial"/>
              </a:rPr>
              <a:t> swelling</a:t>
            </a:r>
            <a:endParaRPr sz="1100" strike="noStrike">
              <a:solidFill>
                <a:srgbClr val="000000"/>
              </a:solidFill>
              <a:latin typeface="Arial"/>
              <a:ea typeface="Arial"/>
              <a:cs typeface="Arial"/>
              <a:sym typeface="Arial"/>
            </a:endParaRPr>
          </a:p>
        </p:txBody>
      </p:sp>
      <p:pic>
        <p:nvPicPr>
          <p:cNvPr id="895" name="Google Shape;895;p10" descr="Rubber duck outline"/>
          <p:cNvPicPr preferRelativeResize="0"/>
          <p:nvPr/>
        </p:nvPicPr>
        <p:blipFill rotWithShape="1">
          <a:blip r:embed="rId3">
            <a:alphaModFix/>
          </a:blip>
          <a:srcRect/>
          <a:stretch/>
        </p:blipFill>
        <p:spPr>
          <a:xfrm>
            <a:off x="8491755" y="-96504"/>
            <a:ext cx="681240" cy="681240"/>
          </a:xfrm>
          <a:prstGeom prst="rect">
            <a:avLst/>
          </a:prstGeom>
          <a:noFill/>
          <a:ln>
            <a:noFill/>
          </a:ln>
        </p:spPr>
      </p:pic>
      <p:cxnSp>
        <p:nvCxnSpPr>
          <p:cNvPr id="896" name="Google Shape;896;p10"/>
          <p:cNvCxnSpPr>
            <a:stCxn id="886" idx="2"/>
            <a:endCxn id="887" idx="0"/>
          </p:cNvCxnSpPr>
          <p:nvPr/>
        </p:nvCxnSpPr>
        <p:spPr>
          <a:xfrm>
            <a:off x="4563125" y="4184285"/>
            <a:ext cx="0" cy="249000"/>
          </a:xfrm>
          <a:prstGeom prst="straightConnector1">
            <a:avLst/>
          </a:prstGeom>
          <a:noFill/>
          <a:ln w="9525" cap="flat" cmpd="sng">
            <a:solidFill>
              <a:srgbClr val="5F497A"/>
            </a:solidFill>
            <a:prstDash val="solid"/>
            <a:miter lim="8000"/>
            <a:headEnd type="none" w="sm" len="sm"/>
            <a:tailEnd type="triangle" w="med" len="med"/>
          </a:ln>
        </p:spPr>
      </p:cxnSp>
      <p:pic>
        <p:nvPicPr>
          <p:cNvPr id="897" name="Google Shape;897;p10"/>
          <p:cNvPicPr preferRelativeResize="0"/>
          <p:nvPr/>
        </p:nvPicPr>
        <p:blipFill>
          <a:blip r:embed="rId4">
            <a:alphaModFix/>
          </a:blip>
          <a:stretch>
            <a:fillRect/>
          </a:stretch>
        </p:blipFill>
        <p:spPr>
          <a:xfrm>
            <a:off x="7044250" y="577600"/>
            <a:ext cx="1671871" cy="1660823"/>
          </a:xfrm>
          <a:prstGeom prst="rect">
            <a:avLst/>
          </a:prstGeom>
          <a:noFill/>
          <a:ln>
            <a:noFill/>
          </a:ln>
        </p:spPr>
      </p:pic>
      <p:pic>
        <p:nvPicPr>
          <p:cNvPr id="898" name="Google Shape;898;p10"/>
          <p:cNvPicPr preferRelativeResize="0"/>
          <p:nvPr/>
        </p:nvPicPr>
        <p:blipFill>
          <a:blip r:embed="rId5">
            <a:alphaModFix/>
          </a:blip>
          <a:stretch>
            <a:fillRect/>
          </a:stretch>
        </p:blipFill>
        <p:spPr>
          <a:xfrm>
            <a:off x="456100" y="852350"/>
            <a:ext cx="1623899" cy="1638900"/>
          </a:xfrm>
          <a:prstGeom prst="rect">
            <a:avLst/>
          </a:prstGeom>
          <a:noFill/>
          <a:ln>
            <a:noFill/>
          </a:ln>
        </p:spPr>
      </p:pic>
      <p:pic>
        <p:nvPicPr>
          <p:cNvPr id="899" name="Google Shape;899;p10"/>
          <p:cNvPicPr preferRelativeResize="0"/>
          <p:nvPr/>
        </p:nvPicPr>
        <p:blipFill>
          <a:blip r:embed="rId6">
            <a:alphaModFix/>
          </a:blip>
          <a:stretch>
            <a:fillRect/>
          </a:stretch>
        </p:blipFill>
        <p:spPr>
          <a:xfrm>
            <a:off x="7046300" y="2776530"/>
            <a:ext cx="1671900" cy="14888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2"/>
                                        </p:tgtEl>
                                        <p:attrNameLst>
                                          <p:attrName>style.visibility</p:attrName>
                                        </p:attrNameLst>
                                      </p:cBhvr>
                                      <p:to>
                                        <p:strVal val="visible"/>
                                      </p:to>
                                    </p:set>
                                    <p:animEffect transition="in" filter="fade">
                                      <p:cBhvr>
                                        <p:cTn id="7" dur="500"/>
                                        <p:tgtEl>
                                          <p:spTgt spid="882"/>
                                        </p:tgtEl>
                                      </p:cBhvr>
                                    </p:animEffect>
                                  </p:childTnLst>
                                </p:cTn>
                              </p:par>
                              <p:par>
                                <p:cTn id="8" presetID="10" presetClass="entr" presetSubtype="0" fill="hold" nodeType="withEffect">
                                  <p:stCondLst>
                                    <p:cond delay="0"/>
                                  </p:stCondLst>
                                  <p:childTnLst>
                                    <p:set>
                                      <p:cBhvr>
                                        <p:cTn id="9" dur="1" fill="hold">
                                          <p:stCondLst>
                                            <p:cond delay="0"/>
                                          </p:stCondLst>
                                        </p:cTn>
                                        <p:tgtEl>
                                          <p:spTgt spid="889"/>
                                        </p:tgtEl>
                                        <p:attrNameLst>
                                          <p:attrName>style.visibility</p:attrName>
                                        </p:attrNameLst>
                                      </p:cBhvr>
                                      <p:to>
                                        <p:strVal val="visible"/>
                                      </p:to>
                                    </p:set>
                                    <p:animEffect transition="in" filter="fade">
                                      <p:cBhvr>
                                        <p:cTn id="10" dur="500"/>
                                        <p:tgtEl>
                                          <p:spTgt spid="889"/>
                                        </p:tgtEl>
                                      </p:cBhvr>
                                    </p:animEffect>
                                  </p:childTnLst>
                                </p:cTn>
                              </p:par>
                              <p:par>
                                <p:cTn id="11" presetID="10" presetClass="entr" presetSubtype="0" fill="hold" nodeType="withEffect">
                                  <p:stCondLst>
                                    <p:cond delay="0"/>
                                  </p:stCondLst>
                                  <p:childTnLst>
                                    <p:set>
                                      <p:cBhvr>
                                        <p:cTn id="12" dur="1" fill="hold">
                                          <p:stCondLst>
                                            <p:cond delay="0"/>
                                          </p:stCondLst>
                                        </p:cTn>
                                        <p:tgtEl>
                                          <p:spTgt spid="881"/>
                                        </p:tgtEl>
                                        <p:attrNameLst>
                                          <p:attrName>style.visibility</p:attrName>
                                        </p:attrNameLst>
                                      </p:cBhvr>
                                      <p:to>
                                        <p:strVal val="visible"/>
                                      </p:to>
                                    </p:set>
                                    <p:animEffect transition="in" filter="fade">
                                      <p:cBhvr>
                                        <p:cTn id="13" dur="500"/>
                                        <p:tgtEl>
                                          <p:spTgt spid="88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90"/>
                                        </p:tgtEl>
                                        <p:attrNameLst>
                                          <p:attrName>style.visibility</p:attrName>
                                        </p:attrNameLst>
                                      </p:cBhvr>
                                      <p:to>
                                        <p:strVal val="visible"/>
                                      </p:to>
                                    </p:set>
                                    <p:animEffect transition="in" filter="fade">
                                      <p:cBhvr>
                                        <p:cTn id="18" dur="500"/>
                                        <p:tgtEl>
                                          <p:spTgt spid="890"/>
                                        </p:tgtEl>
                                      </p:cBhvr>
                                    </p:animEffect>
                                  </p:childTnLst>
                                </p:cTn>
                              </p:par>
                              <p:par>
                                <p:cTn id="19" presetID="10" presetClass="entr" presetSubtype="0" fill="hold" nodeType="withEffect">
                                  <p:stCondLst>
                                    <p:cond delay="0"/>
                                  </p:stCondLst>
                                  <p:childTnLst>
                                    <p:set>
                                      <p:cBhvr>
                                        <p:cTn id="20" dur="1" fill="hold">
                                          <p:stCondLst>
                                            <p:cond delay="0"/>
                                          </p:stCondLst>
                                        </p:cTn>
                                        <p:tgtEl>
                                          <p:spTgt spid="885"/>
                                        </p:tgtEl>
                                        <p:attrNameLst>
                                          <p:attrName>style.visibility</p:attrName>
                                        </p:attrNameLst>
                                      </p:cBhvr>
                                      <p:to>
                                        <p:strVal val="visible"/>
                                      </p:to>
                                    </p:set>
                                    <p:animEffect transition="in" filter="fade">
                                      <p:cBhvr>
                                        <p:cTn id="21" dur="500"/>
                                        <p:tgtEl>
                                          <p:spTgt spid="885"/>
                                        </p:tgtEl>
                                      </p:cBhvr>
                                    </p:animEffect>
                                  </p:childTnLst>
                                </p:cTn>
                              </p:par>
                              <p:par>
                                <p:cTn id="22" presetID="10" presetClass="entr" presetSubtype="0" fill="hold" nodeType="withEffect">
                                  <p:stCondLst>
                                    <p:cond delay="0"/>
                                  </p:stCondLst>
                                  <p:childTnLst>
                                    <p:set>
                                      <p:cBhvr>
                                        <p:cTn id="23" dur="1" fill="hold">
                                          <p:stCondLst>
                                            <p:cond delay="0"/>
                                          </p:stCondLst>
                                        </p:cTn>
                                        <p:tgtEl>
                                          <p:spTgt spid="891"/>
                                        </p:tgtEl>
                                        <p:attrNameLst>
                                          <p:attrName>style.visibility</p:attrName>
                                        </p:attrNameLst>
                                      </p:cBhvr>
                                      <p:to>
                                        <p:strVal val="visible"/>
                                      </p:to>
                                    </p:set>
                                    <p:animEffect transition="in" filter="fade">
                                      <p:cBhvr>
                                        <p:cTn id="24" dur="500"/>
                                        <p:tgtEl>
                                          <p:spTgt spid="891"/>
                                        </p:tgtEl>
                                      </p:cBhvr>
                                    </p:animEffect>
                                  </p:childTnLst>
                                </p:cTn>
                              </p:par>
                              <p:par>
                                <p:cTn id="25" presetID="10" presetClass="entr" presetSubtype="0" fill="hold" nodeType="withEffect">
                                  <p:stCondLst>
                                    <p:cond delay="0"/>
                                  </p:stCondLst>
                                  <p:childTnLst>
                                    <p:set>
                                      <p:cBhvr>
                                        <p:cTn id="26" dur="1" fill="hold">
                                          <p:stCondLst>
                                            <p:cond delay="0"/>
                                          </p:stCondLst>
                                        </p:cTn>
                                        <p:tgtEl>
                                          <p:spTgt spid="880"/>
                                        </p:tgtEl>
                                        <p:attrNameLst>
                                          <p:attrName>style.visibility</p:attrName>
                                        </p:attrNameLst>
                                      </p:cBhvr>
                                      <p:to>
                                        <p:strVal val="visible"/>
                                      </p:to>
                                    </p:set>
                                    <p:animEffect transition="in" filter="fade">
                                      <p:cBhvr>
                                        <p:cTn id="27" dur="500"/>
                                        <p:tgtEl>
                                          <p:spTgt spid="880"/>
                                        </p:tgtEl>
                                      </p:cBhvr>
                                    </p:animEffect>
                                  </p:childTnLst>
                                </p:cTn>
                              </p:par>
                              <p:par>
                                <p:cTn id="28" presetID="10" presetClass="entr" presetSubtype="0" fill="hold" nodeType="withEffect">
                                  <p:stCondLst>
                                    <p:cond delay="0"/>
                                  </p:stCondLst>
                                  <p:childTnLst>
                                    <p:set>
                                      <p:cBhvr>
                                        <p:cTn id="29" dur="1" fill="hold">
                                          <p:stCondLst>
                                            <p:cond delay="0"/>
                                          </p:stCondLst>
                                        </p:cTn>
                                        <p:tgtEl>
                                          <p:spTgt spid="879"/>
                                        </p:tgtEl>
                                        <p:attrNameLst>
                                          <p:attrName>style.visibility</p:attrName>
                                        </p:attrNameLst>
                                      </p:cBhvr>
                                      <p:to>
                                        <p:strVal val="visible"/>
                                      </p:to>
                                    </p:set>
                                    <p:animEffect transition="in" filter="fade">
                                      <p:cBhvr>
                                        <p:cTn id="30" dur="500"/>
                                        <p:tgtEl>
                                          <p:spTgt spid="879"/>
                                        </p:tgtEl>
                                      </p:cBhvr>
                                    </p:animEffect>
                                  </p:childTnLst>
                                </p:cTn>
                              </p:par>
                              <p:par>
                                <p:cTn id="31" presetID="10" presetClass="entr" presetSubtype="0" fill="hold" nodeType="withEffect">
                                  <p:stCondLst>
                                    <p:cond delay="0"/>
                                  </p:stCondLst>
                                  <p:childTnLst>
                                    <p:set>
                                      <p:cBhvr>
                                        <p:cTn id="32" dur="1" fill="hold">
                                          <p:stCondLst>
                                            <p:cond delay="0"/>
                                          </p:stCondLst>
                                        </p:cTn>
                                        <p:tgtEl>
                                          <p:spTgt spid="884"/>
                                        </p:tgtEl>
                                        <p:attrNameLst>
                                          <p:attrName>style.visibility</p:attrName>
                                        </p:attrNameLst>
                                      </p:cBhvr>
                                      <p:to>
                                        <p:strVal val="visible"/>
                                      </p:to>
                                    </p:set>
                                    <p:animEffect transition="in" filter="fade">
                                      <p:cBhvr>
                                        <p:cTn id="33" dur="500"/>
                                        <p:tgtEl>
                                          <p:spTgt spid="884"/>
                                        </p:tgtEl>
                                      </p:cBhvr>
                                    </p:animEffect>
                                  </p:childTnLst>
                                </p:cTn>
                              </p:par>
                              <p:par>
                                <p:cTn id="34" presetID="10" presetClass="entr" presetSubtype="0" fill="hold" nodeType="withEffect">
                                  <p:stCondLst>
                                    <p:cond delay="0"/>
                                  </p:stCondLst>
                                  <p:childTnLst>
                                    <p:set>
                                      <p:cBhvr>
                                        <p:cTn id="35" dur="1" fill="hold">
                                          <p:stCondLst>
                                            <p:cond delay="0"/>
                                          </p:stCondLst>
                                        </p:cTn>
                                        <p:tgtEl>
                                          <p:spTgt spid="894"/>
                                        </p:tgtEl>
                                        <p:attrNameLst>
                                          <p:attrName>style.visibility</p:attrName>
                                        </p:attrNameLst>
                                      </p:cBhvr>
                                      <p:to>
                                        <p:strVal val="visible"/>
                                      </p:to>
                                    </p:set>
                                    <p:animEffect transition="in" filter="fade">
                                      <p:cBhvr>
                                        <p:cTn id="36" dur="500"/>
                                        <p:tgtEl>
                                          <p:spTgt spid="89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878"/>
                                        </p:tgtEl>
                                        <p:attrNameLst>
                                          <p:attrName>style.visibility</p:attrName>
                                        </p:attrNameLst>
                                      </p:cBhvr>
                                      <p:to>
                                        <p:strVal val="visible"/>
                                      </p:to>
                                    </p:set>
                                    <p:animEffect transition="in" filter="fade">
                                      <p:cBhvr>
                                        <p:cTn id="41" dur="500"/>
                                        <p:tgtEl>
                                          <p:spTgt spid="878"/>
                                        </p:tgtEl>
                                      </p:cBhvr>
                                    </p:animEffect>
                                  </p:childTnLst>
                                </p:cTn>
                              </p:par>
                              <p:par>
                                <p:cTn id="42" presetID="10" presetClass="entr" presetSubtype="0" fill="hold" nodeType="withEffect">
                                  <p:stCondLst>
                                    <p:cond delay="0"/>
                                  </p:stCondLst>
                                  <p:childTnLst>
                                    <p:set>
                                      <p:cBhvr>
                                        <p:cTn id="43" dur="1" fill="hold">
                                          <p:stCondLst>
                                            <p:cond delay="0"/>
                                          </p:stCondLst>
                                        </p:cTn>
                                        <p:tgtEl>
                                          <p:spTgt spid="892"/>
                                        </p:tgtEl>
                                        <p:attrNameLst>
                                          <p:attrName>style.visibility</p:attrName>
                                        </p:attrNameLst>
                                      </p:cBhvr>
                                      <p:to>
                                        <p:strVal val="visible"/>
                                      </p:to>
                                    </p:set>
                                    <p:animEffect transition="in" filter="fade">
                                      <p:cBhvr>
                                        <p:cTn id="44" dur="500"/>
                                        <p:tgtEl>
                                          <p:spTgt spid="892"/>
                                        </p:tgtEl>
                                      </p:cBhvr>
                                    </p:animEffect>
                                  </p:childTnLst>
                                </p:cTn>
                              </p:par>
                              <p:par>
                                <p:cTn id="45" presetID="10" presetClass="entr" presetSubtype="0" fill="hold" nodeType="withEffect">
                                  <p:stCondLst>
                                    <p:cond delay="0"/>
                                  </p:stCondLst>
                                  <p:childTnLst>
                                    <p:set>
                                      <p:cBhvr>
                                        <p:cTn id="46" dur="1" fill="hold">
                                          <p:stCondLst>
                                            <p:cond delay="0"/>
                                          </p:stCondLst>
                                        </p:cTn>
                                        <p:tgtEl>
                                          <p:spTgt spid="883"/>
                                        </p:tgtEl>
                                        <p:attrNameLst>
                                          <p:attrName>style.visibility</p:attrName>
                                        </p:attrNameLst>
                                      </p:cBhvr>
                                      <p:to>
                                        <p:strVal val="visible"/>
                                      </p:to>
                                    </p:set>
                                    <p:animEffect transition="in" filter="fade">
                                      <p:cBhvr>
                                        <p:cTn id="47" dur="500"/>
                                        <p:tgtEl>
                                          <p:spTgt spid="88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93"/>
                                        </p:tgtEl>
                                        <p:attrNameLst>
                                          <p:attrName>style.visibility</p:attrName>
                                        </p:attrNameLst>
                                      </p:cBhvr>
                                      <p:to>
                                        <p:strVal val="visible"/>
                                      </p:to>
                                    </p:set>
                                    <p:animEffect transition="in" filter="fade">
                                      <p:cBhvr>
                                        <p:cTn id="52" dur="500"/>
                                        <p:tgtEl>
                                          <p:spTgt spid="893"/>
                                        </p:tgtEl>
                                      </p:cBhvr>
                                    </p:animEffect>
                                  </p:childTnLst>
                                </p:cTn>
                              </p:par>
                              <p:par>
                                <p:cTn id="53" presetID="10" presetClass="entr" presetSubtype="0" fill="hold" nodeType="withEffect">
                                  <p:stCondLst>
                                    <p:cond delay="0"/>
                                  </p:stCondLst>
                                  <p:childTnLst>
                                    <p:set>
                                      <p:cBhvr>
                                        <p:cTn id="54" dur="1" fill="hold">
                                          <p:stCondLst>
                                            <p:cond delay="0"/>
                                          </p:stCondLst>
                                        </p:cTn>
                                        <p:tgtEl>
                                          <p:spTgt spid="886"/>
                                        </p:tgtEl>
                                        <p:attrNameLst>
                                          <p:attrName>style.visibility</p:attrName>
                                        </p:attrNameLst>
                                      </p:cBhvr>
                                      <p:to>
                                        <p:strVal val="visible"/>
                                      </p:to>
                                    </p:set>
                                    <p:animEffect transition="in" filter="fade">
                                      <p:cBhvr>
                                        <p:cTn id="55" dur="500"/>
                                        <p:tgtEl>
                                          <p:spTgt spid="886"/>
                                        </p:tgtEl>
                                      </p:cBhvr>
                                    </p:animEffect>
                                  </p:childTnLst>
                                </p:cTn>
                              </p:par>
                              <p:par>
                                <p:cTn id="56" presetID="10" presetClass="entr" presetSubtype="0" fill="hold" nodeType="withEffect">
                                  <p:stCondLst>
                                    <p:cond delay="0"/>
                                  </p:stCondLst>
                                  <p:childTnLst>
                                    <p:set>
                                      <p:cBhvr>
                                        <p:cTn id="57" dur="1" fill="hold">
                                          <p:stCondLst>
                                            <p:cond delay="0"/>
                                          </p:stCondLst>
                                        </p:cTn>
                                        <p:tgtEl>
                                          <p:spTgt spid="896"/>
                                        </p:tgtEl>
                                        <p:attrNameLst>
                                          <p:attrName>style.visibility</p:attrName>
                                        </p:attrNameLst>
                                      </p:cBhvr>
                                      <p:to>
                                        <p:strVal val="visible"/>
                                      </p:to>
                                    </p:set>
                                    <p:animEffect transition="in" filter="fade">
                                      <p:cBhvr>
                                        <p:cTn id="58" dur="500"/>
                                        <p:tgtEl>
                                          <p:spTgt spid="896"/>
                                        </p:tgtEl>
                                      </p:cBhvr>
                                    </p:animEffect>
                                  </p:childTnLst>
                                </p:cTn>
                              </p:par>
                              <p:par>
                                <p:cTn id="59" presetID="10" presetClass="entr" presetSubtype="0" fill="hold" nodeType="withEffect">
                                  <p:stCondLst>
                                    <p:cond delay="0"/>
                                  </p:stCondLst>
                                  <p:childTnLst>
                                    <p:set>
                                      <p:cBhvr>
                                        <p:cTn id="60" dur="1" fill="hold">
                                          <p:stCondLst>
                                            <p:cond delay="0"/>
                                          </p:stCondLst>
                                        </p:cTn>
                                        <p:tgtEl>
                                          <p:spTgt spid="887"/>
                                        </p:tgtEl>
                                        <p:attrNameLst>
                                          <p:attrName>style.visibility</p:attrName>
                                        </p:attrNameLst>
                                      </p:cBhvr>
                                      <p:to>
                                        <p:strVal val="visible"/>
                                      </p:to>
                                    </p:set>
                                    <p:animEffect transition="in" filter="fade">
                                      <p:cBhvr>
                                        <p:cTn id="61" dur="500"/>
                                        <p:tgtEl>
                                          <p:spTgt spid="88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888"/>
                                        </p:tgtEl>
                                        <p:attrNameLst>
                                          <p:attrName>style.visibility</p:attrName>
                                        </p:attrNameLst>
                                      </p:cBhvr>
                                      <p:to>
                                        <p:strVal val="visible"/>
                                      </p:to>
                                    </p:set>
                                    <p:animEffect transition="in" filter="fade">
                                      <p:cBhvr>
                                        <p:cTn id="66" dur="500"/>
                                        <p:tgtEl>
                                          <p:spTgt spid="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11"/>
          <p:cNvSpPr txBox="1">
            <a:spLocks noGrp="1"/>
          </p:cNvSpPr>
          <p:nvPr>
            <p:ph type="title" idx="4294967295"/>
          </p:nvPr>
        </p:nvSpPr>
        <p:spPr>
          <a:xfrm>
            <a:off x="3114460" y="178944"/>
            <a:ext cx="583298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SCIANTIX, fission gas behaviour modelling</a:t>
            </a:r>
            <a:endParaRPr sz="2000" b="0" i="0" u="none" strike="noStrike" cap="none">
              <a:solidFill>
                <a:srgbClr val="0157A3"/>
              </a:solidFill>
              <a:latin typeface="Arial"/>
              <a:ea typeface="Arial"/>
              <a:cs typeface="Arial"/>
              <a:sym typeface="Arial"/>
            </a:endParaRPr>
          </a:p>
        </p:txBody>
      </p:sp>
      <p:sp>
        <p:nvSpPr>
          <p:cNvPr id="906" name="Google Shape;906;p11"/>
          <p:cNvSpPr/>
          <p:nvPr/>
        </p:nvSpPr>
        <p:spPr>
          <a:xfrm>
            <a:off x="341550" y="1907075"/>
            <a:ext cx="8460900" cy="2019000"/>
          </a:xfrm>
          <a:prstGeom prst="rect">
            <a:avLst/>
          </a:prstGeom>
          <a:noFill/>
          <a:ln>
            <a:noFill/>
          </a:ln>
        </p:spPr>
        <p:txBody>
          <a:bodyPr spcFirstLastPara="1" wrap="square" lIns="91425" tIns="45700" rIns="91425" bIns="45700" anchor="t" anchorCtr="0">
            <a:spAutoFit/>
          </a:bodyPr>
          <a:lstStyle/>
          <a:p>
            <a:pPr marL="457200" marR="0" lvl="0" indent="-330200" algn="l" rtl="0">
              <a:spcBef>
                <a:spcPts val="0"/>
              </a:spcBef>
              <a:spcAft>
                <a:spcPts val="0"/>
              </a:spcAft>
              <a:buClr>
                <a:schemeClr val="dk1"/>
              </a:buClr>
              <a:buSzPts val="1600"/>
              <a:buFont typeface="Arial"/>
              <a:buChar char="-"/>
            </a:pPr>
            <a:r>
              <a:rPr lang="en-GB" sz="1600" dirty="0">
                <a:solidFill>
                  <a:schemeClr val="dk1"/>
                </a:solidFill>
              </a:rPr>
              <a:t>Z</a:t>
            </a:r>
            <a:r>
              <a:rPr lang="en-GB" sz="1600" dirty="0">
                <a:solidFill>
                  <a:schemeClr val="dk1"/>
                </a:solidFill>
                <a:latin typeface="Arial"/>
                <a:ea typeface="Arial"/>
                <a:cs typeface="Arial"/>
                <a:sym typeface="Arial"/>
              </a:rPr>
              <a:t>ero-dimensional (</a:t>
            </a:r>
            <a:r>
              <a:rPr lang="en-GB" sz="1600" b="1" dirty="0">
                <a:solidFill>
                  <a:schemeClr val="dk1"/>
                </a:solidFill>
                <a:latin typeface="Arial"/>
                <a:ea typeface="Arial"/>
                <a:cs typeface="Arial"/>
                <a:sym typeface="Arial"/>
              </a:rPr>
              <a:t>0D</a:t>
            </a:r>
            <a:r>
              <a:rPr lang="en-GB" sz="1600" dirty="0">
                <a:solidFill>
                  <a:schemeClr val="dk1"/>
                </a:solidFill>
                <a:latin typeface="Arial"/>
                <a:ea typeface="Arial"/>
                <a:cs typeface="Arial"/>
                <a:sym typeface="Arial"/>
              </a:rPr>
              <a:t>) stand-alone code </a:t>
            </a:r>
            <a:endParaRPr sz="1600" dirty="0">
              <a:solidFill>
                <a:schemeClr val="dk1"/>
              </a:solidFill>
              <a:latin typeface="Arial"/>
              <a:ea typeface="Arial"/>
              <a:cs typeface="Arial"/>
              <a:sym typeface="Arial"/>
            </a:endParaRPr>
          </a:p>
          <a:p>
            <a:pPr marL="457200" marR="0" lvl="0" indent="-330200" algn="l" rtl="0">
              <a:spcBef>
                <a:spcPts val="0"/>
              </a:spcBef>
              <a:spcAft>
                <a:spcPts val="0"/>
              </a:spcAft>
              <a:buClr>
                <a:schemeClr val="dk1"/>
              </a:buClr>
              <a:buSzPts val="1600"/>
              <a:buFont typeface="Arial"/>
              <a:buChar char="-"/>
            </a:pPr>
            <a:r>
              <a:rPr lang="en-GB" sz="1600" dirty="0">
                <a:solidFill>
                  <a:schemeClr val="dk1"/>
                </a:solidFill>
              </a:rPr>
              <a:t>D</a:t>
            </a:r>
            <a:r>
              <a:rPr lang="en-GB" sz="1600" dirty="0">
                <a:solidFill>
                  <a:schemeClr val="dk1"/>
                </a:solidFill>
                <a:latin typeface="Arial"/>
                <a:ea typeface="Arial"/>
                <a:cs typeface="Arial"/>
                <a:sym typeface="Arial"/>
              </a:rPr>
              <a:t>eveloped at </a:t>
            </a:r>
            <a:r>
              <a:rPr lang="en-GB" sz="1600" b="1" dirty="0">
                <a:solidFill>
                  <a:schemeClr val="dk1"/>
                </a:solidFill>
                <a:latin typeface="Arial"/>
                <a:ea typeface="Arial"/>
                <a:cs typeface="Arial"/>
                <a:sym typeface="Arial"/>
              </a:rPr>
              <a:t>Politecnico di Milano</a:t>
            </a:r>
            <a:r>
              <a:rPr lang="en-GB" sz="1600" dirty="0">
                <a:solidFill>
                  <a:schemeClr val="dk1"/>
                </a:solidFill>
                <a:latin typeface="Arial"/>
                <a:ea typeface="Arial"/>
                <a:cs typeface="Arial"/>
                <a:sym typeface="Arial"/>
              </a:rPr>
              <a:t> </a:t>
            </a:r>
            <a:endParaRPr sz="1600" dirty="0">
              <a:solidFill>
                <a:schemeClr val="dk1"/>
              </a:solidFill>
              <a:latin typeface="Arial"/>
              <a:ea typeface="Arial"/>
              <a:cs typeface="Arial"/>
              <a:sym typeface="Arial"/>
            </a:endParaRPr>
          </a:p>
          <a:p>
            <a:pPr marL="457200" marR="0" lvl="0" indent="-330200" algn="l" rtl="0">
              <a:spcBef>
                <a:spcPts val="0"/>
              </a:spcBef>
              <a:spcAft>
                <a:spcPts val="0"/>
              </a:spcAft>
              <a:buClr>
                <a:schemeClr val="dk1"/>
              </a:buClr>
              <a:buSzPts val="1600"/>
              <a:buFont typeface="Arial"/>
              <a:buChar char="-"/>
            </a:pPr>
            <a:r>
              <a:rPr lang="en-GB" sz="1600" dirty="0">
                <a:solidFill>
                  <a:schemeClr val="dk1"/>
                </a:solidFill>
              </a:rPr>
              <a:t>T</a:t>
            </a:r>
            <a:r>
              <a:rPr lang="en-GB" sz="1600" dirty="0">
                <a:solidFill>
                  <a:schemeClr val="dk1"/>
                </a:solidFill>
                <a:latin typeface="Arial"/>
                <a:ea typeface="Arial"/>
                <a:cs typeface="Arial"/>
                <a:sym typeface="Arial"/>
              </a:rPr>
              <a:t>o model </a:t>
            </a:r>
            <a:r>
              <a:rPr lang="en-GB" sz="1600" b="1" dirty="0">
                <a:solidFill>
                  <a:schemeClr val="dk1"/>
                </a:solidFill>
              </a:rPr>
              <a:t>fission gas behaviour </a:t>
            </a:r>
            <a:r>
              <a:rPr lang="en-GB" sz="1600" dirty="0">
                <a:solidFill>
                  <a:schemeClr val="dk1"/>
                </a:solidFill>
                <a:latin typeface="Arial"/>
                <a:ea typeface="Arial"/>
                <a:cs typeface="Arial"/>
                <a:sym typeface="Arial"/>
              </a:rPr>
              <a:t>using </a:t>
            </a:r>
            <a:r>
              <a:rPr lang="en-GB" sz="1600" b="1" dirty="0">
                <a:solidFill>
                  <a:schemeClr val="dk1"/>
                </a:solidFill>
                <a:latin typeface="Arial"/>
                <a:ea typeface="Arial"/>
                <a:cs typeface="Arial"/>
                <a:sym typeface="Arial"/>
              </a:rPr>
              <a:t>physics-based approaches</a:t>
            </a:r>
            <a:endParaRPr dirty="0"/>
          </a:p>
          <a:p>
            <a:pPr marL="457200" marR="0" lvl="0" indent="-330200" algn="l" rtl="0">
              <a:spcBef>
                <a:spcPts val="0"/>
              </a:spcBef>
              <a:spcAft>
                <a:spcPts val="0"/>
              </a:spcAft>
              <a:buClr>
                <a:schemeClr val="dk1"/>
              </a:buClr>
              <a:buSzPts val="1600"/>
              <a:buFont typeface="Arial"/>
              <a:buChar char="-"/>
            </a:pPr>
            <a:r>
              <a:rPr lang="en-GB" sz="1600" dirty="0">
                <a:solidFill>
                  <a:schemeClr val="dk1"/>
                </a:solidFill>
              </a:rPr>
              <a:t>D</a:t>
            </a:r>
            <a:r>
              <a:rPr lang="en-GB" sz="1600" dirty="0">
                <a:solidFill>
                  <a:schemeClr val="dk1"/>
                </a:solidFill>
                <a:latin typeface="Arial"/>
                <a:ea typeface="Arial"/>
                <a:cs typeface="Arial"/>
                <a:sym typeface="Arial"/>
              </a:rPr>
              <a:t>esigned for the </a:t>
            </a:r>
            <a:r>
              <a:rPr lang="en-GB" sz="1600" b="1" dirty="0">
                <a:solidFill>
                  <a:schemeClr val="dk1"/>
                </a:solidFill>
                <a:latin typeface="Arial"/>
                <a:ea typeface="Arial"/>
                <a:cs typeface="Arial"/>
                <a:sym typeface="Arial"/>
              </a:rPr>
              <a:t>development, verification, and validation</a:t>
            </a:r>
            <a:r>
              <a:rPr lang="en-GB" sz="1600" dirty="0">
                <a:solidFill>
                  <a:schemeClr val="dk1"/>
                </a:solidFill>
                <a:latin typeface="Arial"/>
                <a:ea typeface="Arial"/>
                <a:cs typeface="Arial"/>
                <a:sym typeface="Arial"/>
              </a:rPr>
              <a:t> of </a:t>
            </a:r>
            <a:r>
              <a:rPr lang="en-GB" sz="1600" dirty="0">
                <a:solidFill>
                  <a:schemeClr val="dk1"/>
                </a:solidFill>
              </a:rPr>
              <a:t>fission gas behaviour </a:t>
            </a:r>
            <a:r>
              <a:rPr lang="en-GB" sz="1600" dirty="0">
                <a:solidFill>
                  <a:schemeClr val="dk1"/>
                </a:solidFill>
                <a:latin typeface="Arial"/>
                <a:ea typeface="Arial"/>
                <a:cs typeface="Arial"/>
                <a:sym typeface="Arial"/>
              </a:rPr>
              <a:t>models, as well as for the simulation of </a:t>
            </a:r>
            <a:r>
              <a:rPr lang="en-GB" sz="1600" b="1" dirty="0">
                <a:solidFill>
                  <a:schemeClr val="dk1"/>
                </a:solidFill>
                <a:latin typeface="Arial"/>
                <a:ea typeface="Arial"/>
                <a:cs typeface="Arial"/>
                <a:sym typeface="Arial"/>
              </a:rPr>
              <a:t>separate-effect test experiments</a:t>
            </a:r>
            <a:endParaRPr sz="1600" dirty="0">
              <a:solidFill>
                <a:schemeClr val="dk1"/>
              </a:solidFill>
            </a:endParaRPr>
          </a:p>
          <a:p>
            <a:pPr marL="457200" marR="0" lvl="0" indent="-330200" algn="l" rtl="0">
              <a:spcBef>
                <a:spcPts val="0"/>
              </a:spcBef>
              <a:spcAft>
                <a:spcPts val="0"/>
              </a:spcAft>
              <a:buClr>
                <a:schemeClr val="dk1"/>
              </a:buClr>
              <a:buSzPts val="1600"/>
              <a:buFont typeface="Arial"/>
              <a:buChar char="-"/>
            </a:pPr>
            <a:r>
              <a:rPr lang="en-GB" sz="1600" dirty="0">
                <a:solidFill>
                  <a:schemeClr val="dk1"/>
                </a:solidFill>
              </a:rPr>
              <a:t>C</a:t>
            </a:r>
            <a:r>
              <a:rPr lang="en-GB" sz="1600" dirty="0">
                <a:solidFill>
                  <a:schemeClr val="dk1"/>
                </a:solidFill>
                <a:latin typeface="Arial"/>
                <a:ea typeface="Arial"/>
                <a:cs typeface="Arial"/>
                <a:sym typeface="Arial"/>
              </a:rPr>
              <a:t>an be </a:t>
            </a:r>
            <a:r>
              <a:rPr lang="en-GB" sz="1600" b="1" dirty="0">
                <a:solidFill>
                  <a:schemeClr val="dk1"/>
                </a:solidFill>
                <a:latin typeface="Arial"/>
                <a:ea typeface="Arial"/>
                <a:cs typeface="Arial"/>
                <a:sym typeface="Arial"/>
              </a:rPr>
              <a:t>integrated into multi-physics platforms and </a:t>
            </a:r>
            <a:r>
              <a:rPr lang="en-GB" sz="1600" b="1" dirty="0">
                <a:solidFill>
                  <a:schemeClr val="dk1"/>
                </a:solidFill>
              </a:rPr>
              <a:t>fuel performance codes</a:t>
            </a:r>
            <a:endParaRPr dirty="0"/>
          </a:p>
          <a:p>
            <a:pPr marL="0" marR="0" lvl="0" indent="0" algn="l" rtl="0">
              <a:spcBef>
                <a:spcPts val="0"/>
              </a:spcBef>
              <a:spcAft>
                <a:spcPts val="0"/>
              </a:spcAft>
              <a:buNone/>
            </a:pPr>
            <a:endParaRPr sz="1600" dirty="0">
              <a:solidFill>
                <a:schemeClr val="dk1"/>
              </a:solidFill>
            </a:endParaRPr>
          </a:p>
          <a:p>
            <a:pPr marL="0" marR="0" lvl="0" indent="0" algn="l" rtl="0">
              <a:spcBef>
                <a:spcPts val="0"/>
              </a:spcBef>
              <a:spcAft>
                <a:spcPts val="0"/>
              </a:spcAft>
              <a:buNone/>
            </a:pPr>
            <a:r>
              <a:rPr lang="en-GB" sz="1600" b="1" dirty="0">
                <a:solidFill>
                  <a:schemeClr val="dk1"/>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SCIANTIX 2.0</a:t>
            </a:r>
            <a:r>
              <a:rPr lang="en-GB" sz="1600" dirty="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 </a:t>
            </a:r>
            <a:r>
              <a:rPr lang="en-GB" sz="1600" dirty="0">
                <a:solidFill>
                  <a:schemeClr val="dk1"/>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released as </a:t>
            </a:r>
            <a:r>
              <a:rPr lang="en-GB" sz="1600" b="1" dirty="0">
                <a:solidFill>
                  <a:schemeClr val="dk1"/>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open-source software under the MIT license </a:t>
            </a:r>
            <a:endParaRPr dirty="0">
              <a:solidFill>
                <a:srgbClr val="FFAB8D"/>
              </a:solidFill>
            </a:endParaRPr>
          </a:p>
        </p:txBody>
      </p:sp>
      <p:pic>
        <p:nvPicPr>
          <p:cNvPr id="3" name="Google Shape;907;p11">
            <a:extLst>
              <a:ext uri="{FF2B5EF4-FFF2-40B4-BE49-F238E27FC236}">
                <a16:creationId xmlns:a16="http://schemas.microsoft.com/office/drawing/2014/main" id="{B6F9BACE-F53E-0AB2-E4FE-067282B9155A}"/>
              </a:ext>
            </a:extLst>
          </p:cNvPr>
          <p:cNvPicPr preferRelativeResize="0"/>
          <p:nvPr/>
        </p:nvPicPr>
        <p:blipFill rotWithShape="1">
          <a:blip r:embed="rId3">
            <a:alphaModFix/>
          </a:blip>
          <a:srcRect l="18887" t="31613" r="16565" b="33262"/>
          <a:stretch/>
        </p:blipFill>
        <p:spPr>
          <a:xfrm>
            <a:off x="7040152" y="684425"/>
            <a:ext cx="1907288" cy="73357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6">
                                            <p:txEl>
                                              <p:pRg st="0" end="0"/>
                                            </p:txEl>
                                          </p:spTgt>
                                        </p:tgtEl>
                                        <p:attrNameLst>
                                          <p:attrName>style.visibility</p:attrName>
                                        </p:attrNameLst>
                                      </p:cBhvr>
                                      <p:to>
                                        <p:strVal val="visible"/>
                                      </p:to>
                                    </p:set>
                                    <p:animEffect transition="in" filter="fade">
                                      <p:cBhvr>
                                        <p:cTn id="7" dur="500"/>
                                        <p:tgtEl>
                                          <p:spTgt spid="90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06">
                                            <p:txEl>
                                              <p:pRg st="1" end="1"/>
                                            </p:txEl>
                                          </p:spTgt>
                                        </p:tgtEl>
                                        <p:attrNameLst>
                                          <p:attrName>style.visibility</p:attrName>
                                        </p:attrNameLst>
                                      </p:cBhvr>
                                      <p:to>
                                        <p:strVal val="visible"/>
                                      </p:to>
                                    </p:set>
                                    <p:animEffect transition="in" filter="fade">
                                      <p:cBhvr>
                                        <p:cTn id="10" dur="500"/>
                                        <p:tgtEl>
                                          <p:spTgt spid="90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06">
                                            <p:txEl>
                                              <p:pRg st="2" end="2"/>
                                            </p:txEl>
                                          </p:spTgt>
                                        </p:tgtEl>
                                        <p:attrNameLst>
                                          <p:attrName>style.visibility</p:attrName>
                                        </p:attrNameLst>
                                      </p:cBhvr>
                                      <p:to>
                                        <p:strVal val="visible"/>
                                      </p:to>
                                    </p:set>
                                    <p:animEffect transition="in" filter="fade">
                                      <p:cBhvr>
                                        <p:cTn id="13" dur="500"/>
                                        <p:tgtEl>
                                          <p:spTgt spid="906">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06">
                                            <p:txEl>
                                              <p:pRg st="3" end="3"/>
                                            </p:txEl>
                                          </p:spTgt>
                                        </p:tgtEl>
                                        <p:attrNameLst>
                                          <p:attrName>style.visibility</p:attrName>
                                        </p:attrNameLst>
                                      </p:cBhvr>
                                      <p:to>
                                        <p:strVal val="visible"/>
                                      </p:to>
                                    </p:set>
                                    <p:animEffect transition="in" filter="fade">
                                      <p:cBhvr>
                                        <p:cTn id="16" dur="500"/>
                                        <p:tgtEl>
                                          <p:spTgt spid="906">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06">
                                            <p:txEl>
                                              <p:pRg st="4" end="4"/>
                                            </p:txEl>
                                          </p:spTgt>
                                        </p:tgtEl>
                                        <p:attrNameLst>
                                          <p:attrName>style.visibility</p:attrName>
                                        </p:attrNameLst>
                                      </p:cBhvr>
                                      <p:to>
                                        <p:strVal val="visible"/>
                                      </p:to>
                                    </p:set>
                                    <p:animEffect transition="in" filter="fade">
                                      <p:cBhvr>
                                        <p:cTn id="19" dur="500"/>
                                        <p:tgtEl>
                                          <p:spTgt spid="906">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906">
                                            <p:txEl>
                                              <p:pRg st="5" end="5"/>
                                            </p:txEl>
                                          </p:spTgt>
                                        </p:tgtEl>
                                        <p:attrNameLst>
                                          <p:attrName>style.visibility</p:attrName>
                                        </p:attrNameLst>
                                      </p:cBhvr>
                                      <p:to>
                                        <p:strVal val="visible"/>
                                      </p:to>
                                    </p:set>
                                    <p:animEffect transition="in" filter="fade">
                                      <p:cBhvr>
                                        <p:cTn id="22" dur="500"/>
                                        <p:tgtEl>
                                          <p:spTgt spid="906">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906">
                                            <p:txEl>
                                              <p:pRg st="6" end="6"/>
                                            </p:txEl>
                                          </p:spTgt>
                                        </p:tgtEl>
                                        <p:attrNameLst>
                                          <p:attrName>style.visibility</p:attrName>
                                        </p:attrNameLst>
                                      </p:cBhvr>
                                      <p:to>
                                        <p:strVal val="visible"/>
                                      </p:to>
                                    </p:set>
                                    <p:animEffect transition="in" filter="fade">
                                      <p:cBhvr>
                                        <p:cTn id="25" dur="500"/>
                                        <p:tgtEl>
                                          <p:spTgt spid="90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12"/>
          <p:cNvSpPr/>
          <p:nvPr/>
        </p:nvSpPr>
        <p:spPr>
          <a:xfrm>
            <a:off x="303585" y="894224"/>
            <a:ext cx="6325816" cy="3761478"/>
          </a:xfrm>
          <a:prstGeom prst="rect">
            <a:avLst/>
          </a:prstGeom>
          <a:noFill/>
          <a:ln>
            <a:noFill/>
          </a:ln>
        </p:spPr>
        <p:txBody>
          <a:bodyPr spcFirstLastPara="1" wrap="square" lIns="67500" tIns="33750" rIns="67500" bIns="33750" anchor="t" anchorCtr="0">
            <a:spAutoFit/>
          </a:bodyPr>
          <a:lstStyle/>
          <a:p>
            <a:pPr marL="0" marR="0" lvl="0" indent="0" algn="l" rtl="0">
              <a:spcBef>
                <a:spcPts val="0"/>
              </a:spcBef>
              <a:spcAft>
                <a:spcPts val="0"/>
              </a:spcAft>
              <a:buNone/>
            </a:pPr>
            <a:r>
              <a:rPr lang="en-GB" sz="1600" dirty="0">
                <a:solidFill>
                  <a:srgbClr val="000000"/>
                </a:solidFill>
                <a:latin typeface="Arial"/>
                <a:ea typeface="Arial"/>
                <a:cs typeface="Arial"/>
                <a:sym typeface="Arial"/>
              </a:rPr>
              <a:t>0D stand-alone code, describing </a:t>
            </a:r>
            <a:r>
              <a:rPr lang="en-GB" sz="1600" b="1" dirty="0">
                <a:solidFill>
                  <a:srgbClr val="000000"/>
                </a:solidFill>
                <a:latin typeface="Arial"/>
                <a:ea typeface="Arial"/>
                <a:cs typeface="Arial"/>
                <a:sym typeface="Arial"/>
              </a:rPr>
              <a:t>fission gas behaviour</a:t>
            </a:r>
            <a:r>
              <a:rPr lang="en-GB" sz="1600" dirty="0">
                <a:solidFill>
                  <a:srgbClr val="000000"/>
                </a:solidFill>
                <a:latin typeface="Arial"/>
                <a:ea typeface="Arial"/>
                <a:cs typeface="Arial"/>
                <a:sym typeface="Arial"/>
              </a:rPr>
              <a:t> with physics-based approaches</a:t>
            </a:r>
            <a:r>
              <a:rPr lang="en-GB" sz="1600" dirty="0"/>
              <a:t>:</a:t>
            </a:r>
            <a:endParaRPr sz="1600" dirty="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600" dirty="0">
                <a:solidFill>
                  <a:srgbClr val="000000"/>
                </a:solidFill>
                <a:latin typeface="Arial"/>
                <a:ea typeface="Arial"/>
                <a:cs typeface="Arial"/>
                <a:sym typeface="Arial"/>
              </a:rPr>
              <a:t>Stable</a:t>
            </a:r>
            <a:r>
              <a:rPr lang="en-GB" sz="1600" dirty="0"/>
              <a:t> and</a:t>
            </a:r>
            <a:r>
              <a:rPr lang="en-GB" sz="1600" dirty="0">
                <a:solidFill>
                  <a:srgbClr val="000000"/>
                </a:solidFill>
                <a:latin typeface="Arial"/>
                <a:ea typeface="Arial"/>
                <a:cs typeface="Arial"/>
                <a:sym typeface="Arial"/>
              </a:rPr>
              <a:t> radioactive </a:t>
            </a:r>
            <a:r>
              <a:rPr lang="en-GB" sz="1600" dirty="0"/>
              <a:t>fission gases, helium</a:t>
            </a:r>
            <a:endParaRPr sz="1600" dirty="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600" dirty="0">
                <a:solidFill>
                  <a:srgbClr val="000000"/>
                </a:solidFill>
                <a:latin typeface="Arial"/>
                <a:ea typeface="Arial"/>
                <a:cs typeface="Arial"/>
                <a:sym typeface="Arial"/>
              </a:rPr>
              <a:t>Gaseous swelling, fuel microstructure</a:t>
            </a:r>
            <a:endParaRPr sz="1600" dirty="0">
              <a:solidFill>
                <a:schemeClr val="dk1"/>
              </a:solidFill>
              <a:latin typeface="Arial"/>
              <a:ea typeface="Arial"/>
              <a:cs typeface="Arial"/>
              <a:sym typeface="Arial"/>
            </a:endParaRPr>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GB" sz="1600" dirty="0">
                <a:solidFill>
                  <a:srgbClr val="000000"/>
                </a:solidFill>
                <a:latin typeface="Arial"/>
                <a:ea typeface="Arial"/>
                <a:cs typeface="Arial"/>
                <a:sym typeface="Arial"/>
              </a:rPr>
              <a:t>Standard version </a:t>
            </a: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GB" sz="1600" u="sng" dirty="0">
                <a:solidFill>
                  <a:srgbClr val="0000FF"/>
                </a:solidFill>
                <a:latin typeface="Arial"/>
                <a:ea typeface="Arial"/>
                <a:cs typeface="Arial"/>
                <a:sym typeface="Arial"/>
                <a:hlinkClick r:id="rId3">
                  <a:extLst>
                    <a:ext uri="{A12FA001-AC4F-418D-AE19-62706E023703}">
                      <ahyp:hlinkClr xmlns:ahyp="http://schemas.microsoft.com/office/drawing/2018/hyperlinkcolor" val="tx"/>
                    </a:ext>
                  </a:extLst>
                </a:hlinkClick>
              </a:rPr>
              <a:t>https://github.com/sciantix/sciantix-official</a:t>
            </a:r>
            <a:endParaRPr sz="1600" dirty="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600" dirty="0">
                <a:solidFill>
                  <a:srgbClr val="000000"/>
                </a:solidFill>
                <a:latin typeface="Arial"/>
                <a:ea typeface="Arial"/>
                <a:cs typeface="Arial"/>
                <a:sym typeface="Arial"/>
              </a:rPr>
              <a:t>Verified (</a:t>
            </a:r>
            <a:r>
              <a:rPr lang="en-GB" sz="1600" dirty="0"/>
              <a:t>method of manufactured solutions</a:t>
            </a:r>
            <a:r>
              <a:rPr lang="en-GB" sz="1600" dirty="0">
                <a:solidFill>
                  <a:srgbClr val="000000"/>
                </a:solidFill>
                <a:latin typeface="Arial"/>
                <a:ea typeface="Arial"/>
                <a:cs typeface="Arial"/>
                <a:sym typeface="Arial"/>
              </a:rPr>
              <a:t>)</a:t>
            </a:r>
            <a:endParaRPr sz="1600" dirty="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600" dirty="0">
                <a:solidFill>
                  <a:srgbClr val="000000"/>
                </a:solidFill>
                <a:latin typeface="Arial"/>
                <a:ea typeface="Arial"/>
                <a:cs typeface="Arial"/>
                <a:sym typeface="Arial"/>
              </a:rPr>
              <a:t>Validated (separate-effect experiments)</a:t>
            </a:r>
            <a:endParaRPr sz="1600" dirty="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600" dirty="0">
                <a:solidFill>
                  <a:srgbClr val="000000"/>
                </a:solidFill>
                <a:latin typeface="Arial"/>
                <a:ea typeface="Arial"/>
                <a:cs typeface="Arial"/>
                <a:sym typeface="Arial"/>
              </a:rPr>
              <a:t>Regression test available</a:t>
            </a:r>
            <a:endParaRPr sz="1600" dirty="0">
              <a:solidFill>
                <a:schemeClr val="dk1"/>
              </a:solidFill>
              <a:latin typeface="Arial"/>
              <a:ea typeface="Arial"/>
              <a:cs typeface="Arial"/>
              <a:sym typeface="Arial"/>
            </a:endParaRPr>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GB" sz="1600" b="1" dirty="0">
                <a:solidFill>
                  <a:srgbClr val="000000"/>
                </a:solidFill>
                <a:latin typeface="Arial"/>
                <a:ea typeface="Arial"/>
                <a:cs typeface="Arial"/>
                <a:sym typeface="Arial"/>
              </a:rPr>
              <a:t>Coupling with </a:t>
            </a:r>
            <a:r>
              <a:rPr lang="en-GB" sz="1600" b="1" dirty="0"/>
              <a:t>fuel performance codes</a:t>
            </a:r>
            <a:endParaRPr sz="1600" b="1" dirty="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600" dirty="0">
                <a:solidFill>
                  <a:srgbClr val="000000"/>
                </a:solidFill>
                <a:latin typeface="Arial"/>
                <a:ea typeface="Arial"/>
                <a:cs typeface="Arial"/>
                <a:sym typeface="Arial"/>
              </a:rPr>
              <a:t>TRANSURANUS (JRC-Ka)</a:t>
            </a:r>
            <a:endParaRPr sz="1600" dirty="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600" dirty="0">
                <a:solidFill>
                  <a:srgbClr val="000000"/>
                </a:solidFill>
                <a:latin typeface="Arial"/>
                <a:ea typeface="Arial"/>
                <a:cs typeface="Arial"/>
                <a:sym typeface="Arial"/>
              </a:rPr>
              <a:t>FRAPCON/FRAPTRAN (CIEMAT, Madrid)</a:t>
            </a:r>
            <a:endParaRPr sz="1600" dirty="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600" dirty="0">
                <a:solidFill>
                  <a:srgbClr val="000000"/>
                </a:solidFill>
                <a:latin typeface="Arial"/>
                <a:ea typeface="Arial"/>
                <a:cs typeface="Arial"/>
                <a:sym typeface="Arial"/>
              </a:rPr>
              <a:t>OFFBEAT (EPFL, Lausanne)</a:t>
            </a:r>
            <a:endParaRPr sz="1600" dirty="0">
              <a:solidFill>
                <a:schemeClr val="dk1"/>
              </a:solidFill>
              <a:latin typeface="Arial"/>
              <a:ea typeface="Arial"/>
              <a:cs typeface="Arial"/>
              <a:sym typeface="Arial"/>
            </a:endParaRPr>
          </a:p>
        </p:txBody>
      </p:sp>
      <p:sp>
        <p:nvSpPr>
          <p:cNvPr id="918" name="Google Shape;918;p12"/>
          <p:cNvSpPr txBox="1"/>
          <p:nvPr/>
        </p:nvSpPr>
        <p:spPr>
          <a:xfrm>
            <a:off x="3114460" y="178944"/>
            <a:ext cx="583298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a:solidFill>
                  <a:srgbClr val="0157A3"/>
                </a:solidFill>
                <a:latin typeface="Arial"/>
                <a:ea typeface="Arial"/>
                <a:cs typeface="Arial"/>
                <a:sym typeface="Arial"/>
              </a:rPr>
              <a:t>SCIANTIX, main features</a:t>
            </a:r>
            <a:endParaRPr/>
          </a:p>
        </p:txBody>
      </p:sp>
      <p:grpSp>
        <p:nvGrpSpPr>
          <p:cNvPr id="3" name="Google Shape;914;p12"/>
          <p:cNvGrpSpPr/>
          <p:nvPr/>
        </p:nvGrpSpPr>
        <p:grpSpPr>
          <a:xfrm>
            <a:off x="4806713" y="3590614"/>
            <a:ext cx="899143" cy="1065088"/>
            <a:chOff x="4442572" y="4186622"/>
            <a:chExt cx="1239840" cy="1537920"/>
          </a:xfrm>
        </p:grpSpPr>
        <p:pic>
          <p:nvPicPr>
            <p:cNvPr id="4" name="Google Shape;915;p12"/>
            <p:cNvPicPr preferRelativeResize="0"/>
            <p:nvPr/>
          </p:nvPicPr>
          <p:blipFill rotWithShape="1">
            <a:blip r:embed="rId4">
              <a:alphaModFix/>
            </a:blip>
            <a:srcRect/>
            <a:stretch/>
          </p:blipFill>
          <p:spPr>
            <a:xfrm>
              <a:off x="4442572" y="5261222"/>
              <a:ext cx="1239840" cy="463320"/>
            </a:xfrm>
            <a:prstGeom prst="rect">
              <a:avLst/>
            </a:prstGeom>
            <a:noFill/>
            <a:ln>
              <a:noFill/>
            </a:ln>
          </p:spPr>
        </p:pic>
        <p:pic>
          <p:nvPicPr>
            <p:cNvPr id="5" name="Google Shape;916;p12"/>
            <p:cNvPicPr preferRelativeResize="0"/>
            <p:nvPr/>
          </p:nvPicPr>
          <p:blipFill rotWithShape="1">
            <a:blip r:embed="rId5">
              <a:alphaModFix/>
            </a:blip>
            <a:srcRect/>
            <a:stretch/>
          </p:blipFill>
          <p:spPr>
            <a:xfrm>
              <a:off x="4506832" y="4788182"/>
              <a:ext cx="1111320" cy="473040"/>
            </a:xfrm>
            <a:prstGeom prst="rect">
              <a:avLst/>
            </a:prstGeom>
            <a:noFill/>
            <a:ln>
              <a:noFill/>
            </a:ln>
          </p:spPr>
        </p:pic>
        <p:pic>
          <p:nvPicPr>
            <p:cNvPr id="6" name="Google Shape;917;p12"/>
            <p:cNvPicPr preferRelativeResize="0"/>
            <p:nvPr/>
          </p:nvPicPr>
          <p:blipFill rotWithShape="1">
            <a:blip r:embed="rId6">
              <a:alphaModFix/>
            </a:blip>
            <a:srcRect/>
            <a:stretch/>
          </p:blipFill>
          <p:spPr>
            <a:xfrm>
              <a:off x="4761712" y="4186622"/>
              <a:ext cx="601560" cy="601560"/>
            </a:xfrm>
            <a:prstGeom prst="rect">
              <a:avLst/>
            </a:prstGeom>
            <a:noFill/>
            <a:ln>
              <a:noFill/>
            </a:ln>
          </p:spPr>
        </p:pic>
      </p:grpSp>
      <p:pic>
        <p:nvPicPr>
          <p:cNvPr id="7" name="Google Shape;907;p11">
            <a:extLst>
              <a:ext uri="{FF2B5EF4-FFF2-40B4-BE49-F238E27FC236}">
                <a16:creationId xmlns:a16="http://schemas.microsoft.com/office/drawing/2014/main" id="{12B1E27C-4B88-6EDF-AD17-306B83FC70B0}"/>
              </a:ext>
            </a:extLst>
          </p:cNvPr>
          <p:cNvPicPr preferRelativeResize="0"/>
          <p:nvPr/>
        </p:nvPicPr>
        <p:blipFill rotWithShape="1">
          <a:blip r:embed="rId7">
            <a:alphaModFix/>
          </a:blip>
          <a:srcRect l="18887" t="31613" r="16565" b="33262"/>
          <a:stretch/>
        </p:blipFill>
        <p:spPr>
          <a:xfrm>
            <a:off x="7040152" y="684425"/>
            <a:ext cx="1907288" cy="7335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2">
          <a:extLst>
            <a:ext uri="{FF2B5EF4-FFF2-40B4-BE49-F238E27FC236}">
              <a16:creationId xmlns:a16="http://schemas.microsoft.com/office/drawing/2014/main" id="{797C18A3-073A-2BD3-23BD-2CF2A9A8CC53}"/>
            </a:ext>
          </a:extLst>
        </p:cNvPr>
        <p:cNvGrpSpPr/>
        <p:nvPr/>
      </p:nvGrpSpPr>
      <p:grpSpPr>
        <a:xfrm>
          <a:off x="0" y="0"/>
          <a:ext cx="0" cy="0"/>
          <a:chOff x="0" y="0"/>
          <a:chExt cx="0" cy="0"/>
        </a:xfrm>
      </p:grpSpPr>
      <p:sp>
        <p:nvSpPr>
          <p:cNvPr id="918" name="Google Shape;918;p12">
            <a:extLst>
              <a:ext uri="{FF2B5EF4-FFF2-40B4-BE49-F238E27FC236}">
                <a16:creationId xmlns:a16="http://schemas.microsoft.com/office/drawing/2014/main" id="{08A8C5B7-08AD-3A93-AD01-42D4FE197802}"/>
              </a:ext>
            </a:extLst>
          </p:cNvPr>
          <p:cNvSpPr txBox="1"/>
          <p:nvPr/>
        </p:nvSpPr>
        <p:spPr>
          <a:xfrm>
            <a:off x="3114460" y="178944"/>
            <a:ext cx="583298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dirty="0">
                <a:solidFill>
                  <a:srgbClr val="0157A3"/>
                </a:solidFill>
                <a:latin typeface="Arial"/>
                <a:ea typeface="Arial"/>
                <a:cs typeface="Arial"/>
                <a:sym typeface="Arial"/>
              </a:rPr>
              <a:t>Education and training</a:t>
            </a:r>
            <a:endParaRPr dirty="0"/>
          </a:p>
        </p:txBody>
      </p:sp>
      <p:pic>
        <p:nvPicPr>
          <p:cNvPr id="7" name="Google Shape;907;p11">
            <a:extLst>
              <a:ext uri="{FF2B5EF4-FFF2-40B4-BE49-F238E27FC236}">
                <a16:creationId xmlns:a16="http://schemas.microsoft.com/office/drawing/2014/main" id="{6E0DC5BD-3B54-E584-2C4A-101B58AB56C6}"/>
              </a:ext>
            </a:extLst>
          </p:cNvPr>
          <p:cNvPicPr preferRelativeResize="0"/>
          <p:nvPr/>
        </p:nvPicPr>
        <p:blipFill rotWithShape="1">
          <a:blip r:embed="rId3">
            <a:alphaModFix/>
          </a:blip>
          <a:srcRect l="18887" t="31613" r="16565" b="33262"/>
          <a:stretch/>
        </p:blipFill>
        <p:spPr>
          <a:xfrm>
            <a:off x="7040152" y="684425"/>
            <a:ext cx="1907288" cy="733572"/>
          </a:xfrm>
          <a:prstGeom prst="rect">
            <a:avLst/>
          </a:prstGeom>
          <a:noFill/>
          <a:ln>
            <a:noFill/>
          </a:ln>
        </p:spPr>
      </p:pic>
      <p:pic>
        <p:nvPicPr>
          <p:cNvPr id="2" name="Immagine 1" descr="Immagine che contiene testo, elettronica, schermata, software&#10;&#10;Il contenuto generato dall'IA potrebbe non essere corretto.">
            <a:extLst>
              <a:ext uri="{FF2B5EF4-FFF2-40B4-BE49-F238E27FC236}">
                <a16:creationId xmlns:a16="http://schemas.microsoft.com/office/drawing/2014/main" id="{7BEF2F77-CA8B-EE76-9E17-F54E7740837A}"/>
              </a:ext>
            </a:extLst>
          </p:cNvPr>
          <p:cNvPicPr>
            <a:picLocks noChangeAspect="1"/>
          </p:cNvPicPr>
          <p:nvPr/>
        </p:nvPicPr>
        <p:blipFill>
          <a:blip r:embed="rId4"/>
          <a:stretch>
            <a:fillRect/>
          </a:stretch>
        </p:blipFill>
        <p:spPr>
          <a:xfrm>
            <a:off x="3352204" y="684425"/>
            <a:ext cx="3587456" cy="4012557"/>
          </a:xfrm>
          <a:prstGeom prst="rect">
            <a:avLst/>
          </a:prstGeom>
        </p:spPr>
      </p:pic>
      <p:sp>
        <p:nvSpPr>
          <p:cNvPr id="8" name="Google Shape;913;p12">
            <a:extLst>
              <a:ext uri="{FF2B5EF4-FFF2-40B4-BE49-F238E27FC236}">
                <a16:creationId xmlns:a16="http://schemas.microsoft.com/office/drawing/2014/main" id="{318502AF-290B-60A7-4105-82299FB08E1E}"/>
              </a:ext>
            </a:extLst>
          </p:cNvPr>
          <p:cNvSpPr/>
          <p:nvPr/>
        </p:nvSpPr>
        <p:spPr>
          <a:xfrm>
            <a:off x="303585" y="894224"/>
            <a:ext cx="3048619" cy="2284150"/>
          </a:xfrm>
          <a:prstGeom prst="rect">
            <a:avLst/>
          </a:prstGeom>
          <a:noFill/>
          <a:ln>
            <a:noFill/>
          </a:ln>
        </p:spPr>
        <p:txBody>
          <a:bodyPr spcFirstLastPara="1" wrap="square" lIns="67500" tIns="33750" rIns="67500" bIns="33750" anchor="t" anchorCtr="0">
            <a:spAutoFit/>
          </a:bodyPr>
          <a:lstStyle/>
          <a:p>
            <a:pPr lvl="0"/>
            <a:r>
              <a:rPr lang="en-GB" sz="1800" dirty="0"/>
              <a:t>Massive Open Online Course (</a:t>
            </a:r>
            <a:r>
              <a:rPr lang="en-GB" sz="1800" b="1" dirty="0"/>
              <a:t>MOOC</a:t>
            </a:r>
            <a:r>
              <a:rPr lang="en-GB" sz="1800" dirty="0"/>
              <a:t>) on fission gas behaviour, produced  within OperaHPC (WP8).</a:t>
            </a:r>
            <a:endParaRPr lang="it-IT" sz="1800" dirty="0">
              <a:solidFill>
                <a:schemeClr val="dk1"/>
              </a:solidFill>
            </a:endParaRPr>
          </a:p>
          <a:p>
            <a:pPr lvl="0"/>
            <a:endParaRPr lang="it-IT" sz="1800" dirty="0">
              <a:solidFill>
                <a:schemeClr val="dk1"/>
              </a:solidFill>
              <a:latin typeface="Arial"/>
              <a:ea typeface="Arial"/>
              <a:cs typeface="Arial"/>
              <a:sym typeface="Arial"/>
            </a:endParaRPr>
          </a:p>
          <a:p>
            <a:pPr>
              <a:buSzPts val="630"/>
            </a:pPr>
            <a:r>
              <a:rPr lang="en-GB" sz="1800" dirty="0"/>
              <a:t>Soon to be distributed via </a:t>
            </a:r>
            <a:r>
              <a:rPr lang="en-GB" sz="1800" b="1" dirty="0" err="1"/>
              <a:t>Polimi</a:t>
            </a:r>
            <a:r>
              <a:rPr lang="en-GB" sz="1800" b="1" dirty="0"/>
              <a:t> Open Knowledge </a:t>
            </a:r>
            <a:r>
              <a:rPr lang="en-GB" sz="1800" dirty="0"/>
              <a:t>platform!</a:t>
            </a:r>
            <a:endParaRPr lang="it-IT" sz="1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40469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14"/>
          <p:cNvSpPr txBox="1">
            <a:spLocks noGrp="1"/>
          </p:cNvSpPr>
          <p:nvPr>
            <p:ph type="title" idx="4294967295"/>
          </p:nvPr>
        </p:nvSpPr>
        <p:spPr>
          <a:xfrm>
            <a:off x="3149601" y="178943"/>
            <a:ext cx="5797840" cy="398655"/>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Intra-granular fission gas behaviour</a:t>
            </a:r>
            <a:endParaRPr sz="2000" b="0" i="0" u="none" strike="noStrike" cap="none">
              <a:solidFill>
                <a:srgbClr val="0157A3"/>
              </a:solidFill>
              <a:latin typeface="Arial"/>
              <a:ea typeface="Arial"/>
              <a:cs typeface="Arial"/>
              <a:sym typeface="Arial"/>
            </a:endParaRPr>
          </a:p>
        </p:txBody>
      </p:sp>
      <p:sp>
        <p:nvSpPr>
          <p:cNvPr id="932" name="Google Shape;932;p14"/>
          <p:cNvSpPr/>
          <p:nvPr/>
        </p:nvSpPr>
        <p:spPr>
          <a:xfrm>
            <a:off x="5653977" y="1935263"/>
            <a:ext cx="86760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Diffusion</a:t>
            </a:r>
            <a:endParaRPr sz="1200" strike="noStrike">
              <a:solidFill>
                <a:srgbClr val="0070C0"/>
              </a:solidFill>
              <a:latin typeface="Arial"/>
              <a:ea typeface="Arial"/>
              <a:cs typeface="Arial"/>
              <a:sym typeface="Arial"/>
            </a:endParaRPr>
          </a:p>
        </p:txBody>
      </p:sp>
      <p:sp>
        <p:nvSpPr>
          <p:cNvPr id="933" name="Google Shape;933;p14"/>
          <p:cNvSpPr/>
          <p:nvPr/>
        </p:nvSpPr>
        <p:spPr>
          <a:xfrm>
            <a:off x="2797654" y="2491260"/>
            <a:ext cx="1166157"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Re-solution</a:t>
            </a:r>
            <a:endParaRPr sz="1200" strike="noStrike">
              <a:solidFill>
                <a:srgbClr val="0070C0"/>
              </a:solidFill>
              <a:latin typeface="Arial"/>
              <a:ea typeface="Arial"/>
              <a:cs typeface="Arial"/>
              <a:sym typeface="Arial"/>
            </a:endParaRPr>
          </a:p>
        </p:txBody>
      </p:sp>
      <p:sp>
        <p:nvSpPr>
          <p:cNvPr id="934" name="Google Shape;934;p14"/>
          <p:cNvSpPr/>
          <p:nvPr/>
        </p:nvSpPr>
        <p:spPr>
          <a:xfrm>
            <a:off x="2524857" y="2158918"/>
            <a:ext cx="64044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Trapping</a:t>
            </a:r>
            <a:endParaRPr sz="1200" strike="noStrike">
              <a:solidFill>
                <a:srgbClr val="0070C0"/>
              </a:solidFill>
              <a:latin typeface="Arial"/>
              <a:ea typeface="Arial"/>
              <a:cs typeface="Arial"/>
              <a:sym typeface="Arial"/>
            </a:endParaRPr>
          </a:p>
        </p:txBody>
      </p:sp>
      <p:sp>
        <p:nvSpPr>
          <p:cNvPr id="935" name="Google Shape;935;p14"/>
          <p:cNvSpPr/>
          <p:nvPr/>
        </p:nvSpPr>
        <p:spPr>
          <a:xfrm>
            <a:off x="3459197" y="1239135"/>
            <a:ext cx="2207857"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Fission gases (Xe, Kr) and fission products (Cs, I, Te, …)</a:t>
            </a:r>
            <a:endParaRPr/>
          </a:p>
        </p:txBody>
      </p:sp>
      <p:sp>
        <p:nvSpPr>
          <p:cNvPr id="936" name="Google Shape;936;p14"/>
          <p:cNvSpPr/>
          <p:nvPr/>
        </p:nvSpPr>
        <p:spPr>
          <a:xfrm>
            <a:off x="3781025" y="712996"/>
            <a:ext cx="1564200" cy="247554"/>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Fission reactions</a:t>
            </a:r>
            <a:endParaRPr/>
          </a:p>
        </p:txBody>
      </p:sp>
      <p:sp>
        <p:nvSpPr>
          <p:cNvPr id="937" name="Google Shape;937;p14"/>
          <p:cNvSpPr/>
          <p:nvPr/>
        </p:nvSpPr>
        <p:spPr>
          <a:xfrm>
            <a:off x="7030210" y="2233089"/>
            <a:ext cx="1704000" cy="4323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Inter-granular / grain-boundary bubbles</a:t>
            </a:r>
            <a:endParaRPr/>
          </a:p>
        </p:txBody>
      </p:sp>
      <p:sp>
        <p:nvSpPr>
          <p:cNvPr id="938" name="Google Shape;938;p14"/>
          <p:cNvSpPr/>
          <p:nvPr/>
        </p:nvSpPr>
        <p:spPr>
          <a:xfrm>
            <a:off x="456100" y="2471300"/>
            <a:ext cx="1623900" cy="27540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Intra-granular bubbles</a:t>
            </a:r>
            <a:endParaRPr/>
          </a:p>
        </p:txBody>
      </p:sp>
      <p:sp>
        <p:nvSpPr>
          <p:cNvPr id="939" name="Google Shape;939;p14"/>
          <p:cNvSpPr/>
          <p:nvPr/>
        </p:nvSpPr>
        <p:spPr>
          <a:xfrm>
            <a:off x="3867696" y="1935263"/>
            <a:ext cx="1390858"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Intra-granular (single atoms)</a:t>
            </a:r>
            <a:endParaRPr/>
          </a:p>
        </p:txBody>
      </p:sp>
      <p:sp>
        <p:nvSpPr>
          <p:cNvPr id="940" name="Google Shape;940;p14"/>
          <p:cNvSpPr/>
          <p:nvPr/>
        </p:nvSpPr>
        <p:spPr>
          <a:xfrm>
            <a:off x="3306725" y="3752065"/>
            <a:ext cx="2512800" cy="43222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Grain-face </a:t>
            </a:r>
            <a:r>
              <a:rPr lang="en-GB" sz="1200" b="1" strike="noStrike">
                <a:solidFill>
                  <a:srgbClr val="7F7F7F"/>
                </a:solidFill>
                <a:latin typeface="Arial"/>
                <a:ea typeface="Arial"/>
                <a:cs typeface="Arial"/>
                <a:sym typeface="Arial"/>
              </a:rPr>
              <a:t>saturation</a:t>
            </a:r>
            <a:r>
              <a:rPr lang="en-GB" sz="1200" b="1">
                <a:solidFill>
                  <a:srgbClr val="7F7F7F"/>
                </a:solidFill>
                <a:latin typeface="Arial"/>
                <a:ea typeface="Arial"/>
                <a:cs typeface="Arial"/>
                <a:sym typeface="Arial"/>
              </a:rPr>
              <a:t> </a:t>
            </a:r>
            <a:r>
              <a:rPr lang="en-GB" sz="1200" strike="noStrike">
                <a:solidFill>
                  <a:srgbClr val="7F7F7F"/>
                </a:solidFill>
                <a:latin typeface="Arial"/>
                <a:ea typeface="Arial"/>
                <a:cs typeface="Arial"/>
                <a:sym typeface="Arial"/>
              </a:rPr>
              <a:t>and/or </a:t>
            </a:r>
            <a:r>
              <a:rPr lang="en-GB" sz="1200" b="1" strike="noStrike">
                <a:solidFill>
                  <a:srgbClr val="7F7F7F"/>
                </a:solidFill>
                <a:latin typeface="Arial"/>
                <a:ea typeface="Arial"/>
                <a:cs typeface="Arial"/>
                <a:sym typeface="Arial"/>
              </a:rPr>
              <a:t>micro-cracking</a:t>
            </a:r>
            <a:endParaRPr sz="1200" b="1" strike="noStrike">
              <a:solidFill>
                <a:srgbClr val="7F7F7F"/>
              </a:solidFill>
              <a:latin typeface="Arial"/>
              <a:ea typeface="Arial"/>
              <a:cs typeface="Arial"/>
              <a:sym typeface="Arial"/>
            </a:endParaRPr>
          </a:p>
        </p:txBody>
      </p:sp>
      <p:sp>
        <p:nvSpPr>
          <p:cNvPr id="941" name="Google Shape;941;p14"/>
          <p:cNvSpPr/>
          <p:nvPr/>
        </p:nvSpPr>
        <p:spPr>
          <a:xfrm>
            <a:off x="3698026" y="4433374"/>
            <a:ext cx="1730199" cy="275545"/>
          </a:xfrm>
          <a:prstGeom prst="rect">
            <a:avLst/>
          </a:prstGeom>
          <a:solidFill>
            <a:srgbClr val="D8D8D8"/>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Fission gas release</a:t>
            </a:r>
            <a:endParaRPr sz="1200" strike="noStrike">
              <a:solidFill>
                <a:srgbClr val="7F7F7F"/>
              </a:solidFill>
              <a:latin typeface="Arial"/>
              <a:ea typeface="Arial"/>
              <a:cs typeface="Arial"/>
              <a:sym typeface="Arial"/>
            </a:endParaRPr>
          </a:p>
        </p:txBody>
      </p:sp>
      <p:sp>
        <p:nvSpPr>
          <p:cNvPr id="942" name="Google Shape;942;p14"/>
          <p:cNvSpPr/>
          <p:nvPr/>
        </p:nvSpPr>
        <p:spPr>
          <a:xfrm>
            <a:off x="7046300" y="4253935"/>
            <a:ext cx="1671900" cy="460200"/>
          </a:xfrm>
          <a:prstGeom prst="rect">
            <a:avLst/>
          </a:prstGeom>
          <a:solidFill>
            <a:srgbClr val="D8D8D8"/>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High-burnup structure (HBS)</a:t>
            </a:r>
            <a:endParaRPr sz="1200" strike="noStrike">
              <a:solidFill>
                <a:srgbClr val="7F7F7F"/>
              </a:solidFill>
              <a:latin typeface="Arial"/>
              <a:ea typeface="Arial"/>
              <a:cs typeface="Arial"/>
              <a:sym typeface="Arial"/>
            </a:endParaRPr>
          </a:p>
        </p:txBody>
      </p:sp>
      <p:cxnSp>
        <p:nvCxnSpPr>
          <p:cNvPr id="943" name="Google Shape;943;p14"/>
          <p:cNvCxnSpPr/>
          <p:nvPr/>
        </p:nvCxnSpPr>
        <p:spPr>
          <a:xfrm>
            <a:off x="4563125" y="983633"/>
            <a:ext cx="1" cy="255502"/>
          </a:xfrm>
          <a:prstGeom prst="straightConnector1">
            <a:avLst/>
          </a:prstGeom>
          <a:noFill/>
          <a:ln w="9525" cap="flat" cmpd="sng">
            <a:solidFill>
              <a:srgbClr val="5F497A"/>
            </a:solidFill>
            <a:prstDash val="solid"/>
            <a:miter lim="8000"/>
            <a:headEnd type="none" w="sm" len="sm"/>
            <a:tailEnd type="triangle" w="med" len="med"/>
          </a:ln>
        </p:spPr>
      </p:cxnSp>
      <p:cxnSp>
        <p:nvCxnSpPr>
          <p:cNvPr id="944" name="Google Shape;944;p14"/>
          <p:cNvCxnSpPr>
            <a:endCxn id="939" idx="0"/>
          </p:cNvCxnSpPr>
          <p:nvPr/>
        </p:nvCxnSpPr>
        <p:spPr>
          <a:xfrm>
            <a:off x="4559525" y="1688363"/>
            <a:ext cx="3600" cy="246900"/>
          </a:xfrm>
          <a:prstGeom prst="straightConnector1">
            <a:avLst/>
          </a:prstGeom>
          <a:noFill/>
          <a:ln w="9525" cap="flat" cmpd="sng">
            <a:solidFill>
              <a:srgbClr val="5F497A"/>
            </a:solidFill>
            <a:prstDash val="solid"/>
            <a:miter lim="8000"/>
            <a:headEnd type="none" w="sm" len="sm"/>
            <a:tailEnd type="triangle" w="med" len="med"/>
          </a:ln>
        </p:spPr>
      </p:cxnSp>
      <p:cxnSp>
        <p:nvCxnSpPr>
          <p:cNvPr id="945" name="Google Shape;945;p14"/>
          <p:cNvCxnSpPr>
            <a:stCxn id="939" idx="1"/>
            <a:endCxn id="938" idx="3"/>
          </p:cNvCxnSpPr>
          <p:nvPr/>
        </p:nvCxnSpPr>
        <p:spPr>
          <a:xfrm flipH="1">
            <a:off x="2079996" y="2151373"/>
            <a:ext cx="1787700" cy="457500"/>
          </a:xfrm>
          <a:prstGeom prst="straightConnector1">
            <a:avLst/>
          </a:prstGeom>
          <a:noFill/>
          <a:ln w="9525" cap="flat" cmpd="sng">
            <a:solidFill>
              <a:srgbClr val="5F497A"/>
            </a:solidFill>
            <a:prstDash val="solid"/>
            <a:miter lim="8000"/>
            <a:headEnd type="triangle" w="med" len="med"/>
            <a:tailEnd type="triangle" w="med" len="med"/>
          </a:ln>
        </p:spPr>
      </p:cxnSp>
      <p:cxnSp>
        <p:nvCxnSpPr>
          <p:cNvPr id="946" name="Google Shape;946;p14"/>
          <p:cNvCxnSpPr>
            <a:stCxn id="939" idx="3"/>
            <a:endCxn id="937" idx="1"/>
          </p:cNvCxnSpPr>
          <p:nvPr/>
        </p:nvCxnSpPr>
        <p:spPr>
          <a:xfrm>
            <a:off x="5258554" y="2151373"/>
            <a:ext cx="1771800" cy="297900"/>
          </a:xfrm>
          <a:prstGeom prst="straightConnector1">
            <a:avLst/>
          </a:prstGeom>
          <a:noFill/>
          <a:ln w="9525" cap="flat" cmpd="sng">
            <a:solidFill>
              <a:srgbClr val="5F497A"/>
            </a:solidFill>
            <a:prstDash val="solid"/>
            <a:miter lim="8000"/>
            <a:headEnd type="none" w="sm" len="sm"/>
            <a:tailEnd type="triangle" w="med" len="med"/>
          </a:ln>
        </p:spPr>
      </p:cxnSp>
      <p:cxnSp>
        <p:nvCxnSpPr>
          <p:cNvPr id="947" name="Google Shape;947;p14"/>
          <p:cNvCxnSpPr>
            <a:stCxn id="937" idx="1"/>
            <a:endCxn id="940" idx="0"/>
          </p:cNvCxnSpPr>
          <p:nvPr/>
        </p:nvCxnSpPr>
        <p:spPr>
          <a:xfrm flipH="1">
            <a:off x="4563010" y="2449239"/>
            <a:ext cx="2467200" cy="1302900"/>
          </a:xfrm>
          <a:prstGeom prst="straightConnector1">
            <a:avLst/>
          </a:prstGeom>
          <a:noFill/>
          <a:ln w="9525" cap="flat" cmpd="sng">
            <a:solidFill>
              <a:srgbClr val="5F497A"/>
            </a:solidFill>
            <a:prstDash val="solid"/>
            <a:miter lim="8000"/>
            <a:headEnd type="none" w="sm" len="sm"/>
            <a:tailEnd type="triangle" w="med" len="med"/>
          </a:ln>
        </p:spPr>
      </p:cxnSp>
      <p:sp>
        <p:nvSpPr>
          <p:cNvPr id="948" name="Google Shape;948;p14"/>
          <p:cNvSpPr/>
          <p:nvPr/>
        </p:nvSpPr>
        <p:spPr>
          <a:xfrm>
            <a:off x="510700" y="3844725"/>
            <a:ext cx="1623900" cy="2469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Gaseous fuel swelling</a:t>
            </a:r>
            <a:endParaRPr sz="1200">
              <a:solidFill>
                <a:srgbClr val="7F7F7F"/>
              </a:solidFill>
              <a:latin typeface="Arial"/>
              <a:ea typeface="Arial"/>
              <a:cs typeface="Arial"/>
              <a:sym typeface="Arial"/>
            </a:endParaRPr>
          </a:p>
        </p:txBody>
      </p:sp>
      <p:pic>
        <p:nvPicPr>
          <p:cNvPr id="949" name="Google Shape;949;p14" descr="Rubber duck outline"/>
          <p:cNvPicPr preferRelativeResize="0"/>
          <p:nvPr/>
        </p:nvPicPr>
        <p:blipFill rotWithShape="1">
          <a:blip r:embed="rId3">
            <a:alphaModFix/>
          </a:blip>
          <a:srcRect/>
          <a:stretch/>
        </p:blipFill>
        <p:spPr>
          <a:xfrm>
            <a:off x="8491755" y="-96504"/>
            <a:ext cx="681240" cy="681240"/>
          </a:xfrm>
          <a:prstGeom prst="rect">
            <a:avLst/>
          </a:prstGeom>
          <a:noFill/>
          <a:ln>
            <a:noFill/>
          </a:ln>
        </p:spPr>
      </p:pic>
      <p:cxnSp>
        <p:nvCxnSpPr>
          <p:cNvPr id="950" name="Google Shape;950;p14"/>
          <p:cNvCxnSpPr>
            <a:stCxn id="940" idx="2"/>
            <a:endCxn id="941" idx="0"/>
          </p:cNvCxnSpPr>
          <p:nvPr/>
        </p:nvCxnSpPr>
        <p:spPr>
          <a:xfrm>
            <a:off x="4563125" y="4184285"/>
            <a:ext cx="0" cy="249000"/>
          </a:xfrm>
          <a:prstGeom prst="straightConnector1">
            <a:avLst/>
          </a:prstGeom>
          <a:noFill/>
          <a:ln w="9525" cap="flat" cmpd="sng">
            <a:solidFill>
              <a:srgbClr val="5F497A"/>
            </a:solidFill>
            <a:prstDash val="solid"/>
            <a:miter lim="8000"/>
            <a:headEnd type="none" w="sm" len="sm"/>
            <a:tailEnd type="triangle" w="med" len="med"/>
          </a:ln>
        </p:spPr>
      </p:cxnSp>
      <p:pic>
        <p:nvPicPr>
          <p:cNvPr id="951" name="Google Shape;951;p14"/>
          <p:cNvPicPr preferRelativeResize="0"/>
          <p:nvPr/>
        </p:nvPicPr>
        <p:blipFill>
          <a:blip r:embed="rId4">
            <a:alphaModFix amt="25000"/>
          </a:blip>
          <a:stretch>
            <a:fillRect/>
          </a:stretch>
        </p:blipFill>
        <p:spPr>
          <a:xfrm>
            <a:off x="7044250" y="577600"/>
            <a:ext cx="1671875" cy="1660823"/>
          </a:xfrm>
          <a:prstGeom prst="rect">
            <a:avLst/>
          </a:prstGeom>
          <a:noFill/>
          <a:ln>
            <a:noFill/>
          </a:ln>
        </p:spPr>
      </p:pic>
      <p:pic>
        <p:nvPicPr>
          <p:cNvPr id="952" name="Google Shape;952;p14"/>
          <p:cNvPicPr preferRelativeResize="0"/>
          <p:nvPr/>
        </p:nvPicPr>
        <p:blipFill>
          <a:blip r:embed="rId5">
            <a:alphaModFix/>
          </a:blip>
          <a:stretch>
            <a:fillRect/>
          </a:stretch>
        </p:blipFill>
        <p:spPr>
          <a:xfrm>
            <a:off x="456100" y="852350"/>
            <a:ext cx="1623899" cy="1638900"/>
          </a:xfrm>
          <a:prstGeom prst="rect">
            <a:avLst/>
          </a:prstGeom>
          <a:noFill/>
          <a:ln>
            <a:noFill/>
          </a:ln>
        </p:spPr>
      </p:pic>
      <p:pic>
        <p:nvPicPr>
          <p:cNvPr id="953" name="Google Shape;953;p14"/>
          <p:cNvPicPr preferRelativeResize="0"/>
          <p:nvPr/>
        </p:nvPicPr>
        <p:blipFill>
          <a:blip r:embed="rId6">
            <a:alphaModFix amt="50000"/>
          </a:blip>
          <a:stretch>
            <a:fillRect/>
          </a:stretch>
        </p:blipFill>
        <p:spPr>
          <a:xfrm>
            <a:off x="7046300" y="2776530"/>
            <a:ext cx="1671900" cy="14888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6"/>
                                        </p:tgtEl>
                                        <p:attrNameLst>
                                          <p:attrName>style.visibility</p:attrName>
                                        </p:attrNameLst>
                                      </p:cBhvr>
                                      <p:to>
                                        <p:strVal val="visible"/>
                                      </p:to>
                                    </p:set>
                                    <p:animEffect transition="in" filter="fade">
                                      <p:cBhvr>
                                        <p:cTn id="7" dur="500"/>
                                        <p:tgtEl>
                                          <p:spTgt spid="936"/>
                                        </p:tgtEl>
                                      </p:cBhvr>
                                    </p:animEffect>
                                  </p:childTnLst>
                                </p:cTn>
                              </p:par>
                              <p:par>
                                <p:cTn id="8" presetID="10" presetClass="entr" presetSubtype="0" fill="hold" nodeType="withEffect">
                                  <p:stCondLst>
                                    <p:cond delay="0"/>
                                  </p:stCondLst>
                                  <p:childTnLst>
                                    <p:set>
                                      <p:cBhvr>
                                        <p:cTn id="9" dur="1" fill="hold">
                                          <p:stCondLst>
                                            <p:cond delay="0"/>
                                          </p:stCondLst>
                                        </p:cTn>
                                        <p:tgtEl>
                                          <p:spTgt spid="943"/>
                                        </p:tgtEl>
                                        <p:attrNameLst>
                                          <p:attrName>style.visibility</p:attrName>
                                        </p:attrNameLst>
                                      </p:cBhvr>
                                      <p:to>
                                        <p:strVal val="visible"/>
                                      </p:to>
                                    </p:set>
                                    <p:animEffect transition="in" filter="fade">
                                      <p:cBhvr>
                                        <p:cTn id="10" dur="500"/>
                                        <p:tgtEl>
                                          <p:spTgt spid="943"/>
                                        </p:tgtEl>
                                      </p:cBhvr>
                                    </p:animEffect>
                                  </p:childTnLst>
                                </p:cTn>
                              </p:par>
                              <p:par>
                                <p:cTn id="11" presetID="10" presetClass="entr" presetSubtype="0" fill="hold" nodeType="withEffect">
                                  <p:stCondLst>
                                    <p:cond delay="0"/>
                                  </p:stCondLst>
                                  <p:childTnLst>
                                    <p:set>
                                      <p:cBhvr>
                                        <p:cTn id="12" dur="1" fill="hold">
                                          <p:stCondLst>
                                            <p:cond delay="0"/>
                                          </p:stCondLst>
                                        </p:cTn>
                                        <p:tgtEl>
                                          <p:spTgt spid="935"/>
                                        </p:tgtEl>
                                        <p:attrNameLst>
                                          <p:attrName>style.visibility</p:attrName>
                                        </p:attrNameLst>
                                      </p:cBhvr>
                                      <p:to>
                                        <p:strVal val="visible"/>
                                      </p:to>
                                    </p:set>
                                    <p:animEffect transition="in" filter="fade">
                                      <p:cBhvr>
                                        <p:cTn id="13" dur="500"/>
                                        <p:tgtEl>
                                          <p:spTgt spid="93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44"/>
                                        </p:tgtEl>
                                        <p:attrNameLst>
                                          <p:attrName>style.visibility</p:attrName>
                                        </p:attrNameLst>
                                      </p:cBhvr>
                                      <p:to>
                                        <p:strVal val="visible"/>
                                      </p:to>
                                    </p:set>
                                    <p:animEffect transition="in" filter="fade">
                                      <p:cBhvr>
                                        <p:cTn id="18" dur="500"/>
                                        <p:tgtEl>
                                          <p:spTgt spid="944"/>
                                        </p:tgtEl>
                                      </p:cBhvr>
                                    </p:animEffect>
                                  </p:childTnLst>
                                </p:cTn>
                              </p:par>
                              <p:par>
                                <p:cTn id="19" presetID="10" presetClass="entr" presetSubtype="0" fill="hold" nodeType="withEffect">
                                  <p:stCondLst>
                                    <p:cond delay="0"/>
                                  </p:stCondLst>
                                  <p:childTnLst>
                                    <p:set>
                                      <p:cBhvr>
                                        <p:cTn id="20" dur="1" fill="hold">
                                          <p:stCondLst>
                                            <p:cond delay="0"/>
                                          </p:stCondLst>
                                        </p:cTn>
                                        <p:tgtEl>
                                          <p:spTgt spid="939"/>
                                        </p:tgtEl>
                                        <p:attrNameLst>
                                          <p:attrName>style.visibility</p:attrName>
                                        </p:attrNameLst>
                                      </p:cBhvr>
                                      <p:to>
                                        <p:strVal val="visible"/>
                                      </p:to>
                                    </p:set>
                                    <p:animEffect transition="in" filter="fade">
                                      <p:cBhvr>
                                        <p:cTn id="21" dur="500"/>
                                        <p:tgtEl>
                                          <p:spTgt spid="939"/>
                                        </p:tgtEl>
                                      </p:cBhvr>
                                    </p:animEffect>
                                  </p:childTnLst>
                                </p:cTn>
                              </p:par>
                              <p:par>
                                <p:cTn id="22" presetID="10" presetClass="entr" presetSubtype="0" fill="hold" nodeType="withEffect">
                                  <p:stCondLst>
                                    <p:cond delay="0"/>
                                  </p:stCondLst>
                                  <p:childTnLst>
                                    <p:set>
                                      <p:cBhvr>
                                        <p:cTn id="23" dur="1" fill="hold">
                                          <p:stCondLst>
                                            <p:cond delay="0"/>
                                          </p:stCondLst>
                                        </p:cTn>
                                        <p:tgtEl>
                                          <p:spTgt spid="945"/>
                                        </p:tgtEl>
                                        <p:attrNameLst>
                                          <p:attrName>style.visibility</p:attrName>
                                        </p:attrNameLst>
                                      </p:cBhvr>
                                      <p:to>
                                        <p:strVal val="visible"/>
                                      </p:to>
                                    </p:set>
                                    <p:animEffect transition="in" filter="fade">
                                      <p:cBhvr>
                                        <p:cTn id="24" dur="500"/>
                                        <p:tgtEl>
                                          <p:spTgt spid="945"/>
                                        </p:tgtEl>
                                      </p:cBhvr>
                                    </p:animEffect>
                                  </p:childTnLst>
                                </p:cTn>
                              </p:par>
                              <p:par>
                                <p:cTn id="25" presetID="10" presetClass="entr" presetSubtype="0" fill="hold" nodeType="withEffect">
                                  <p:stCondLst>
                                    <p:cond delay="0"/>
                                  </p:stCondLst>
                                  <p:childTnLst>
                                    <p:set>
                                      <p:cBhvr>
                                        <p:cTn id="26" dur="1" fill="hold">
                                          <p:stCondLst>
                                            <p:cond delay="0"/>
                                          </p:stCondLst>
                                        </p:cTn>
                                        <p:tgtEl>
                                          <p:spTgt spid="934"/>
                                        </p:tgtEl>
                                        <p:attrNameLst>
                                          <p:attrName>style.visibility</p:attrName>
                                        </p:attrNameLst>
                                      </p:cBhvr>
                                      <p:to>
                                        <p:strVal val="visible"/>
                                      </p:to>
                                    </p:set>
                                    <p:animEffect transition="in" filter="fade">
                                      <p:cBhvr>
                                        <p:cTn id="27" dur="500"/>
                                        <p:tgtEl>
                                          <p:spTgt spid="934"/>
                                        </p:tgtEl>
                                      </p:cBhvr>
                                    </p:animEffect>
                                  </p:childTnLst>
                                </p:cTn>
                              </p:par>
                              <p:par>
                                <p:cTn id="28" presetID="10" presetClass="entr" presetSubtype="0" fill="hold" nodeType="withEffect">
                                  <p:stCondLst>
                                    <p:cond delay="0"/>
                                  </p:stCondLst>
                                  <p:childTnLst>
                                    <p:set>
                                      <p:cBhvr>
                                        <p:cTn id="29" dur="1" fill="hold">
                                          <p:stCondLst>
                                            <p:cond delay="0"/>
                                          </p:stCondLst>
                                        </p:cTn>
                                        <p:tgtEl>
                                          <p:spTgt spid="933"/>
                                        </p:tgtEl>
                                        <p:attrNameLst>
                                          <p:attrName>style.visibility</p:attrName>
                                        </p:attrNameLst>
                                      </p:cBhvr>
                                      <p:to>
                                        <p:strVal val="visible"/>
                                      </p:to>
                                    </p:set>
                                    <p:animEffect transition="in" filter="fade">
                                      <p:cBhvr>
                                        <p:cTn id="30" dur="500"/>
                                        <p:tgtEl>
                                          <p:spTgt spid="933"/>
                                        </p:tgtEl>
                                      </p:cBhvr>
                                    </p:animEffect>
                                  </p:childTnLst>
                                </p:cTn>
                              </p:par>
                              <p:par>
                                <p:cTn id="31" presetID="10" presetClass="entr" presetSubtype="0" fill="hold" nodeType="withEffect">
                                  <p:stCondLst>
                                    <p:cond delay="0"/>
                                  </p:stCondLst>
                                  <p:childTnLst>
                                    <p:set>
                                      <p:cBhvr>
                                        <p:cTn id="32" dur="1" fill="hold">
                                          <p:stCondLst>
                                            <p:cond delay="0"/>
                                          </p:stCondLst>
                                        </p:cTn>
                                        <p:tgtEl>
                                          <p:spTgt spid="938"/>
                                        </p:tgtEl>
                                        <p:attrNameLst>
                                          <p:attrName>style.visibility</p:attrName>
                                        </p:attrNameLst>
                                      </p:cBhvr>
                                      <p:to>
                                        <p:strVal val="visible"/>
                                      </p:to>
                                    </p:set>
                                    <p:animEffect transition="in" filter="fade">
                                      <p:cBhvr>
                                        <p:cTn id="33" dur="500"/>
                                        <p:tgtEl>
                                          <p:spTgt spid="938"/>
                                        </p:tgtEl>
                                      </p:cBhvr>
                                    </p:animEffect>
                                  </p:childTnLst>
                                </p:cTn>
                              </p:par>
                              <p:par>
                                <p:cTn id="34" presetID="10" presetClass="entr" presetSubtype="0" fill="hold" nodeType="withEffect">
                                  <p:stCondLst>
                                    <p:cond delay="0"/>
                                  </p:stCondLst>
                                  <p:childTnLst>
                                    <p:set>
                                      <p:cBhvr>
                                        <p:cTn id="35" dur="1" fill="hold">
                                          <p:stCondLst>
                                            <p:cond delay="0"/>
                                          </p:stCondLst>
                                        </p:cTn>
                                        <p:tgtEl>
                                          <p:spTgt spid="948"/>
                                        </p:tgtEl>
                                        <p:attrNameLst>
                                          <p:attrName>style.visibility</p:attrName>
                                        </p:attrNameLst>
                                      </p:cBhvr>
                                      <p:to>
                                        <p:strVal val="visible"/>
                                      </p:to>
                                    </p:set>
                                    <p:animEffect transition="in" filter="fade">
                                      <p:cBhvr>
                                        <p:cTn id="36" dur="500"/>
                                        <p:tgtEl>
                                          <p:spTgt spid="94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932"/>
                                        </p:tgtEl>
                                        <p:attrNameLst>
                                          <p:attrName>style.visibility</p:attrName>
                                        </p:attrNameLst>
                                      </p:cBhvr>
                                      <p:to>
                                        <p:strVal val="visible"/>
                                      </p:to>
                                    </p:set>
                                    <p:animEffect transition="in" filter="fade">
                                      <p:cBhvr>
                                        <p:cTn id="41" dur="500"/>
                                        <p:tgtEl>
                                          <p:spTgt spid="932"/>
                                        </p:tgtEl>
                                      </p:cBhvr>
                                    </p:animEffect>
                                  </p:childTnLst>
                                </p:cTn>
                              </p:par>
                              <p:par>
                                <p:cTn id="42" presetID="10" presetClass="entr" presetSubtype="0" fill="hold" nodeType="withEffect">
                                  <p:stCondLst>
                                    <p:cond delay="0"/>
                                  </p:stCondLst>
                                  <p:childTnLst>
                                    <p:set>
                                      <p:cBhvr>
                                        <p:cTn id="43" dur="1" fill="hold">
                                          <p:stCondLst>
                                            <p:cond delay="0"/>
                                          </p:stCondLst>
                                        </p:cTn>
                                        <p:tgtEl>
                                          <p:spTgt spid="946"/>
                                        </p:tgtEl>
                                        <p:attrNameLst>
                                          <p:attrName>style.visibility</p:attrName>
                                        </p:attrNameLst>
                                      </p:cBhvr>
                                      <p:to>
                                        <p:strVal val="visible"/>
                                      </p:to>
                                    </p:set>
                                    <p:animEffect transition="in" filter="fade">
                                      <p:cBhvr>
                                        <p:cTn id="44" dur="500"/>
                                        <p:tgtEl>
                                          <p:spTgt spid="946"/>
                                        </p:tgtEl>
                                      </p:cBhvr>
                                    </p:animEffect>
                                  </p:childTnLst>
                                </p:cTn>
                              </p:par>
                              <p:par>
                                <p:cTn id="45" presetID="10" presetClass="entr" presetSubtype="0" fill="hold" nodeType="withEffect">
                                  <p:stCondLst>
                                    <p:cond delay="0"/>
                                  </p:stCondLst>
                                  <p:childTnLst>
                                    <p:set>
                                      <p:cBhvr>
                                        <p:cTn id="46" dur="1" fill="hold">
                                          <p:stCondLst>
                                            <p:cond delay="0"/>
                                          </p:stCondLst>
                                        </p:cTn>
                                        <p:tgtEl>
                                          <p:spTgt spid="937"/>
                                        </p:tgtEl>
                                        <p:attrNameLst>
                                          <p:attrName>style.visibility</p:attrName>
                                        </p:attrNameLst>
                                      </p:cBhvr>
                                      <p:to>
                                        <p:strVal val="visible"/>
                                      </p:to>
                                    </p:set>
                                    <p:animEffect transition="in" filter="fade">
                                      <p:cBhvr>
                                        <p:cTn id="47" dur="500"/>
                                        <p:tgtEl>
                                          <p:spTgt spid="9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47"/>
                                        </p:tgtEl>
                                        <p:attrNameLst>
                                          <p:attrName>style.visibility</p:attrName>
                                        </p:attrNameLst>
                                      </p:cBhvr>
                                      <p:to>
                                        <p:strVal val="visible"/>
                                      </p:to>
                                    </p:set>
                                    <p:animEffect transition="in" filter="fade">
                                      <p:cBhvr>
                                        <p:cTn id="52" dur="500"/>
                                        <p:tgtEl>
                                          <p:spTgt spid="947"/>
                                        </p:tgtEl>
                                      </p:cBhvr>
                                    </p:animEffect>
                                  </p:childTnLst>
                                </p:cTn>
                              </p:par>
                              <p:par>
                                <p:cTn id="53" presetID="10" presetClass="entr" presetSubtype="0" fill="hold" nodeType="withEffect">
                                  <p:stCondLst>
                                    <p:cond delay="0"/>
                                  </p:stCondLst>
                                  <p:childTnLst>
                                    <p:set>
                                      <p:cBhvr>
                                        <p:cTn id="54" dur="1" fill="hold">
                                          <p:stCondLst>
                                            <p:cond delay="0"/>
                                          </p:stCondLst>
                                        </p:cTn>
                                        <p:tgtEl>
                                          <p:spTgt spid="940"/>
                                        </p:tgtEl>
                                        <p:attrNameLst>
                                          <p:attrName>style.visibility</p:attrName>
                                        </p:attrNameLst>
                                      </p:cBhvr>
                                      <p:to>
                                        <p:strVal val="visible"/>
                                      </p:to>
                                    </p:set>
                                    <p:animEffect transition="in" filter="fade">
                                      <p:cBhvr>
                                        <p:cTn id="55" dur="500"/>
                                        <p:tgtEl>
                                          <p:spTgt spid="940"/>
                                        </p:tgtEl>
                                      </p:cBhvr>
                                    </p:animEffect>
                                  </p:childTnLst>
                                </p:cTn>
                              </p:par>
                              <p:par>
                                <p:cTn id="56" presetID="10" presetClass="entr" presetSubtype="0" fill="hold" nodeType="withEffect">
                                  <p:stCondLst>
                                    <p:cond delay="0"/>
                                  </p:stCondLst>
                                  <p:childTnLst>
                                    <p:set>
                                      <p:cBhvr>
                                        <p:cTn id="57" dur="1" fill="hold">
                                          <p:stCondLst>
                                            <p:cond delay="0"/>
                                          </p:stCondLst>
                                        </p:cTn>
                                        <p:tgtEl>
                                          <p:spTgt spid="950"/>
                                        </p:tgtEl>
                                        <p:attrNameLst>
                                          <p:attrName>style.visibility</p:attrName>
                                        </p:attrNameLst>
                                      </p:cBhvr>
                                      <p:to>
                                        <p:strVal val="visible"/>
                                      </p:to>
                                    </p:set>
                                    <p:animEffect transition="in" filter="fade">
                                      <p:cBhvr>
                                        <p:cTn id="58" dur="500"/>
                                        <p:tgtEl>
                                          <p:spTgt spid="950"/>
                                        </p:tgtEl>
                                      </p:cBhvr>
                                    </p:animEffect>
                                  </p:childTnLst>
                                </p:cTn>
                              </p:par>
                              <p:par>
                                <p:cTn id="59" presetID="10" presetClass="entr" presetSubtype="0" fill="hold" nodeType="withEffect">
                                  <p:stCondLst>
                                    <p:cond delay="0"/>
                                  </p:stCondLst>
                                  <p:childTnLst>
                                    <p:set>
                                      <p:cBhvr>
                                        <p:cTn id="60" dur="1" fill="hold">
                                          <p:stCondLst>
                                            <p:cond delay="0"/>
                                          </p:stCondLst>
                                        </p:cTn>
                                        <p:tgtEl>
                                          <p:spTgt spid="941"/>
                                        </p:tgtEl>
                                        <p:attrNameLst>
                                          <p:attrName>style.visibility</p:attrName>
                                        </p:attrNameLst>
                                      </p:cBhvr>
                                      <p:to>
                                        <p:strVal val="visible"/>
                                      </p:to>
                                    </p:set>
                                    <p:animEffect transition="in" filter="fade">
                                      <p:cBhvr>
                                        <p:cTn id="61" dur="500"/>
                                        <p:tgtEl>
                                          <p:spTgt spid="94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942"/>
                                        </p:tgtEl>
                                        <p:attrNameLst>
                                          <p:attrName>style.visibility</p:attrName>
                                        </p:attrNameLst>
                                      </p:cBhvr>
                                      <p:to>
                                        <p:strVal val="visible"/>
                                      </p:to>
                                    </p:set>
                                    <p:animEffect transition="in" filter="fade">
                                      <p:cBhvr>
                                        <p:cTn id="66" dur="500"/>
                                        <p:tgtEl>
                                          <p:spTgt spid="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15"/>
          <p:cNvSpPr txBox="1">
            <a:spLocks noGrp="1"/>
          </p:cNvSpPr>
          <p:nvPr>
            <p:ph type="title" idx="4294967295"/>
          </p:nvPr>
        </p:nvSpPr>
        <p:spPr>
          <a:xfrm>
            <a:off x="2235201" y="178944"/>
            <a:ext cx="671224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code, intra-granular fission gas behaviour</a:t>
            </a:r>
            <a:endParaRPr sz="2000" b="0" i="0" u="none" strike="noStrike" cap="none">
              <a:solidFill>
                <a:srgbClr val="0157A3"/>
              </a:solidFill>
              <a:latin typeface="Arial"/>
              <a:ea typeface="Arial"/>
              <a:cs typeface="Arial"/>
              <a:sym typeface="Arial"/>
            </a:endParaRPr>
          </a:p>
        </p:txBody>
      </p:sp>
      <p:cxnSp>
        <p:nvCxnSpPr>
          <p:cNvPr id="961" name="Google Shape;961;p15"/>
          <p:cNvCxnSpPr/>
          <p:nvPr/>
        </p:nvCxnSpPr>
        <p:spPr>
          <a:xfrm>
            <a:off x="4594730" y="3109598"/>
            <a:ext cx="590700" cy="0"/>
          </a:xfrm>
          <a:prstGeom prst="straightConnector1">
            <a:avLst/>
          </a:prstGeom>
          <a:noFill/>
          <a:ln w="28575" cap="flat" cmpd="sng">
            <a:solidFill>
              <a:srgbClr val="FF0000"/>
            </a:solidFill>
            <a:prstDash val="solid"/>
            <a:miter lim="8000"/>
            <a:headEnd type="none" w="sm" len="sm"/>
            <a:tailEnd type="triangle" w="med" len="med"/>
          </a:ln>
        </p:spPr>
      </p:cxnSp>
      <p:pic>
        <p:nvPicPr>
          <p:cNvPr id="962" name="Google Shape;962;p15"/>
          <p:cNvPicPr preferRelativeResize="0"/>
          <p:nvPr/>
        </p:nvPicPr>
        <p:blipFill rotWithShape="1">
          <a:blip r:embed="rId3">
            <a:alphaModFix/>
          </a:blip>
          <a:srcRect/>
          <a:stretch/>
        </p:blipFill>
        <p:spPr>
          <a:xfrm>
            <a:off x="6272313" y="3361099"/>
            <a:ext cx="66946" cy="66946"/>
          </a:xfrm>
          <a:prstGeom prst="rect">
            <a:avLst/>
          </a:prstGeom>
          <a:noFill/>
          <a:ln>
            <a:noFill/>
          </a:ln>
        </p:spPr>
      </p:pic>
      <p:pic>
        <p:nvPicPr>
          <p:cNvPr id="963" name="Google Shape;963;p15"/>
          <p:cNvPicPr preferRelativeResize="0"/>
          <p:nvPr/>
        </p:nvPicPr>
        <p:blipFill rotWithShape="1">
          <a:blip r:embed="rId3">
            <a:alphaModFix/>
          </a:blip>
          <a:srcRect/>
          <a:stretch/>
        </p:blipFill>
        <p:spPr>
          <a:xfrm>
            <a:off x="6356140" y="3076132"/>
            <a:ext cx="66946" cy="66946"/>
          </a:xfrm>
          <a:prstGeom prst="rect">
            <a:avLst/>
          </a:prstGeom>
          <a:noFill/>
          <a:ln>
            <a:noFill/>
          </a:ln>
        </p:spPr>
      </p:pic>
      <p:pic>
        <p:nvPicPr>
          <p:cNvPr id="964" name="Google Shape;964;p15"/>
          <p:cNvPicPr preferRelativeResize="0"/>
          <p:nvPr/>
        </p:nvPicPr>
        <p:blipFill rotWithShape="1">
          <a:blip r:embed="rId3">
            <a:alphaModFix/>
          </a:blip>
          <a:srcRect/>
          <a:stretch/>
        </p:blipFill>
        <p:spPr>
          <a:xfrm>
            <a:off x="6223234" y="2668937"/>
            <a:ext cx="66946" cy="66946"/>
          </a:xfrm>
          <a:prstGeom prst="rect">
            <a:avLst/>
          </a:prstGeom>
          <a:noFill/>
          <a:ln>
            <a:noFill/>
          </a:ln>
        </p:spPr>
      </p:pic>
      <p:pic>
        <p:nvPicPr>
          <p:cNvPr id="965" name="Google Shape;965;p15"/>
          <p:cNvPicPr preferRelativeResize="0"/>
          <p:nvPr/>
        </p:nvPicPr>
        <p:blipFill rotWithShape="1">
          <a:blip r:embed="rId3">
            <a:alphaModFix/>
          </a:blip>
          <a:srcRect/>
          <a:stretch/>
        </p:blipFill>
        <p:spPr>
          <a:xfrm>
            <a:off x="5876450" y="2896549"/>
            <a:ext cx="66946" cy="66946"/>
          </a:xfrm>
          <a:prstGeom prst="rect">
            <a:avLst/>
          </a:prstGeom>
          <a:noFill/>
          <a:ln>
            <a:noFill/>
          </a:ln>
        </p:spPr>
      </p:pic>
      <p:pic>
        <p:nvPicPr>
          <p:cNvPr id="966" name="Google Shape;966;p15"/>
          <p:cNvPicPr preferRelativeResize="0"/>
          <p:nvPr/>
        </p:nvPicPr>
        <p:blipFill rotWithShape="1">
          <a:blip r:embed="rId3">
            <a:alphaModFix/>
          </a:blip>
          <a:srcRect/>
          <a:stretch/>
        </p:blipFill>
        <p:spPr>
          <a:xfrm>
            <a:off x="6363806" y="2501970"/>
            <a:ext cx="66946" cy="66946"/>
          </a:xfrm>
          <a:prstGeom prst="rect">
            <a:avLst/>
          </a:prstGeom>
          <a:noFill/>
          <a:ln>
            <a:noFill/>
          </a:ln>
        </p:spPr>
      </p:pic>
      <p:pic>
        <p:nvPicPr>
          <p:cNvPr id="967" name="Google Shape;967;p15"/>
          <p:cNvPicPr preferRelativeResize="0"/>
          <p:nvPr/>
        </p:nvPicPr>
        <p:blipFill rotWithShape="1">
          <a:blip r:embed="rId3">
            <a:alphaModFix/>
          </a:blip>
          <a:srcRect/>
          <a:stretch/>
        </p:blipFill>
        <p:spPr>
          <a:xfrm>
            <a:off x="6819209" y="2905398"/>
            <a:ext cx="66946" cy="66946"/>
          </a:xfrm>
          <a:prstGeom prst="rect">
            <a:avLst/>
          </a:prstGeom>
          <a:noFill/>
          <a:ln>
            <a:noFill/>
          </a:ln>
        </p:spPr>
      </p:pic>
      <p:pic>
        <p:nvPicPr>
          <p:cNvPr id="968" name="Google Shape;968;p15"/>
          <p:cNvPicPr preferRelativeResize="0"/>
          <p:nvPr/>
        </p:nvPicPr>
        <p:blipFill rotWithShape="1">
          <a:blip r:embed="rId3">
            <a:alphaModFix/>
          </a:blip>
          <a:srcRect/>
          <a:stretch/>
        </p:blipFill>
        <p:spPr>
          <a:xfrm>
            <a:off x="6574121" y="3454078"/>
            <a:ext cx="66946" cy="66946"/>
          </a:xfrm>
          <a:prstGeom prst="rect">
            <a:avLst/>
          </a:prstGeom>
          <a:noFill/>
          <a:ln>
            <a:noFill/>
          </a:ln>
        </p:spPr>
      </p:pic>
      <p:cxnSp>
        <p:nvCxnSpPr>
          <p:cNvPr id="969" name="Google Shape;969;p15"/>
          <p:cNvCxnSpPr>
            <a:stCxn id="970" idx="1"/>
          </p:cNvCxnSpPr>
          <p:nvPr/>
        </p:nvCxnSpPr>
        <p:spPr>
          <a:xfrm>
            <a:off x="6743946" y="3530305"/>
            <a:ext cx="360900" cy="319800"/>
          </a:xfrm>
          <a:prstGeom prst="straightConnector1">
            <a:avLst/>
          </a:prstGeom>
          <a:noFill/>
          <a:ln w="9100" cap="flat" cmpd="sng">
            <a:solidFill>
              <a:srgbClr val="000033"/>
            </a:solidFill>
            <a:prstDash val="solid"/>
            <a:miter lim="800000"/>
            <a:headEnd type="none" w="sm" len="sm"/>
            <a:tailEnd type="none" w="sm" len="sm"/>
          </a:ln>
        </p:spPr>
      </p:cxnSp>
      <p:sp>
        <p:nvSpPr>
          <p:cNvPr id="971" name="Google Shape;971;p15"/>
          <p:cNvSpPr/>
          <p:nvPr/>
        </p:nvSpPr>
        <p:spPr>
          <a:xfrm>
            <a:off x="5685456" y="2400239"/>
            <a:ext cx="1343100" cy="13431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972" name="Google Shape;972;p15"/>
          <p:cNvSpPr/>
          <p:nvPr/>
        </p:nvSpPr>
        <p:spPr>
          <a:xfrm>
            <a:off x="5997100" y="2708202"/>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973" name="Google Shape;973;p15"/>
          <p:cNvSpPr/>
          <p:nvPr/>
        </p:nvSpPr>
        <p:spPr>
          <a:xfrm>
            <a:off x="6568052" y="2702412"/>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74" name="Google Shape;974;p15"/>
          <p:cNvSpPr/>
          <p:nvPr/>
        </p:nvSpPr>
        <p:spPr>
          <a:xfrm>
            <a:off x="6144317" y="2840485"/>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75" name="Google Shape;975;p15"/>
          <p:cNvSpPr/>
          <p:nvPr/>
        </p:nvSpPr>
        <p:spPr>
          <a:xfrm>
            <a:off x="6440985" y="3021570"/>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76" name="Google Shape;976;p15"/>
          <p:cNvSpPr/>
          <p:nvPr/>
        </p:nvSpPr>
        <p:spPr>
          <a:xfrm>
            <a:off x="5973785" y="3146388"/>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977" name="Google Shape;977;p15"/>
          <p:cNvSpPr/>
          <p:nvPr/>
        </p:nvSpPr>
        <p:spPr>
          <a:xfrm>
            <a:off x="6373944" y="3454078"/>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cxnSp>
        <p:nvCxnSpPr>
          <p:cNvPr id="978" name="Google Shape;978;p15"/>
          <p:cNvCxnSpPr/>
          <p:nvPr/>
        </p:nvCxnSpPr>
        <p:spPr>
          <a:xfrm rot="10800000" flipH="1">
            <a:off x="6573955" y="2330512"/>
            <a:ext cx="245400" cy="358800"/>
          </a:xfrm>
          <a:prstGeom prst="straightConnector1">
            <a:avLst/>
          </a:prstGeom>
          <a:noFill/>
          <a:ln w="9100" cap="flat" cmpd="sng">
            <a:solidFill>
              <a:srgbClr val="000033"/>
            </a:solidFill>
            <a:prstDash val="solid"/>
            <a:miter lim="800000"/>
            <a:headEnd type="none" w="sm" len="sm"/>
            <a:tailEnd type="triangle" w="med" len="med"/>
          </a:ln>
        </p:spPr>
      </p:cxnSp>
      <p:sp>
        <p:nvSpPr>
          <p:cNvPr id="979" name="Google Shape;979;p15"/>
          <p:cNvSpPr/>
          <p:nvPr/>
        </p:nvSpPr>
        <p:spPr>
          <a:xfrm>
            <a:off x="6327529" y="254092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0" name="Google Shape;980;p15"/>
          <p:cNvSpPr/>
          <p:nvPr/>
        </p:nvSpPr>
        <p:spPr>
          <a:xfrm>
            <a:off x="6208639" y="259406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1" name="Google Shape;981;p15"/>
          <p:cNvSpPr/>
          <p:nvPr/>
        </p:nvSpPr>
        <p:spPr>
          <a:xfrm>
            <a:off x="6348083" y="26874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2" name="Google Shape;982;p15"/>
          <p:cNvSpPr/>
          <p:nvPr/>
        </p:nvSpPr>
        <p:spPr>
          <a:xfrm>
            <a:off x="6188085" y="27215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3" name="Google Shape;983;p15"/>
          <p:cNvSpPr/>
          <p:nvPr/>
        </p:nvSpPr>
        <p:spPr>
          <a:xfrm>
            <a:off x="6353433" y="28270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4" name="Google Shape;984;p15"/>
          <p:cNvSpPr/>
          <p:nvPr/>
        </p:nvSpPr>
        <p:spPr>
          <a:xfrm>
            <a:off x="6375133" y="291297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5" name="Google Shape;985;p15"/>
          <p:cNvSpPr/>
          <p:nvPr/>
        </p:nvSpPr>
        <p:spPr>
          <a:xfrm>
            <a:off x="6482041" y="29244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6" name="Google Shape;986;p15"/>
          <p:cNvSpPr/>
          <p:nvPr/>
        </p:nvSpPr>
        <p:spPr>
          <a:xfrm>
            <a:off x="6514438" y="271273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7" name="Google Shape;987;p15"/>
          <p:cNvSpPr/>
          <p:nvPr/>
        </p:nvSpPr>
        <p:spPr>
          <a:xfrm>
            <a:off x="6167531" y="255590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88" name="Google Shape;988;p15"/>
          <p:cNvSpPr/>
          <p:nvPr/>
        </p:nvSpPr>
        <p:spPr>
          <a:xfrm>
            <a:off x="6007533" y="255590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989" name="Google Shape;989;p15"/>
          <p:cNvSpPr/>
          <p:nvPr/>
        </p:nvSpPr>
        <p:spPr>
          <a:xfrm>
            <a:off x="5948089" y="26318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990" name="Google Shape;990;p15"/>
          <p:cNvSpPr/>
          <p:nvPr/>
        </p:nvSpPr>
        <p:spPr>
          <a:xfrm>
            <a:off x="6147299" y="280653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91" name="Google Shape;991;p15"/>
          <p:cNvSpPr/>
          <p:nvPr/>
        </p:nvSpPr>
        <p:spPr>
          <a:xfrm>
            <a:off x="6030046" y="283913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992" name="Google Shape;992;p15"/>
          <p:cNvSpPr/>
          <p:nvPr/>
        </p:nvSpPr>
        <p:spPr>
          <a:xfrm>
            <a:off x="6045418" y="296925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993" name="Google Shape;993;p15"/>
          <p:cNvSpPr/>
          <p:nvPr/>
        </p:nvSpPr>
        <p:spPr>
          <a:xfrm>
            <a:off x="6229194" y="307932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94" name="Google Shape;994;p15"/>
          <p:cNvSpPr/>
          <p:nvPr/>
        </p:nvSpPr>
        <p:spPr>
          <a:xfrm>
            <a:off x="6151175" y="319356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95" name="Google Shape;995;p15"/>
          <p:cNvSpPr/>
          <p:nvPr/>
        </p:nvSpPr>
        <p:spPr>
          <a:xfrm>
            <a:off x="6306975" y="324952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96" name="Google Shape;996;p15"/>
          <p:cNvSpPr/>
          <p:nvPr/>
        </p:nvSpPr>
        <p:spPr>
          <a:xfrm>
            <a:off x="6917312" y="287467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97" name="Google Shape;997;p15"/>
          <p:cNvSpPr/>
          <p:nvPr/>
        </p:nvSpPr>
        <p:spPr>
          <a:xfrm>
            <a:off x="6798423" y="292782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98" name="Google Shape;998;p15"/>
          <p:cNvSpPr/>
          <p:nvPr/>
        </p:nvSpPr>
        <p:spPr>
          <a:xfrm>
            <a:off x="6937867" y="302121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99" name="Google Shape;999;p15"/>
          <p:cNvSpPr/>
          <p:nvPr/>
        </p:nvSpPr>
        <p:spPr>
          <a:xfrm>
            <a:off x="6777869" y="305527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0" name="Google Shape;1000;p15"/>
          <p:cNvSpPr/>
          <p:nvPr/>
        </p:nvSpPr>
        <p:spPr>
          <a:xfrm>
            <a:off x="6943216" y="316084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1" name="Google Shape;1001;p15"/>
          <p:cNvSpPr/>
          <p:nvPr/>
        </p:nvSpPr>
        <p:spPr>
          <a:xfrm>
            <a:off x="6914319" y="327164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2" name="Google Shape;1002;p15"/>
          <p:cNvSpPr/>
          <p:nvPr/>
        </p:nvSpPr>
        <p:spPr>
          <a:xfrm>
            <a:off x="6757315" y="288966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3" name="Google Shape;1003;p15"/>
          <p:cNvSpPr/>
          <p:nvPr/>
        </p:nvSpPr>
        <p:spPr>
          <a:xfrm>
            <a:off x="6597317" y="288966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4" name="Google Shape;1004;p15"/>
          <p:cNvSpPr/>
          <p:nvPr/>
        </p:nvSpPr>
        <p:spPr>
          <a:xfrm>
            <a:off x="6537872" y="296564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5" name="Google Shape;1005;p15"/>
          <p:cNvSpPr/>
          <p:nvPr/>
        </p:nvSpPr>
        <p:spPr>
          <a:xfrm>
            <a:off x="6840687" y="321502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6" name="Google Shape;1006;p15"/>
          <p:cNvSpPr/>
          <p:nvPr/>
        </p:nvSpPr>
        <p:spPr>
          <a:xfrm>
            <a:off x="6619829" y="31728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7" name="Google Shape;1007;p15"/>
          <p:cNvSpPr/>
          <p:nvPr/>
        </p:nvSpPr>
        <p:spPr>
          <a:xfrm>
            <a:off x="6635201" y="330300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8" name="Google Shape;1008;p15"/>
          <p:cNvSpPr/>
          <p:nvPr/>
        </p:nvSpPr>
        <p:spPr>
          <a:xfrm>
            <a:off x="6818977" y="341307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970" name="Google Shape;970;p15"/>
          <p:cNvSpPr/>
          <p:nvPr/>
        </p:nvSpPr>
        <p:spPr>
          <a:xfrm>
            <a:off x="6740959" y="3527318"/>
            <a:ext cx="20400" cy="20400"/>
          </a:xfrm>
          <a:prstGeom prst="ellipse">
            <a:avLst/>
          </a:prstGeom>
          <a:solidFill>
            <a:srgbClr val="80FF80"/>
          </a:solidFill>
          <a:ln w="4550" cap="flat" cmpd="sng">
            <a:solidFill>
              <a:srgbClr val="000000"/>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09" name="Google Shape;1009;p15"/>
          <p:cNvSpPr/>
          <p:nvPr/>
        </p:nvSpPr>
        <p:spPr>
          <a:xfrm>
            <a:off x="6133846" y="33034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10" name="Google Shape;1010;p15"/>
          <p:cNvSpPr/>
          <p:nvPr/>
        </p:nvSpPr>
        <p:spPr>
          <a:xfrm>
            <a:off x="5884681" y="333324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11" name="Google Shape;1011;p15"/>
          <p:cNvSpPr/>
          <p:nvPr/>
        </p:nvSpPr>
        <p:spPr>
          <a:xfrm>
            <a:off x="6139195" y="344306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12" name="Google Shape;1012;p15"/>
          <p:cNvSpPr/>
          <p:nvPr/>
        </p:nvSpPr>
        <p:spPr>
          <a:xfrm>
            <a:off x="6160895" y="35289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13" name="Google Shape;1013;p15"/>
          <p:cNvSpPr/>
          <p:nvPr/>
        </p:nvSpPr>
        <p:spPr>
          <a:xfrm>
            <a:off x="6267803" y="354038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14" name="Google Shape;1014;p15"/>
          <p:cNvSpPr/>
          <p:nvPr/>
        </p:nvSpPr>
        <p:spPr>
          <a:xfrm>
            <a:off x="6300201" y="33287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15" name="Google Shape;1015;p15"/>
          <p:cNvSpPr/>
          <p:nvPr/>
        </p:nvSpPr>
        <p:spPr>
          <a:xfrm>
            <a:off x="5855222" y="297776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16" name="Google Shape;1016;p15"/>
          <p:cNvSpPr/>
          <p:nvPr/>
        </p:nvSpPr>
        <p:spPr>
          <a:xfrm>
            <a:off x="5855402" y="316912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17" name="Google Shape;1017;p15"/>
          <p:cNvSpPr/>
          <p:nvPr/>
        </p:nvSpPr>
        <p:spPr>
          <a:xfrm>
            <a:off x="5933062" y="342251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18" name="Google Shape;1018;p15"/>
          <p:cNvSpPr/>
          <p:nvPr/>
        </p:nvSpPr>
        <p:spPr>
          <a:xfrm>
            <a:off x="6440985" y="333129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19" name="Google Shape;1019;p15"/>
          <p:cNvSpPr/>
          <p:nvPr/>
        </p:nvSpPr>
        <p:spPr>
          <a:xfrm>
            <a:off x="6430708" y="366737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20" name="Google Shape;1020;p15"/>
          <p:cNvSpPr/>
          <p:nvPr/>
        </p:nvSpPr>
        <p:spPr>
          <a:xfrm>
            <a:off x="6264743" y="363508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21" name="Google Shape;1021;p15"/>
          <p:cNvSpPr/>
          <p:nvPr/>
        </p:nvSpPr>
        <p:spPr>
          <a:xfrm>
            <a:off x="6090107" y="283209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22" name="Google Shape;1022;p15"/>
          <p:cNvSpPr/>
          <p:nvPr/>
        </p:nvSpPr>
        <p:spPr>
          <a:xfrm>
            <a:off x="5971217" y="288523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23" name="Google Shape;1023;p15"/>
          <p:cNvSpPr/>
          <p:nvPr/>
        </p:nvSpPr>
        <p:spPr>
          <a:xfrm>
            <a:off x="6110661" y="297863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24" name="Google Shape;1024;p15"/>
          <p:cNvSpPr/>
          <p:nvPr/>
        </p:nvSpPr>
        <p:spPr>
          <a:xfrm>
            <a:off x="5950663" y="30126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25" name="Google Shape;1025;p15"/>
          <p:cNvSpPr/>
          <p:nvPr/>
        </p:nvSpPr>
        <p:spPr>
          <a:xfrm>
            <a:off x="6116010" y="31182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26" name="Google Shape;1026;p15"/>
          <p:cNvSpPr/>
          <p:nvPr/>
        </p:nvSpPr>
        <p:spPr>
          <a:xfrm>
            <a:off x="6244618" y="321557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27" name="Google Shape;1027;p15"/>
          <p:cNvSpPr/>
          <p:nvPr/>
        </p:nvSpPr>
        <p:spPr>
          <a:xfrm>
            <a:off x="6277016" y="30039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28" name="Google Shape;1028;p15"/>
          <p:cNvSpPr/>
          <p:nvPr/>
        </p:nvSpPr>
        <p:spPr>
          <a:xfrm>
            <a:off x="5930109" y="284707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29" name="Google Shape;1029;p15"/>
          <p:cNvSpPr/>
          <p:nvPr/>
        </p:nvSpPr>
        <p:spPr>
          <a:xfrm>
            <a:off x="5770111" y="284707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30" name="Google Shape;1030;p15"/>
          <p:cNvSpPr/>
          <p:nvPr/>
        </p:nvSpPr>
        <p:spPr>
          <a:xfrm>
            <a:off x="5748881" y="29273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31" name="Google Shape;1031;p15"/>
          <p:cNvSpPr/>
          <p:nvPr/>
        </p:nvSpPr>
        <p:spPr>
          <a:xfrm>
            <a:off x="5909877" y="309770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32" name="Google Shape;1032;p15"/>
          <p:cNvSpPr/>
          <p:nvPr/>
        </p:nvSpPr>
        <p:spPr>
          <a:xfrm>
            <a:off x="5807996" y="326042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33" name="Google Shape;1033;p15"/>
          <p:cNvSpPr/>
          <p:nvPr/>
        </p:nvSpPr>
        <p:spPr>
          <a:xfrm>
            <a:off x="5991771" y="337049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34" name="Google Shape;1034;p15"/>
          <p:cNvSpPr/>
          <p:nvPr/>
        </p:nvSpPr>
        <p:spPr>
          <a:xfrm>
            <a:off x="6069553" y="354069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35" name="Google Shape;1035;p15"/>
          <p:cNvSpPr/>
          <p:nvPr/>
        </p:nvSpPr>
        <p:spPr>
          <a:xfrm>
            <a:off x="6620744" y="248428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36" name="Google Shape;1036;p15"/>
          <p:cNvSpPr/>
          <p:nvPr/>
        </p:nvSpPr>
        <p:spPr>
          <a:xfrm>
            <a:off x="6760188" y="257767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37" name="Google Shape;1037;p15"/>
          <p:cNvSpPr/>
          <p:nvPr/>
        </p:nvSpPr>
        <p:spPr>
          <a:xfrm>
            <a:off x="6765538" y="271730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38" name="Google Shape;1038;p15"/>
          <p:cNvSpPr/>
          <p:nvPr/>
        </p:nvSpPr>
        <p:spPr>
          <a:xfrm>
            <a:off x="6787238" y="28031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39" name="Google Shape;1039;p15"/>
          <p:cNvSpPr/>
          <p:nvPr/>
        </p:nvSpPr>
        <p:spPr>
          <a:xfrm>
            <a:off x="6894146" y="281462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40" name="Google Shape;1040;p15"/>
          <p:cNvSpPr/>
          <p:nvPr/>
        </p:nvSpPr>
        <p:spPr>
          <a:xfrm>
            <a:off x="6485359" y="258334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41" name="Google Shape;1041;p15"/>
          <p:cNvSpPr/>
          <p:nvPr/>
        </p:nvSpPr>
        <p:spPr>
          <a:xfrm>
            <a:off x="6442151" y="272934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42" name="Google Shape;1042;p15"/>
          <p:cNvSpPr/>
          <p:nvPr/>
        </p:nvSpPr>
        <p:spPr>
          <a:xfrm>
            <a:off x="6457523" y="285947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43" name="Google Shape;1043;p15"/>
          <p:cNvSpPr/>
          <p:nvPr/>
        </p:nvSpPr>
        <p:spPr>
          <a:xfrm>
            <a:off x="6641299" y="296953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44" name="Google Shape;1044;p15"/>
          <p:cNvSpPr/>
          <p:nvPr/>
        </p:nvSpPr>
        <p:spPr>
          <a:xfrm>
            <a:off x="6719080" y="313973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45" name="Google Shape;1045;p15"/>
          <p:cNvSpPr/>
          <p:nvPr/>
        </p:nvSpPr>
        <p:spPr>
          <a:xfrm>
            <a:off x="6223235" y="2456070"/>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046" name="Google Shape;1046;p15"/>
          <p:cNvSpPr/>
          <p:nvPr/>
        </p:nvSpPr>
        <p:spPr>
          <a:xfrm rot="2620925">
            <a:off x="5769999" y="3510979"/>
            <a:ext cx="276693" cy="85086"/>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047" name="Google Shape;1047;p15"/>
          <p:cNvSpPr/>
          <p:nvPr/>
        </p:nvSpPr>
        <p:spPr>
          <a:xfrm rot="4237320">
            <a:off x="5593607" y="3233778"/>
            <a:ext cx="276674" cy="84919"/>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cxnSp>
        <p:nvCxnSpPr>
          <p:cNvPr id="1048" name="Google Shape;1048;p15"/>
          <p:cNvCxnSpPr/>
          <p:nvPr/>
        </p:nvCxnSpPr>
        <p:spPr>
          <a:xfrm>
            <a:off x="6743968" y="2460157"/>
            <a:ext cx="338700" cy="192900"/>
          </a:xfrm>
          <a:prstGeom prst="straightConnector1">
            <a:avLst/>
          </a:prstGeom>
          <a:noFill/>
          <a:ln w="9100" cap="flat" cmpd="sng">
            <a:solidFill>
              <a:srgbClr val="000033"/>
            </a:solidFill>
            <a:prstDash val="solid"/>
            <a:miter lim="800000"/>
            <a:headEnd type="none" w="sm" len="sm"/>
            <a:tailEnd type="none" w="sm" len="sm"/>
          </a:ln>
        </p:spPr>
      </p:cxnSp>
      <p:cxnSp>
        <p:nvCxnSpPr>
          <p:cNvPr id="1049" name="Google Shape;1049;p15"/>
          <p:cNvCxnSpPr/>
          <p:nvPr/>
        </p:nvCxnSpPr>
        <p:spPr>
          <a:xfrm rot="10800000" flipH="1">
            <a:off x="6725887" y="2893027"/>
            <a:ext cx="455400" cy="309600"/>
          </a:xfrm>
          <a:prstGeom prst="straightConnector1">
            <a:avLst/>
          </a:prstGeom>
          <a:noFill/>
          <a:ln w="9100" cap="flat" cmpd="sng">
            <a:solidFill>
              <a:srgbClr val="000033"/>
            </a:solidFill>
            <a:prstDash val="solid"/>
            <a:miter lim="800000"/>
            <a:headEnd type="none" w="sm" len="sm"/>
            <a:tailEnd type="none" w="sm" len="sm"/>
          </a:ln>
        </p:spPr>
      </p:cxnSp>
      <p:cxnSp>
        <p:nvCxnSpPr>
          <p:cNvPr id="1050" name="Google Shape;1050;p15"/>
          <p:cNvCxnSpPr/>
          <p:nvPr/>
        </p:nvCxnSpPr>
        <p:spPr>
          <a:xfrm rot="10800000" flipH="1">
            <a:off x="6609643" y="3139487"/>
            <a:ext cx="581100" cy="273300"/>
          </a:xfrm>
          <a:prstGeom prst="straightConnector1">
            <a:avLst/>
          </a:prstGeom>
          <a:noFill/>
          <a:ln w="9100" cap="flat" cmpd="sng">
            <a:solidFill>
              <a:srgbClr val="000033"/>
            </a:solidFill>
            <a:prstDash val="solid"/>
            <a:miter lim="800000"/>
            <a:headEnd type="none" w="sm" len="sm"/>
            <a:tailEnd type="none" w="sm" len="sm"/>
          </a:ln>
        </p:spPr>
      </p:cxnSp>
      <p:cxnSp>
        <p:nvCxnSpPr>
          <p:cNvPr id="1051" name="Google Shape;1051;p15"/>
          <p:cNvCxnSpPr/>
          <p:nvPr/>
        </p:nvCxnSpPr>
        <p:spPr>
          <a:xfrm>
            <a:off x="6440985" y="3543775"/>
            <a:ext cx="449400" cy="555300"/>
          </a:xfrm>
          <a:prstGeom prst="straightConnector1">
            <a:avLst/>
          </a:prstGeom>
          <a:noFill/>
          <a:ln w="9100" cap="flat" cmpd="sng">
            <a:solidFill>
              <a:srgbClr val="000033"/>
            </a:solidFill>
            <a:prstDash val="solid"/>
            <a:miter lim="800000"/>
            <a:headEnd type="none" w="sm" len="sm"/>
            <a:tailEnd type="none" w="sm" len="sm"/>
          </a:ln>
        </p:spPr>
      </p:cxnSp>
      <p:sp>
        <p:nvSpPr>
          <p:cNvPr id="1052" name="Google Shape;1052;p15"/>
          <p:cNvSpPr txBox="1"/>
          <p:nvPr/>
        </p:nvSpPr>
        <p:spPr>
          <a:xfrm>
            <a:off x="7086044" y="2502735"/>
            <a:ext cx="841500" cy="161700"/>
          </a:xfrm>
          <a:prstGeom prst="rect">
            <a:avLst/>
          </a:prstGeom>
          <a:blipFill rotWithShape="1">
            <a:blip r:embed="rId4">
              <a:alphaModFix/>
            </a:blip>
            <a:stretch>
              <a:fillRect l="-172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sp>
        <p:nvSpPr>
          <p:cNvPr id="1053" name="Google Shape;1053;p15"/>
          <p:cNvSpPr txBox="1"/>
          <p:nvPr/>
        </p:nvSpPr>
        <p:spPr>
          <a:xfrm>
            <a:off x="7155676" y="2745629"/>
            <a:ext cx="841500" cy="161700"/>
          </a:xfrm>
          <a:prstGeom prst="rect">
            <a:avLst/>
          </a:prstGeom>
          <a:blipFill rotWithShape="1">
            <a:blip r:embed="rId5">
              <a:alphaModFix/>
            </a:blip>
            <a:stretch>
              <a:fillRect l="-207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sp>
        <p:nvSpPr>
          <p:cNvPr id="1054" name="Google Shape;1054;p15"/>
          <p:cNvSpPr txBox="1"/>
          <p:nvPr/>
        </p:nvSpPr>
        <p:spPr>
          <a:xfrm>
            <a:off x="7196755" y="2993123"/>
            <a:ext cx="841500" cy="161700"/>
          </a:xfrm>
          <a:prstGeom prst="rect">
            <a:avLst/>
          </a:prstGeom>
          <a:blipFill rotWithShape="1">
            <a:blip r:embed="rId6">
              <a:alphaModFix/>
            </a:blip>
            <a:stretch>
              <a:fillRect l="-172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sp>
        <p:nvSpPr>
          <p:cNvPr id="1055" name="Google Shape;1055;p15"/>
          <p:cNvSpPr txBox="1"/>
          <p:nvPr/>
        </p:nvSpPr>
        <p:spPr>
          <a:xfrm>
            <a:off x="7104801" y="3696583"/>
            <a:ext cx="841500" cy="161700"/>
          </a:xfrm>
          <a:prstGeom prst="rect">
            <a:avLst/>
          </a:prstGeom>
          <a:blipFill rotWithShape="1">
            <a:blip r:embed="rId7">
              <a:alphaModFix/>
            </a:blip>
            <a:stretch>
              <a:fillRect l="-171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sp>
        <p:nvSpPr>
          <p:cNvPr id="1056" name="Google Shape;1056;p15"/>
          <p:cNvSpPr txBox="1"/>
          <p:nvPr/>
        </p:nvSpPr>
        <p:spPr>
          <a:xfrm>
            <a:off x="6890407" y="3950035"/>
            <a:ext cx="1147800" cy="161700"/>
          </a:xfrm>
          <a:prstGeom prst="rect">
            <a:avLst/>
          </a:prstGeom>
          <a:blipFill rotWithShape="1">
            <a:blip r:embed="rId8">
              <a:alphaModFix/>
            </a:blip>
            <a:stretch>
              <a:fillRect l="-151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cxnSp>
        <p:nvCxnSpPr>
          <p:cNvPr id="1057" name="Google Shape;1057;p15"/>
          <p:cNvCxnSpPr/>
          <p:nvPr/>
        </p:nvCxnSpPr>
        <p:spPr>
          <a:xfrm>
            <a:off x="7082776" y="2653070"/>
            <a:ext cx="675000" cy="0"/>
          </a:xfrm>
          <a:prstGeom prst="straightConnector1">
            <a:avLst/>
          </a:prstGeom>
          <a:noFill/>
          <a:ln w="9100" cap="flat" cmpd="sng">
            <a:solidFill>
              <a:srgbClr val="000033"/>
            </a:solidFill>
            <a:prstDash val="solid"/>
            <a:miter lim="800000"/>
            <a:headEnd type="none" w="sm" len="sm"/>
            <a:tailEnd type="none" w="sm" len="sm"/>
          </a:ln>
        </p:spPr>
      </p:cxnSp>
      <p:cxnSp>
        <p:nvCxnSpPr>
          <p:cNvPr id="1058" name="Google Shape;1058;p15"/>
          <p:cNvCxnSpPr/>
          <p:nvPr/>
        </p:nvCxnSpPr>
        <p:spPr>
          <a:xfrm>
            <a:off x="7181153" y="2893095"/>
            <a:ext cx="527700" cy="0"/>
          </a:xfrm>
          <a:prstGeom prst="straightConnector1">
            <a:avLst/>
          </a:prstGeom>
          <a:noFill/>
          <a:ln w="9100" cap="flat" cmpd="sng">
            <a:solidFill>
              <a:srgbClr val="000033"/>
            </a:solidFill>
            <a:prstDash val="solid"/>
            <a:miter lim="800000"/>
            <a:headEnd type="none" w="sm" len="sm"/>
            <a:tailEnd type="none" w="sm" len="sm"/>
          </a:ln>
        </p:spPr>
      </p:cxnSp>
      <p:cxnSp>
        <p:nvCxnSpPr>
          <p:cNvPr id="1059" name="Google Shape;1059;p15"/>
          <p:cNvCxnSpPr/>
          <p:nvPr/>
        </p:nvCxnSpPr>
        <p:spPr>
          <a:xfrm>
            <a:off x="7185933" y="3141186"/>
            <a:ext cx="656700" cy="0"/>
          </a:xfrm>
          <a:prstGeom prst="straightConnector1">
            <a:avLst/>
          </a:prstGeom>
          <a:noFill/>
          <a:ln w="9100" cap="flat" cmpd="sng">
            <a:solidFill>
              <a:srgbClr val="000033"/>
            </a:solidFill>
            <a:prstDash val="solid"/>
            <a:miter lim="800000"/>
            <a:headEnd type="none" w="sm" len="sm"/>
            <a:tailEnd type="none" w="sm" len="sm"/>
          </a:ln>
        </p:spPr>
      </p:cxnSp>
      <p:cxnSp>
        <p:nvCxnSpPr>
          <p:cNvPr id="1060" name="Google Shape;1060;p15"/>
          <p:cNvCxnSpPr/>
          <p:nvPr/>
        </p:nvCxnSpPr>
        <p:spPr>
          <a:xfrm>
            <a:off x="7104801" y="3850259"/>
            <a:ext cx="653100" cy="0"/>
          </a:xfrm>
          <a:prstGeom prst="straightConnector1">
            <a:avLst/>
          </a:prstGeom>
          <a:noFill/>
          <a:ln w="9100" cap="flat" cmpd="sng">
            <a:solidFill>
              <a:srgbClr val="000033"/>
            </a:solidFill>
            <a:prstDash val="solid"/>
            <a:miter lim="800000"/>
            <a:headEnd type="none" w="sm" len="sm"/>
            <a:tailEnd type="none" w="sm" len="sm"/>
          </a:ln>
        </p:spPr>
      </p:cxnSp>
      <p:cxnSp>
        <p:nvCxnSpPr>
          <p:cNvPr id="1061" name="Google Shape;1061;p15"/>
          <p:cNvCxnSpPr/>
          <p:nvPr/>
        </p:nvCxnSpPr>
        <p:spPr>
          <a:xfrm>
            <a:off x="6890406" y="4099187"/>
            <a:ext cx="990000" cy="0"/>
          </a:xfrm>
          <a:prstGeom prst="straightConnector1">
            <a:avLst/>
          </a:prstGeom>
          <a:noFill/>
          <a:ln w="9100" cap="flat" cmpd="sng">
            <a:solidFill>
              <a:srgbClr val="000033"/>
            </a:solidFill>
            <a:prstDash val="solid"/>
            <a:miter lim="800000"/>
            <a:headEnd type="none" w="sm" len="sm"/>
            <a:tailEnd type="none" w="sm" len="sm"/>
          </a:ln>
        </p:spPr>
      </p:cxnSp>
      <p:cxnSp>
        <p:nvCxnSpPr>
          <p:cNvPr id="1062" name="Google Shape;1062;p15"/>
          <p:cNvCxnSpPr/>
          <p:nvPr/>
        </p:nvCxnSpPr>
        <p:spPr>
          <a:xfrm>
            <a:off x="5935311" y="3589625"/>
            <a:ext cx="533400" cy="753000"/>
          </a:xfrm>
          <a:prstGeom prst="straightConnector1">
            <a:avLst/>
          </a:prstGeom>
          <a:noFill/>
          <a:ln w="9100" cap="flat" cmpd="sng">
            <a:solidFill>
              <a:srgbClr val="000033"/>
            </a:solidFill>
            <a:prstDash val="solid"/>
            <a:miter lim="800000"/>
            <a:headEnd type="none" w="sm" len="sm"/>
            <a:tailEnd type="none" w="sm" len="sm"/>
          </a:ln>
        </p:spPr>
      </p:cxnSp>
      <p:sp>
        <p:nvSpPr>
          <p:cNvPr id="1063" name="Google Shape;1063;p15"/>
          <p:cNvSpPr txBox="1"/>
          <p:nvPr/>
        </p:nvSpPr>
        <p:spPr>
          <a:xfrm>
            <a:off x="6492566" y="4184267"/>
            <a:ext cx="1242600" cy="161700"/>
          </a:xfrm>
          <a:prstGeom prst="rect">
            <a:avLst/>
          </a:prstGeom>
          <a:noFill/>
          <a:ln>
            <a:noFill/>
          </a:ln>
        </p:spPr>
        <p:txBody>
          <a:bodyPr spcFirstLastPara="1" wrap="square" lIns="43650" tIns="21825" rIns="43650" bIns="21825" anchor="t" anchorCtr="0">
            <a:spAutoFit/>
          </a:bodyPr>
          <a:lstStyle/>
          <a:p>
            <a:pPr marL="0" marR="0" lvl="0" indent="0" algn="l" rtl="0">
              <a:spcBef>
                <a:spcPts val="0"/>
              </a:spcBef>
              <a:spcAft>
                <a:spcPts val="0"/>
              </a:spcAft>
              <a:buNone/>
            </a:pPr>
            <a:r>
              <a:rPr lang="en-GB" sz="764" i="1">
                <a:solidFill>
                  <a:srgbClr val="000000"/>
                </a:solidFill>
                <a:latin typeface="Play"/>
                <a:ea typeface="Play"/>
                <a:cs typeface="Play"/>
                <a:sym typeface="Play"/>
              </a:rPr>
              <a:t>Intergranular bubbles</a:t>
            </a:r>
            <a:endParaRPr sz="764" i="1">
              <a:solidFill>
                <a:srgbClr val="000000"/>
              </a:solidFill>
              <a:latin typeface="Play"/>
              <a:ea typeface="Play"/>
              <a:cs typeface="Play"/>
              <a:sym typeface="Play"/>
            </a:endParaRPr>
          </a:p>
        </p:txBody>
      </p:sp>
      <p:cxnSp>
        <p:nvCxnSpPr>
          <p:cNvPr id="1064" name="Google Shape;1064;p15"/>
          <p:cNvCxnSpPr/>
          <p:nvPr/>
        </p:nvCxnSpPr>
        <p:spPr>
          <a:xfrm>
            <a:off x="6469958" y="4347279"/>
            <a:ext cx="990000" cy="0"/>
          </a:xfrm>
          <a:prstGeom prst="straightConnector1">
            <a:avLst/>
          </a:prstGeom>
          <a:noFill/>
          <a:ln w="9100" cap="flat" cmpd="sng">
            <a:solidFill>
              <a:srgbClr val="000033"/>
            </a:solidFill>
            <a:prstDash val="solid"/>
            <a:miter lim="800000"/>
            <a:headEnd type="none" w="sm" len="sm"/>
            <a:tailEnd type="none" w="sm" len="sm"/>
          </a:ln>
        </p:spPr>
      </p:cxnSp>
      <p:cxnSp>
        <p:nvCxnSpPr>
          <p:cNvPr id="1065" name="Google Shape;1065;p15"/>
          <p:cNvCxnSpPr/>
          <p:nvPr/>
        </p:nvCxnSpPr>
        <p:spPr>
          <a:xfrm>
            <a:off x="6948356" y="3393004"/>
            <a:ext cx="255600" cy="146400"/>
          </a:xfrm>
          <a:prstGeom prst="straightConnector1">
            <a:avLst/>
          </a:prstGeom>
          <a:noFill/>
          <a:ln w="9100" cap="flat" cmpd="sng">
            <a:solidFill>
              <a:srgbClr val="000033"/>
            </a:solidFill>
            <a:prstDash val="solid"/>
            <a:miter lim="800000"/>
            <a:headEnd type="none" w="sm" len="sm"/>
            <a:tailEnd type="none" w="sm" len="sm"/>
          </a:ln>
        </p:spPr>
      </p:cxnSp>
      <p:cxnSp>
        <p:nvCxnSpPr>
          <p:cNvPr id="1066" name="Google Shape;1066;p15"/>
          <p:cNvCxnSpPr/>
          <p:nvPr/>
        </p:nvCxnSpPr>
        <p:spPr>
          <a:xfrm>
            <a:off x="7206944" y="3538416"/>
            <a:ext cx="675000" cy="0"/>
          </a:xfrm>
          <a:prstGeom prst="straightConnector1">
            <a:avLst/>
          </a:prstGeom>
          <a:noFill/>
          <a:ln w="9100" cap="flat" cmpd="sng">
            <a:solidFill>
              <a:srgbClr val="000033"/>
            </a:solidFill>
            <a:prstDash val="solid"/>
            <a:miter lim="800000"/>
            <a:headEnd type="none" w="sm" len="sm"/>
            <a:tailEnd type="none" w="sm" len="sm"/>
          </a:ln>
        </p:spPr>
      </p:cxnSp>
      <p:sp>
        <p:nvSpPr>
          <p:cNvPr id="1067" name="Google Shape;1067;p15"/>
          <p:cNvSpPr txBox="1"/>
          <p:nvPr/>
        </p:nvSpPr>
        <p:spPr>
          <a:xfrm>
            <a:off x="7214112" y="3375082"/>
            <a:ext cx="951000" cy="161700"/>
          </a:xfrm>
          <a:prstGeom prst="rect">
            <a:avLst/>
          </a:prstGeom>
          <a:noFill/>
          <a:ln>
            <a:noFill/>
          </a:ln>
        </p:spPr>
        <p:txBody>
          <a:bodyPr spcFirstLastPara="1" wrap="square" lIns="43650" tIns="21825" rIns="43650" bIns="21825" anchor="t" anchorCtr="0">
            <a:spAutoFit/>
          </a:bodyPr>
          <a:lstStyle/>
          <a:p>
            <a:pPr marL="0" marR="0" lvl="0" indent="0" algn="l" rtl="0">
              <a:spcBef>
                <a:spcPts val="0"/>
              </a:spcBef>
              <a:spcAft>
                <a:spcPts val="0"/>
              </a:spcAft>
              <a:buNone/>
            </a:pPr>
            <a:r>
              <a:rPr lang="en-GB" sz="764" i="1">
                <a:solidFill>
                  <a:srgbClr val="000000"/>
                </a:solidFill>
                <a:latin typeface="Play"/>
                <a:ea typeface="Play"/>
                <a:cs typeface="Play"/>
                <a:sym typeface="Play"/>
              </a:rPr>
              <a:t>Grain boundary</a:t>
            </a:r>
            <a:endParaRPr sz="764" i="1">
              <a:solidFill>
                <a:srgbClr val="000000"/>
              </a:solidFill>
              <a:latin typeface="Play"/>
              <a:ea typeface="Play"/>
              <a:cs typeface="Play"/>
              <a:sym typeface="Play"/>
            </a:endParaRPr>
          </a:p>
        </p:txBody>
      </p:sp>
      <p:cxnSp>
        <p:nvCxnSpPr>
          <p:cNvPr id="1068" name="Google Shape;1068;p15"/>
          <p:cNvCxnSpPr/>
          <p:nvPr/>
        </p:nvCxnSpPr>
        <p:spPr>
          <a:xfrm flipH="1">
            <a:off x="6391468" y="2223641"/>
            <a:ext cx="352500" cy="406800"/>
          </a:xfrm>
          <a:prstGeom prst="straightConnector1">
            <a:avLst/>
          </a:prstGeom>
          <a:noFill/>
          <a:ln w="9100" cap="flat" cmpd="sng">
            <a:solidFill>
              <a:srgbClr val="000033"/>
            </a:solidFill>
            <a:prstDash val="solid"/>
            <a:miter lim="800000"/>
            <a:headEnd type="none" w="sm" len="sm"/>
            <a:tailEnd type="none" w="sm" len="sm"/>
          </a:ln>
        </p:spPr>
      </p:cxnSp>
      <p:sp>
        <p:nvSpPr>
          <p:cNvPr id="1069" name="Google Shape;1069;p15"/>
          <p:cNvSpPr txBox="1"/>
          <p:nvPr/>
        </p:nvSpPr>
        <p:spPr>
          <a:xfrm>
            <a:off x="6728284" y="2065472"/>
            <a:ext cx="1077600" cy="161700"/>
          </a:xfrm>
          <a:prstGeom prst="rect">
            <a:avLst/>
          </a:prstGeom>
          <a:blipFill rotWithShape="1">
            <a:blip r:embed="rId9">
              <a:alphaModFix/>
            </a:blip>
            <a:stretch>
              <a:fillRect l="-134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cxnSp>
        <p:nvCxnSpPr>
          <p:cNvPr id="1070" name="Google Shape;1070;p15"/>
          <p:cNvCxnSpPr/>
          <p:nvPr/>
        </p:nvCxnSpPr>
        <p:spPr>
          <a:xfrm>
            <a:off x="6743968" y="2224093"/>
            <a:ext cx="1061700" cy="0"/>
          </a:xfrm>
          <a:prstGeom prst="straightConnector1">
            <a:avLst/>
          </a:prstGeom>
          <a:noFill/>
          <a:ln w="9100" cap="flat" cmpd="sng">
            <a:solidFill>
              <a:srgbClr val="000033"/>
            </a:solidFill>
            <a:prstDash val="solid"/>
            <a:miter lim="800000"/>
            <a:headEnd type="none" w="sm" len="sm"/>
            <a:tailEnd type="none" w="sm" len="sm"/>
          </a:ln>
        </p:spPr>
      </p:cxnSp>
      <p:pic>
        <p:nvPicPr>
          <p:cNvPr id="1071" name="Google Shape;1071;p15"/>
          <p:cNvPicPr preferRelativeResize="0"/>
          <p:nvPr/>
        </p:nvPicPr>
        <p:blipFill rotWithShape="1">
          <a:blip r:embed="rId3">
            <a:alphaModFix/>
          </a:blip>
          <a:srcRect/>
          <a:stretch/>
        </p:blipFill>
        <p:spPr>
          <a:xfrm>
            <a:off x="6469121" y="3353801"/>
            <a:ext cx="66946" cy="66946"/>
          </a:xfrm>
          <a:prstGeom prst="rect">
            <a:avLst/>
          </a:prstGeom>
          <a:noFill/>
          <a:ln>
            <a:noFill/>
          </a:ln>
        </p:spPr>
      </p:pic>
      <p:cxnSp>
        <p:nvCxnSpPr>
          <p:cNvPr id="1072" name="Google Shape;1072;p15"/>
          <p:cNvCxnSpPr>
            <a:endCxn id="975" idx="4"/>
          </p:cNvCxnSpPr>
          <p:nvPr/>
        </p:nvCxnSpPr>
        <p:spPr>
          <a:xfrm rot="10800000">
            <a:off x="6519885" y="3179370"/>
            <a:ext cx="111900" cy="250200"/>
          </a:xfrm>
          <a:prstGeom prst="straightConnector1">
            <a:avLst/>
          </a:prstGeom>
          <a:noFill/>
          <a:ln w="9100" cap="flat" cmpd="sng">
            <a:solidFill>
              <a:srgbClr val="000033"/>
            </a:solidFill>
            <a:prstDash val="solid"/>
            <a:miter lim="800000"/>
            <a:headEnd type="none" w="sm" len="sm"/>
            <a:tailEnd type="triangle" w="med" len="med"/>
          </a:ln>
        </p:spPr>
      </p:cxnSp>
      <p:cxnSp>
        <p:nvCxnSpPr>
          <p:cNvPr id="1073" name="Google Shape;1073;p15"/>
          <p:cNvCxnSpPr>
            <a:stCxn id="975" idx="5"/>
          </p:cNvCxnSpPr>
          <p:nvPr/>
        </p:nvCxnSpPr>
        <p:spPr>
          <a:xfrm>
            <a:off x="6575675" y="3156261"/>
            <a:ext cx="226500" cy="85500"/>
          </a:xfrm>
          <a:prstGeom prst="straightConnector1">
            <a:avLst/>
          </a:prstGeom>
          <a:noFill/>
          <a:ln w="9100" cap="flat" cmpd="sng">
            <a:solidFill>
              <a:srgbClr val="000033"/>
            </a:solidFill>
            <a:prstDash val="solid"/>
            <a:miter lim="800000"/>
            <a:headEnd type="none" w="sm" len="sm"/>
            <a:tailEnd type="triangle" w="med" len="med"/>
          </a:ln>
        </p:spPr>
      </p:cxnSp>
      <p:sp>
        <p:nvSpPr>
          <p:cNvPr id="1074" name="Google Shape;1074;p15"/>
          <p:cNvSpPr/>
          <p:nvPr/>
        </p:nvSpPr>
        <p:spPr>
          <a:xfrm rot="5400000">
            <a:off x="1570055" y="2479758"/>
            <a:ext cx="1081829" cy="1215308"/>
          </a:xfrm>
          <a:prstGeom prst="flowChartOnlineStorage">
            <a:avLst/>
          </a:prstGeom>
          <a:solidFill>
            <a:srgbClr val="747474"/>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1075" name="Google Shape;1075;p15"/>
          <p:cNvSpPr/>
          <p:nvPr/>
        </p:nvSpPr>
        <p:spPr>
          <a:xfrm rot="5400000">
            <a:off x="1586335" y="2572011"/>
            <a:ext cx="1049166" cy="1063461"/>
          </a:xfrm>
          <a:prstGeom prst="flowChartOnlineStorage">
            <a:avLst/>
          </a:prstGeom>
          <a:solidFill>
            <a:srgbClr val="BFBFBF"/>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1076" name="Google Shape;1076;p15"/>
          <p:cNvSpPr/>
          <p:nvPr/>
        </p:nvSpPr>
        <p:spPr>
          <a:xfrm>
            <a:off x="1655057" y="2613597"/>
            <a:ext cx="912000" cy="1080000"/>
          </a:xfrm>
          <a:prstGeom prst="can">
            <a:avLst>
              <a:gd name="adj" fmla="val 31808"/>
            </a:avLst>
          </a:prstGeom>
          <a:solidFill>
            <a:srgbClr val="3A3A3A"/>
          </a:solidFill>
          <a:ln w="8825" cap="flat" cmpd="sng">
            <a:solidFill>
              <a:srgbClr val="191919"/>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1077" name="Google Shape;1077;p15"/>
          <p:cNvGrpSpPr/>
          <p:nvPr/>
        </p:nvGrpSpPr>
        <p:grpSpPr>
          <a:xfrm>
            <a:off x="1987897" y="2184150"/>
            <a:ext cx="394891" cy="518823"/>
            <a:chOff x="3796641" y="775621"/>
            <a:chExt cx="792000" cy="1119600"/>
          </a:xfrm>
        </p:grpSpPr>
        <p:cxnSp>
          <p:nvCxnSpPr>
            <p:cNvPr id="1078" name="Google Shape;1078;p15"/>
            <p:cNvCxnSpPr>
              <a:stCxn id="1079" idx="2"/>
            </p:cNvCxnSpPr>
            <p:nvPr/>
          </p:nvCxnSpPr>
          <p:spPr>
            <a:xfrm flipH="1">
              <a:off x="4032441" y="1063621"/>
              <a:ext cx="160200" cy="831600"/>
            </a:xfrm>
            <a:prstGeom prst="straightConnector1">
              <a:avLst/>
            </a:prstGeom>
            <a:noFill/>
            <a:ln w="5900" cap="flat" cmpd="sng">
              <a:solidFill>
                <a:srgbClr val="262626"/>
              </a:solidFill>
              <a:prstDash val="solid"/>
              <a:miter lim="800000"/>
              <a:headEnd type="none" w="sm" len="sm"/>
              <a:tailEnd type="none" w="sm" len="sm"/>
            </a:ln>
          </p:spPr>
        </p:cxnSp>
        <p:sp>
          <p:nvSpPr>
            <p:cNvPr id="1079" name="Google Shape;1079;p15"/>
            <p:cNvSpPr/>
            <p:nvPr/>
          </p:nvSpPr>
          <p:spPr>
            <a:xfrm>
              <a:off x="3796641" y="77562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Pellet</a:t>
              </a:r>
              <a:endParaRPr sz="555">
                <a:solidFill>
                  <a:srgbClr val="262626"/>
                </a:solidFill>
                <a:latin typeface="Arial"/>
                <a:ea typeface="Arial"/>
                <a:cs typeface="Arial"/>
                <a:sym typeface="Arial"/>
              </a:endParaRPr>
            </a:p>
          </p:txBody>
        </p:sp>
      </p:grpSp>
      <p:cxnSp>
        <p:nvCxnSpPr>
          <p:cNvPr id="1080" name="Google Shape;1080;p15"/>
          <p:cNvCxnSpPr/>
          <p:nvPr/>
        </p:nvCxnSpPr>
        <p:spPr>
          <a:xfrm rot="10800000" flipH="1">
            <a:off x="2641066" y="2728375"/>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1081" name="Google Shape;1081;p15"/>
          <p:cNvGrpSpPr/>
          <p:nvPr/>
        </p:nvGrpSpPr>
        <p:grpSpPr>
          <a:xfrm>
            <a:off x="2642328" y="3301828"/>
            <a:ext cx="77183" cy="323764"/>
            <a:chOff x="9755471" y="3187529"/>
            <a:chExt cx="154800" cy="698671"/>
          </a:xfrm>
        </p:grpSpPr>
        <p:cxnSp>
          <p:nvCxnSpPr>
            <p:cNvPr id="1082" name="Google Shape;1082;p15"/>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1083" name="Google Shape;1083;p15"/>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cxnSp>
        <p:nvCxnSpPr>
          <p:cNvPr id="1084" name="Google Shape;1084;p15"/>
          <p:cNvCxnSpPr/>
          <p:nvPr/>
        </p:nvCxnSpPr>
        <p:spPr>
          <a:xfrm>
            <a:off x="1503317" y="2728403"/>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1085" name="Google Shape;1085;p15"/>
          <p:cNvGrpSpPr/>
          <p:nvPr/>
        </p:nvGrpSpPr>
        <p:grpSpPr>
          <a:xfrm>
            <a:off x="1503467" y="3301828"/>
            <a:ext cx="77183" cy="323764"/>
            <a:chOff x="9755471" y="3187529"/>
            <a:chExt cx="154800" cy="698671"/>
          </a:xfrm>
        </p:grpSpPr>
        <p:cxnSp>
          <p:nvCxnSpPr>
            <p:cNvPr id="1086" name="Google Shape;1086;p15"/>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1087" name="Google Shape;1087;p15"/>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grpSp>
        <p:nvGrpSpPr>
          <p:cNvPr id="1088" name="Google Shape;1088;p15"/>
          <p:cNvGrpSpPr/>
          <p:nvPr/>
        </p:nvGrpSpPr>
        <p:grpSpPr>
          <a:xfrm>
            <a:off x="932165" y="2579247"/>
            <a:ext cx="602957" cy="414558"/>
            <a:chOff x="2866933" y="933607"/>
            <a:chExt cx="1209300" cy="894600"/>
          </a:xfrm>
        </p:grpSpPr>
        <p:cxnSp>
          <p:nvCxnSpPr>
            <p:cNvPr id="1089" name="Google Shape;1089;p15"/>
            <p:cNvCxnSpPr>
              <a:stCxn id="1090" idx="3"/>
            </p:cNvCxnSpPr>
            <p:nvPr/>
          </p:nvCxnSpPr>
          <p:spPr>
            <a:xfrm>
              <a:off x="3658933" y="1077607"/>
              <a:ext cx="417300" cy="750600"/>
            </a:xfrm>
            <a:prstGeom prst="straightConnector1">
              <a:avLst/>
            </a:prstGeom>
            <a:noFill/>
            <a:ln w="5900" cap="flat" cmpd="sng">
              <a:solidFill>
                <a:srgbClr val="262626"/>
              </a:solidFill>
              <a:prstDash val="solid"/>
              <a:miter lim="800000"/>
              <a:headEnd type="none" w="sm" len="sm"/>
              <a:tailEnd type="none" w="sm" len="sm"/>
            </a:ln>
          </p:spPr>
        </p:cxnSp>
        <p:sp>
          <p:nvSpPr>
            <p:cNvPr id="1090" name="Google Shape;1090;p15"/>
            <p:cNvSpPr/>
            <p:nvPr/>
          </p:nvSpPr>
          <p:spPr>
            <a:xfrm>
              <a:off x="2866933" y="933607"/>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Cladding</a:t>
              </a:r>
              <a:endParaRPr sz="555">
                <a:solidFill>
                  <a:srgbClr val="262626"/>
                </a:solidFill>
                <a:latin typeface="Arial"/>
                <a:ea typeface="Arial"/>
                <a:cs typeface="Arial"/>
                <a:sym typeface="Arial"/>
              </a:endParaRPr>
            </a:p>
          </p:txBody>
        </p:sp>
      </p:grpSp>
      <p:grpSp>
        <p:nvGrpSpPr>
          <p:cNvPr id="1091" name="Google Shape;1091;p15"/>
          <p:cNvGrpSpPr/>
          <p:nvPr/>
        </p:nvGrpSpPr>
        <p:grpSpPr>
          <a:xfrm>
            <a:off x="1338863" y="2215040"/>
            <a:ext cx="394891" cy="701356"/>
            <a:chOff x="4708781" y="1062201"/>
            <a:chExt cx="792000" cy="1513500"/>
          </a:xfrm>
        </p:grpSpPr>
        <p:cxnSp>
          <p:nvCxnSpPr>
            <p:cNvPr id="1092" name="Google Shape;1092;p15"/>
            <p:cNvCxnSpPr>
              <a:stCxn id="1093" idx="2"/>
            </p:cNvCxnSpPr>
            <p:nvPr/>
          </p:nvCxnSpPr>
          <p:spPr>
            <a:xfrm>
              <a:off x="5104781" y="1350201"/>
              <a:ext cx="190500" cy="1225500"/>
            </a:xfrm>
            <a:prstGeom prst="straightConnector1">
              <a:avLst/>
            </a:prstGeom>
            <a:noFill/>
            <a:ln w="5900" cap="flat" cmpd="sng">
              <a:solidFill>
                <a:srgbClr val="262626"/>
              </a:solidFill>
              <a:prstDash val="solid"/>
              <a:miter lim="800000"/>
              <a:headEnd type="none" w="sm" len="sm"/>
              <a:tailEnd type="none" w="sm" len="sm"/>
            </a:ln>
          </p:spPr>
        </p:cxnSp>
        <p:sp>
          <p:nvSpPr>
            <p:cNvPr id="1093" name="Google Shape;1093;p15"/>
            <p:cNvSpPr/>
            <p:nvPr/>
          </p:nvSpPr>
          <p:spPr>
            <a:xfrm>
              <a:off x="4708781" y="106220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Gap</a:t>
              </a:r>
              <a:endParaRPr sz="555">
                <a:solidFill>
                  <a:srgbClr val="262626"/>
                </a:solidFill>
                <a:latin typeface="Arial"/>
                <a:ea typeface="Arial"/>
                <a:cs typeface="Arial"/>
                <a:sym typeface="Arial"/>
              </a:endParaRPr>
            </a:p>
          </p:txBody>
        </p:sp>
      </p:grpSp>
      <p:cxnSp>
        <p:nvCxnSpPr>
          <p:cNvPr id="1094" name="Google Shape;1094;p15"/>
          <p:cNvCxnSpPr/>
          <p:nvPr/>
        </p:nvCxnSpPr>
        <p:spPr>
          <a:xfrm rot="10800000" flipH="1">
            <a:off x="2252439" y="2543577"/>
            <a:ext cx="940500" cy="536400"/>
          </a:xfrm>
          <a:prstGeom prst="straightConnector1">
            <a:avLst/>
          </a:prstGeom>
          <a:noFill/>
          <a:ln w="8825" cap="flat" cmpd="sng">
            <a:solidFill>
              <a:srgbClr val="000000"/>
            </a:solidFill>
            <a:prstDash val="solid"/>
            <a:miter lim="800000"/>
            <a:headEnd type="none" w="sm" len="sm"/>
            <a:tailEnd type="none" w="sm" len="sm"/>
          </a:ln>
        </p:spPr>
      </p:cxnSp>
      <p:cxnSp>
        <p:nvCxnSpPr>
          <p:cNvPr id="1095" name="Google Shape;1095;p15"/>
          <p:cNvCxnSpPr/>
          <p:nvPr/>
        </p:nvCxnSpPr>
        <p:spPr>
          <a:xfrm>
            <a:off x="2252439" y="3236150"/>
            <a:ext cx="940500" cy="150000"/>
          </a:xfrm>
          <a:prstGeom prst="straightConnector1">
            <a:avLst/>
          </a:prstGeom>
          <a:noFill/>
          <a:ln w="8825" cap="flat" cmpd="sng">
            <a:solidFill>
              <a:srgbClr val="000000"/>
            </a:solidFill>
            <a:prstDash val="solid"/>
            <a:miter lim="800000"/>
            <a:headEnd type="none" w="sm" len="sm"/>
            <a:tailEnd type="none" w="sm" len="sm"/>
          </a:ln>
        </p:spPr>
      </p:cxnSp>
      <p:sp>
        <p:nvSpPr>
          <p:cNvPr id="1096" name="Google Shape;1096;p15"/>
          <p:cNvSpPr/>
          <p:nvPr/>
        </p:nvSpPr>
        <p:spPr>
          <a:xfrm>
            <a:off x="3192932" y="2543397"/>
            <a:ext cx="901800" cy="842700"/>
          </a:xfrm>
          <a:prstGeom prst="rect">
            <a:avLst/>
          </a:prstGeom>
          <a:solidFill>
            <a:srgbClr val="747474"/>
          </a:solidFill>
          <a:ln w="8825" cap="flat" cmpd="sng">
            <a:solidFill>
              <a:srgbClr val="08283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1097" name="Google Shape;1097;p15"/>
          <p:cNvGrpSpPr/>
          <p:nvPr/>
        </p:nvGrpSpPr>
        <p:grpSpPr>
          <a:xfrm>
            <a:off x="3597758" y="2543463"/>
            <a:ext cx="496613" cy="458486"/>
            <a:chOff x="861338" y="1593726"/>
            <a:chExt cx="2895700" cy="2812800"/>
          </a:xfrm>
        </p:grpSpPr>
        <p:pic>
          <p:nvPicPr>
            <p:cNvPr id="1098" name="Google Shape;1098;p1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099" name="Google Shape;1099;p1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100" name="Google Shape;1100;p1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101" name="Google Shape;1101;p1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102" name="Google Shape;1102;p1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103" name="Google Shape;1103;p1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104" name="Google Shape;1104;p1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105" name="Google Shape;1105;p1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06" name="Google Shape;1106;p1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07" name="Google Shape;1107;p1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08" name="Google Shape;1108;p1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09" name="Google Shape;1109;p1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0" name="Google Shape;1110;p1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11" name="Google Shape;1111;p1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2" name="Google Shape;1112;p1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3" name="Google Shape;1113;p1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4" name="Google Shape;1114;p1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5" name="Google Shape;1115;p1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6" name="Google Shape;1116;p1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7" name="Google Shape;1117;p1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8" name="Google Shape;1118;p1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19" name="Google Shape;1119;p1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20" name="Google Shape;1120;p1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21" name="Google Shape;1121;p1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22" name="Google Shape;1122;p1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23" name="Google Shape;1123;p1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24" name="Google Shape;1124;p1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25" name="Google Shape;1125;p1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26" name="Google Shape;1126;p1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27" name="Google Shape;1127;p1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28" name="Google Shape;1128;p1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29" name="Google Shape;1129;p1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0" name="Google Shape;1130;p1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1" name="Google Shape;1131;p1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2" name="Google Shape;1132;p1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3" name="Google Shape;1133;p1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4" name="Google Shape;1134;p1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5" name="Google Shape;1135;p1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6" name="Google Shape;1136;p1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7" name="Google Shape;1137;p1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8" name="Google Shape;1138;p1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39" name="Google Shape;1139;p1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0" name="Google Shape;1140;p1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1" name="Google Shape;1141;p1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2" name="Google Shape;1142;p1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3" name="Google Shape;1143;p1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4" name="Google Shape;1144;p1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45" name="Google Shape;1145;p1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6" name="Google Shape;1146;p1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7" name="Google Shape;1147;p1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8" name="Google Shape;1148;p1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49" name="Google Shape;1149;p1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50" name="Google Shape;1150;p1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51" name="Google Shape;1151;p1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52" name="Google Shape;1152;p1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53" name="Google Shape;1153;p1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54" name="Google Shape;1154;p1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55" name="Google Shape;1155;p1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56" name="Google Shape;1156;p1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57" name="Google Shape;1157;p1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58" name="Google Shape;1158;p1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59" name="Google Shape;1159;p1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60" name="Google Shape;1160;p1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61" name="Google Shape;1161;p1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62" name="Google Shape;1162;p1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63" name="Google Shape;1163;p1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64" name="Google Shape;1164;p1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65" name="Google Shape;1165;p1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66" name="Google Shape;1166;p1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67" name="Google Shape;1167;p1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68" name="Google Shape;1168;p1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69" name="Google Shape;1169;p1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0" name="Google Shape;1170;p1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1" name="Google Shape;1171;p1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2" name="Google Shape;1172;p1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3" name="Google Shape;1173;p1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4" name="Google Shape;1174;p1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5" name="Google Shape;1175;p1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6" name="Google Shape;1176;p1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7" name="Google Shape;1177;p1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8" name="Google Shape;1178;p1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79" name="Google Shape;1179;p1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80" name="Google Shape;1180;p1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81" name="Google Shape;1181;p1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182" name="Google Shape;1182;p1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183" name="Google Shape;1183;p15"/>
          <p:cNvGrpSpPr/>
          <p:nvPr/>
        </p:nvGrpSpPr>
        <p:grpSpPr>
          <a:xfrm>
            <a:off x="3187382" y="2552186"/>
            <a:ext cx="429722" cy="396324"/>
            <a:chOff x="861338" y="1593726"/>
            <a:chExt cx="2895700" cy="2812800"/>
          </a:xfrm>
        </p:grpSpPr>
        <p:pic>
          <p:nvPicPr>
            <p:cNvPr id="1184" name="Google Shape;1184;p1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185" name="Google Shape;1185;p1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186" name="Google Shape;1186;p1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187" name="Google Shape;1187;p1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188" name="Google Shape;1188;p1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189" name="Google Shape;1189;p1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190" name="Google Shape;1190;p1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191" name="Google Shape;1191;p1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92" name="Google Shape;1192;p1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93" name="Google Shape;1193;p1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94" name="Google Shape;1194;p1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95" name="Google Shape;1195;p1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96" name="Google Shape;1196;p1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197" name="Google Shape;1197;p1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98" name="Google Shape;1198;p1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199" name="Google Shape;1199;p1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00" name="Google Shape;1200;p1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01" name="Google Shape;1201;p1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02" name="Google Shape;1202;p1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03" name="Google Shape;1203;p1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04" name="Google Shape;1204;p1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05" name="Google Shape;1205;p1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06" name="Google Shape;1206;p1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07" name="Google Shape;1207;p1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08" name="Google Shape;1208;p1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09" name="Google Shape;1209;p1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10" name="Google Shape;1210;p1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11" name="Google Shape;1211;p1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12" name="Google Shape;1212;p1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13" name="Google Shape;1213;p1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14" name="Google Shape;1214;p1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15" name="Google Shape;1215;p1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16" name="Google Shape;1216;p1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17" name="Google Shape;1217;p1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18" name="Google Shape;1218;p1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19" name="Google Shape;1219;p1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0" name="Google Shape;1220;p1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1" name="Google Shape;1221;p1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2" name="Google Shape;1222;p1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3" name="Google Shape;1223;p1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4" name="Google Shape;1224;p1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5" name="Google Shape;1225;p1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6" name="Google Shape;1226;p1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7" name="Google Shape;1227;p1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8" name="Google Shape;1228;p1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29" name="Google Shape;1229;p1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30" name="Google Shape;1230;p1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31" name="Google Shape;1231;p1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32" name="Google Shape;1232;p1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33" name="Google Shape;1233;p1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34" name="Google Shape;1234;p1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35" name="Google Shape;1235;p1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36" name="Google Shape;1236;p1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37" name="Google Shape;1237;p1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38" name="Google Shape;1238;p1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39" name="Google Shape;1239;p1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40" name="Google Shape;1240;p1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41" name="Google Shape;1241;p1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42" name="Google Shape;1242;p1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43" name="Google Shape;1243;p1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44" name="Google Shape;1244;p1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45" name="Google Shape;1245;p1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46" name="Google Shape;1246;p1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47" name="Google Shape;1247;p1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48" name="Google Shape;1248;p1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49" name="Google Shape;1249;p1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50" name="Google Shape;1250;p1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51" name="Google Shape;1251;p1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52" name="Google Shape;1252;p1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53" name="Google Shape;1253;p1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54" name="Google Shape;1254;p1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55" name="Google Shape;1255;p1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56" name="Google Shape;1256;p1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57" name="Google Shape;1257;p1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58" name="Google Shape;1258;p1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59" name="Google Shape;1259;p1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60" name="Google Shape;1260;p1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61" name="Google Shape;1261;p1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62" name="Google Shape;1262;p1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63" name="Google Shape;1263;p1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64" name="Google Shape;1264;p1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65" name="Google Shape;1265;p1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66" name="Google Shape;1266;p1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67" name="Google Shape;1267;p1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268" name="Google Shape;1268;p1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269" name="Google Shape;1269;p15"/>
          <p:cNvGrpSpPr/>
          <p:nvPr/>
        </p:nvGrpSpPr>
        <p:grpSpPr>
          <a:xfrm>
            <a:off x="3309046" y="2921215"/>
            <a:ext cx="496613" cy="458486"/>
            <a:chOff x="861338" y="1593726"/>
            <a:chExt cx="2895700" cy="2812800"/>
          </a:xfrm>
        </p:grpSpPr>
        <p:pic>
          <p:nvPicPr>
            <p:cNvPr id="1270" name="Google Shape;1270;p1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271" name="Google Shape;1271;p1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272" name="Google Shape;1272;p1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273" name="Google Shape;1273;p1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274" name="Google Shape;1274;p1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275" name="Google Shape;1275;p1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276" name="Google Shape;1276;p1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277" name="Google Shape;1277;p1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78" name="Google Shape;1278;p1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79" name="Google Shape;1279;p1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0" name="Google Shape;1280;p1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1" name="Google Shape;1281;p1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2" name="Google Shape;1282;p1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83" name="Google Shape;1283;p1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4" name="Google Shape;1284;p1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5" name="Google Shape;1285;p1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6" name="Google Shape;1286;p1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7" name="Google Shape;1287;p1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8" name="Google Shape;1288;p1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89" name="Google Shape;1289;p1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90" name="Google Shape;1290;p1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91" name="Google Shape;1291;p1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92" name="Google Shape;1292;p1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93" name="Google Shape;1293;p1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94" name="Google Shape;1294;p1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95" name="Google Shape;1295;p1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96" name="Google Shape;1296;p1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97" name="Google Shape;1297;p1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298" name="Google Shape;1298;p1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299" name="Google Shape;1299;p1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0" name="Google Shape;1300;p1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1" name="Google Shape;1301;p1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2" name="Google Shape;1302;p1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3" name="Google Shape;1303;p1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4" name="Google Shape;1304;p1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5" name="Google Shape;1305;p1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6" name="Google Shape;1306;p1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7" name="Google Shape;1307;p1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8" name="Google Shape;1308;p1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09" name="Google Shape;1309;p1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0" name="Google Shape;1310;p1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1" name="Google Shape;1311;p1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2" name="Google Shape;1312;p1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3" name="Google Shape;1313;p1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4" name="Google Shape;1314;p1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5" name="Google Shape;1315;p1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6" name="Google Shape;1316;p1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17" name="Google Shape;1317;p1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8" name="Google Shape;1318;p1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19" name="Google Shape;1319;p1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20" name="Google Shape;1320;p1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21" name="Google Shape;1321;p1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22" name="Google Shape;1322;p1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23" name="Google Shape;1323;p1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24" name="Google Shape;1324;p1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25" name="Google Shape;1325;p1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26" name="Google Shape;1326;p1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27" name="Google Shape;1327;p1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28" name="Google Shape;1328;p1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29" name="Google Shape;1329;p1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30" name="Google Shape;1330;p1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31" name="Google Shape;1331;p1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32" name="Google Shape;1332;p1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33" name="Google Shape;1333;p1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34" name="Google Shape;1334;p1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35" name="Google Shape;1335;p1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36" name="Google Shape;1336;p1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37" name="Google Shape;1337;p1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38" name="Google Shape;1338;p1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39" name="Google Shape;1339;p1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40" name="Google Shape;1340;p1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41" name="Google Shape;1341;p1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42" name="Google Shape;1342;p1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43" name="Google Shape;1343;p1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44" name="Google Shape;1344;p1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45" name="Google Shape;1345;p1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46" name="Google Shape;1346;p1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47" name="Google Shape;1347;p1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48" name="Google Shape;1348;p1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49" name="Google Shape;1349;p1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50" name="Google Shape;1350;p1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51" name="Google Shape;1351;p1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352" name="Google Shape;1352;p1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353" name="Google Shape;1353;p1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354" name="Google Shape;1354;p1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355" name="Google Shape;1355;p15"/>
          <p:cNvGrpSpPr/>
          <p:nvPr/>
        </p:nvGrpSpPr>
        <p:grpSpPr>
          <a:xfrm>
            <a:off x="3073160" y="2301503"/>
            <a:ext cx="394891" cy="387449"/>
            <a:chOff x="2669487" y="1048029"/>
            <a:chExt cx="792000" cy="836100"/>
          </a:xfrm>
        </p:grpSpPr>
        <p:cxnSp>
          <p:nvCxnSpPr>
            <p:cNvPr id="1356" name="Google Shape;1356;p15"/>
            <p:cNvCxnSpPr>
              <a:stCxn id="1357" idx="2"/>
              <a:endCxn id="1194" idx="7"/>
            </p:cNvCxnSpPr>
            <p:nvPr/>
          </p:nvCxnSpPr>
          <p:spPr>
            <a:xfrm>
              <a:off x="3065487" y="1336029"/>
              <a:ext cx="227700" cy="548100"/>
            </a:xfrm>
            <a:prstGeom prst="straightConnector1">
              <a:avLst/>
            </a:prstGeom>
            <a:noFill/>
            <a:ln w="5900" cap="flat" cmpd="sng">
              <a:solidFill>
                <a:srgbClr val="262626"/>
              </a:solidFill>
              <a:prstDash val="solid"/>
              <a:miter lim="800000"/>
              <a:headEnd type="none" w="sm" len="sm"/>
              <a:tailEnd type="none" w="sm" len="sm"/>
            </a:ln>
          </p:spPr>
        </p:cxnSp>
        <p:sp>
          <p:nvSpPr>
            <p:cNvPr id="1357" name="Google Shape;1357;p15"/>
            <p:cNvSpPr/>
            <p:nvPr/>
          </p:nvSpPr>
          <p:spPr>
            <a:xfrm>
              <a:off x="2669487" y="1048029"/>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Grains</a:t>
              </a:r>
              <a:endParaRPr sz="555">
                <a:solidFill>
                  <a:srgbClr val="262626"/>
                </a:solidFill>
                <a:latin typeface="Arial"/>
                <a:ea typeface="Arial"/>
                <a:cs typeface="Arial"/>
                <a:sym typeface="Arial"/>
              </a:endParaRPr>
            </a:p>
          </p:txBody>
        </p:sp>
      </p:grpSp>
      <p:cxnSp>
        <p:nvCxnSpPr>
          <p:cNvPr id="1358" name="Google Shape;1358;p15"/>
          <p:cNvCxnSpPr>
            <a:stCxn id="1357" idx="2"/>
            <a:endCxn id="1179" idx="5"/>
          </p:cNvCxnSpPr>
          <p:nvPr/>
        </p:nvCxnSpPr>
        <p:spPr>
          <a:xfrm>
            <a:off x="3270606" y="2434963"/>
            <a:ext cx="563100" cy="154800"/>
          </a:xfrm>
          <a:prstGeom prst="straightConnector1">
            <a:avLst/>
          </a:prstGeom>
          <a:noFill/>
          <a:ln w="5900" cap="flat" cmpd="sng">
            <a:solidFill>
              <a:srgbClr val="262626"/>
            </a:solidFill>
            <a:prstDash val="solid"/>
            <a:miter lim="800000"/>
            <a:headEnd type="none" w="sm" len="sm"/>
            <a:tailEnd type="none" w="sm" len="sm"/>
          </a:ln>
        </p:spPr>
      </p:cxnSp>
      <p:grpSp>
        <p:nvGrpSpPr>
          <p:cNvPr id="1359" name="Google Shape;1359;p15"/>
          <p:cNvGrpSpPr/>
          <p:nvPr/>
        </p:nvGrpSpPr>
        <p:grpSpPr>
          <a:xfrm>
            <a:off x="3555987" y="2247224"/>
            <a:ext cx="721987" cy="362981"/>
            <a:chOff x="2703097" y="980611"/>
            <a:chExt cx="792000" cy="783300"/>
          </a:xfrm>
        </p:grpSpPr>
        <p:cxnSp>
          <p:nvCxnSpPr>
            <p:cNvPr id="1360" name="Google Shape;1360;p15"/>
            <p:cNvCxnSpPr>
              <a:stCxn id="1361" idx="2"/>
              <a:endCxn id="1191" idx="7"/>
            </p:cNvCxnSpPr>
            <p:nvPr/>
          </p:nvCxnSpPr>
          <p:spPr>
            <a:xfrm flipH="1">
              <a:off x="2703097" y="1268611"/>
              <a:ext cx="396000" cy="495300"/>
            </a:xfrm>
            <a:prstGeom prst="straightConnector1">
              <a:avLst/>
            </a:prstGeom>
            <a:noFill/>
            <a:ln w="5900" cap="flat" cmpd="sng">
              <a:solidFill>
                <a:srgbClr val="262626"/>
              </a:solidFill>
              <a:prstDash val="solid"/>
              <a:miter lim="800000"/>
              <a:headEnd type="none" w="sm" len="sm"/>
              <a:tailEnd type="none" w="sm" len="sm"/>
            </a:ln>
          </p:spPr>
        </p:cxnSp>
        <p:sp>
          <p:nvSpPr>
            <p:cNvPr id="1361" name="Google Shape;1361;p15"/>
            <p:cNvSpPr/>
            <p:nvPr/>
          </p:nvSpPr>
          <p:spPr>
            <a:xfrm>
              <a:off x="2703097" y="98061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 boundary</a:t>
              </a:r>
              <a:endParaRPr sz="555">
                <a:solidFill>
                  <a:srgbClr val="262626"/>
                </a:solidFill>
                <a:latin typeface="Arial"/>
                <a:ea typeface="Arial"/>
                <a:cs typeface="Arial"/>
                <a:sym typeface="Arial"/>
              </a:endParaRPr>
            </a:p>
          </p:txBody>
        </p:sp>
      </p:grpSp>
      <p:sp>
        <p:nvSpPr>
          <p:cNvPr id="1362" name="Google Shape;1362;p15"/>
          <p:cNvSpPr/>
          <p:nvPr/>
        </p:nvSpPr>
        <p:spPr>
          <a:xfrm>
            <a:off x="2947950" y="2184150"/>
            <a:ext cx="645300" cy="377400"/>
          </a:xfrm>
          <a:prstGeom prst="ellipse">
            <a:avLst/>
          </a:prstGeom>
          <a:noFill/>
          <a:ln w="28575"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mc:AlternateContent xmlns:mc="http://schemas.openxmlformats.org/markup-compatibility/2006">
        <mc:Choice xmlns:a14="http://schemas.microsoft.com/office/drawing/2010/main" Requires="a14">
          <p:sp>
            <p:nvSpPr>
              <p:cNvPr id="3" name="CasellaDiTesto 2">
                <a:extLst>
                  <a:ext uri="{FF2B5EF4-FFF2-40B4-BE49-F238E27FC236}">
                    <a16:creationId xmlns:a16="http://schemas.microsoft.com/office/drawing/2014/main" id="{578DD24D-9850-D70E-0E17-2D63F7BCE988}"/>
                  </a:ext>
                </a:extLst>
              </p:cNvPr>
              <p:cNvSpPr txBox="1"/>
              <p:nvPr/>
            </p:nvSpPr>
            <p:spPr>
              <a:xfrm>
                <a:off x="421767" y="851140"/>
                <a:ext cx="8300466" cy="851002"/>
              </a:xfrm>
              <a:prstGeom prst="rect">
                <a:avLst/>
              </a:prstGeom>
              <a:noFill/>
            </p:spPr>
            <p:txBody>
              <a:bodyPr wrap="square">
                <a:spAutoFit/>
              </a:bodyPr>
              <a:lstStyle/>
              <a:p>
                <a:pPr marL="171450" lvl="0" indent="-171450">
                  <a:buClr>
                    <a:schemeClr val="dk1"/>
                  </a:buClr>
                  <a:buSzPts val="1600"/>
                  <a:buFont typeface="Arial"/>
                  <a:buChar char="-"/>
                </a:pPr>
                <a:r>
                  <a:rPr lang="en-US" sz="1600" u="sng" dirty="0">
                    <a:solidFill>
                      <a:schemeClr val="dk1"/>
                    </a:solidFill>
                  </a:rPr>
                  <a:t>Physical parameters</a:t>
                </a:r>
                <a:r>
                  <a:rPr lang="en-US" sz="1600" dirty="0">
                    <a:solidFill>
                      <a:schemeClr val="dk1"/>
                    </a:solidFill>
                  </a:rPr>
                  <a:t>: diffusivity (</a:t>
                </a:r>
                <a14:m>
                  <m:oMath xmlns:m="http://schemas.openxmlformats.org/officeDocument/2006/math">
                    <m:r>
                      <a:rPr lang="it-IT" sz="1600" b="0" i="1" smtClean="0">
                        <a:solidFill>
                          <a:schemeClr val="dk1"/>
                        </a:solidFill>
                        <a:latin typeface="Cambria Math" panose="02040503050406030204" pitchFamily="18" charset="0"/>
                      </a:rPr>
                      <m:t>𝐷</m:t>
                    </m:r>
                  </m:oMath>
                </a14:m>
                <a:r>
                  <a:rPr lang="en-US" sz="1600" dirty="0">
                    <a:solidFill>
                      <a:schemeClr val="dk1"/>
                    </a:solidFill>
                  </a:rPr>
                  <a:t>), bubble nucleation (</a:t>
                </a:r>
                <a14:m>
                  <m:oMath xmlns:m="http://schemas.openxmlformats.org/officeDocument/2006/math">
                    <m:r>
                      <a:rPr lang="it-IT" sz="1600" b="0" i="1" smtClean="0">
                        <a:solidFill>
                          <a:schemeClr val="dk1"/>
                        </a:solidFill>
                        <a:latin typeface="Cambria Math" panose="02040503050406030204" pitchFamily="18" charset="0"/>
                      </a:rPr>
                      <m:t>𝜈</m:t>
                    </m:r>
                  </m:oMath>
                </a14:m>
                <a:r>
                  <a:rPr lang="en-US" sz="1600" dirty="0">
                    <a:solidFill>
                      <a:schemeClr val="dk1"/>
                    </a:solidFill>
                  </a:rPr>
                  <a:t>), trapping (</a:t>
                </a:r>
                <a14:m>
                  <m:oMath xmlns:m="http://schemas.openxmlformats.org/officeDocument/2006/math">
                    <m:r>
                      <a:rPr lang="it-IT" sz="1600" b="0" i="1" smtClean="0">
                        <a:solidFill>
                          <a:schemeClr val="dk1"/>
                        </a:solidFill>
                        <a:latin typeface="Cambria Math" panose="02040503050406030204" pitchFamily="18" charset="0"/>
                      </a:rPr>
                      <m:t>𝑔</m:t>
                    </m:r>
                  </m:oMath>
                </a14:m>
                <a:r>
                  <a:rPr lang="en-US" sz="1600" dirty="0">
                    <a:solidFill>
                      <a:schemeClr val="dk1"/>
                    </a:solidFill>
                  </a:rPr>
                  <a:t>), re-solution (</a:t>
                </a:r>
                <a14:m>
                  <m:oMath xmlns:m="http://schemas.openxmlformats.org/officeDocument/2006/math">
                    <m:r>
                      <a:rPr lang="it-IT" sz="1600" b="0" i="1" smtClean="0">
                        <a:solidFill>
                          <a:schemeClr val="dk1"/>
                        </a:solidFill>
                        <a:latin typeface="Cambria Math" panose="02040503050406030204" pitchFamily="18" charset="0"/>
                      </a:rPr>
                      <m:t>𝑏</m:t>
                    </m:r>
                  </m:oMath>
                </a14:m>
                <a:r>
                  <a:rPr lang="en-US" sz="1600" dirty="0">
                    <a:solidFill>
                      <a:schemeClr val="dk1"/>
                    </a:solidFill>
                  </a:rPr>
                  <a:t>).</a:t>
                </a:r>
              </a:p>
              <a:p>
                <a:pPr marL="171450" lvl="0" indent="-171450">
                  <a:buClr>
                    <a:schemeClr val="dk1"/>
                  </a:buClr>
                  <a:buSzPts val="1600"/>
                  <a:buFont typeface="Arial"/>
                  <a:buChar char="-"/>
                </a:pPr>
                <a:r>
                  <a:rPr lang="en-US" sz="1600" u="sng" dirty="0">
                    <a:solidFill>
                      <a:schemeClr val="dk1"/>
                    </a:solidFill>
                  </a:rPr>
                  <a:t>Model output</a:t>
                </a:r>
                <a:r>
                  <a:rPr lang="en-US" sz="1600" dirty="0">
                    <a:solidFill>
                      <a:schemeClr val="dk1"/>
                    </a:solidFill>
                  </a:rPr>
                  <a:t>: </a:t>
                </a:r>
                <a:r>
                  <a:rPr lang="en-US" sz="1600" dirty="0"/>
                  <a:t>intra-granular gas concentration in solution </a:t>
                </a:r>
                <a14:m>
                  <m:oMath xmlns:m="http://schemas.openxmlformats.org/officeDocument/2006/math">
                    <m:r>
                      <a:rPr lang="it-IT" sz="1600" i="1">
                        <a:solidFill>
                          <a:schemeClr val="dk1"/>
                        </a:solidFill>
                        <a:latin typeface="Cambria Math" panose="02040503050406030204" pitchFamily="18" charset="0"/>
                      </a:rPr>
                      <m:t>𝑐</m:t>
                    </m:r>
                  </m:oMath>
                </a14:m>
                <a:r>
                  <a:rPr lang="en-US" sz="1600" dirty="0"/>
                  <a:t> (at m</a:t>
                </a:r>
                <a:r>
                  <a:rPr lang="en-US" sz="1600" baseline="30000" dirty="0"/>
                  <a:t>-3</a:t>
                </a:r>
                <a:r>
                  <a:rPr lang="en-US" sz="1600" dirty="0"/>
                  <a:t>), intra-granular gas concentration in bubbles </a:t>
                </a:r>
                <a14:m>
                  <m:oMath xmlns:m="http://schemas.openxmlformats.org/officeDocument/2006/math">
                    <m:r>
                      <a:rPr lang="it-IT" sz="1600" b="0" i="1" smtClean="0">
                        <a:solidFill>
                          <a:schemeClr val="dk1"/>
                        </a:solidFill>
                        <a:latin typeface="Cambria Math" panose="02040503050406030204" pitchFamily="18" charset="0"/>
                      </a:rPr>
                      <m:t>𝑚</m:t>
                    </m:r>
                  </m:oMath>
                </a14:m>
                <a:r>
                  <a:rPr lang="en-US" sz="1600" dirty="0"/>
                  <a:t> (at m</a:t>
                </a:r>
                <a:r>
                  <a:rPr lang="en-US" sz="1600" baseline="30000" dirty="0"/>
                  <a:t>-3</a:t>
                </a:r>
                <a:r>
                  <a:rPr lang="en-US" sz="1600" dirty="0"/>
                  <a:t>), intra-granular bubble density </a:t>
                </a:r>
                <a14:m>
                  <m:oMath xmlns:m="http://schemas.openxmlformats.org/officeDocument/2006/math">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𝑁</m:t>
                        </m:r>
                      </m:e>
                      <m:sub>
                        <m:r>
                          <a:rPr lang="it-IT" sz="1600" b="0" i="1" smtClean="0">
                            <a:latin typeface="Cambria Math" panose="02040503050406030204" pitchFamily="18" charset="0"/>
                          </a:rPr>
                          <m:t>𝑖𝑔</m:t>
                        </m:r>
                      </m:sub>
                    </m:sSub>
                  </m:oMath>
                </a14:m>
                <a:r>
                  <a:rPr lang="en-US" sz="1600" dirty="0"/>
                  <a:t> (bub m</a:t>
                </a:r>
                <a:r>
                  <a:rPr lang="en-US" sz="1600" baseline="30000" dirty="0"/>
                  <a:t>-3</a:t>
                </a:r>
                <a:r>
                  <a:rPr lang="en-US" sz="1600" dirty="0"/>
                  <a:t>).</a:t>
                </a:r>
              </a:p>
            </p:txBody>
          </p:sp>
        </mc:Choice>
        <mc:Fallback>
          <p:sp>
            <p:nvSpPr>
              <p:cNvPr id="3" name="CasellaDiTesto 2">
                <a:extLst>
                  <a:ext uri="{FF2B5EF4-FFF2-40B4-BE49-F238E27FC236}">
                    <a16:creationId xmlns:a16="http://schemas.microsoft.com/office/drawing/2014/main" id="{578DD24D-9850-D70E-0E17-2D63F7BCE988}"/>
                  </a:ext>
                </a:extLst>
              </p:cNvPr>
              <p:cNvSpPr txBox="1">
                <a:spLocks noRot="1" noChangeAspect="1" noMove="1" noResize="1" noEditPoints="1" noAdjustHandles="1" noChangeArrowheads="1" noChangeShapeType="1" noTextEdit="1"/>
              </p:cNvSpPr>
              <p:nvPr/>
            </p:nvSpPr>
            <p:spPr>
              <a:xfrm>
                <a:off x="421767" y="851140"/>
                <a:ext cx="8300466" cy="851002"/>
              </a:xfrm>
              <a:prstGeom prst="rect">
                <a:avLst/>
              </a:prstGeom>
              <a:blipFill>
                <a:blip r:embed="rId10"/>
                <a:stretch>
                  <a:fillRect l="-294" t="-2158" b="-6475"/>
                </a:stretch>
              </a:blipFill>
            </p:spPr>
            <p:txBody>
              <a:bodyPr/>
              <a:lstStyle/>
              <a:p>
                <a:r>
                  <a:rPr lang="en-GB">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p16"/>
          <p:cNvSpPr txBox="1">
            <a:spLocks noGrp="1"/>
          </p:cNvSpPr>
          <p:nvPr>
            <p:ph type="title" idx="4294967295"/>
          </p:nvPr>
        </p:nvSpPr>
        <p:spPr>
          <a:xfrm>
            <a:off x="2062557" y="178944"/>
            <a:ext cx="6884884" cy="412957"/>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dirty="0">
                <a:solidFill>
                  <a:srgbClr val="0157A3"/>
                </a:solidFill>
                <a:latin typeface="Arial"/>
                <a:ea typeface="Arial"/>
                <a:cs typeface="Arial"/>
                <a:sym typeface="Arial"/>
              </a:rPr>
              <a:t>Intra-granular bubble evolution, separate-effect validation</a:t>
            </a:r>
            <a:endParaRPr sz="2000" b="0" i="0" u="none" strike="noStrike" cap="none" dirty="0">
              <a:solidFill>
                <a:srgbClr val="0157A3"/>
              </a:solidFill>
              <a:latin typeface="Arial"/>
              <a:ea typeface="Arial"/>
              <a:cs typeface="Arial"/>
              <a:sym typeface="Arial"/>
            </a:endParaRPr>
          </a:p>
        </p:txBody>
      </p:sp>
      <p:sp>
        <p:nvSpPr>
          <p:cNvPr id="1369" name="Google Shape;1369;p16"/>
          <p:cNvSpPr/>
          <p:nvPr/>
        </p:nvSpPr>
        <p:spPr>
          <a:xfrm>
            <a:off x="4980872" y="1140589"/>
            <a:ext cx="3777300" cy="313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u="sng" dirty="0">
                <a:solidFill>
                  <a:schemeClr val="dk1"/>
                </a:solidFill>
                <a:latin typeface="Calibri"/>
                <a:ea typeface="Calibri"/>
                <a:cs typeface="Calibri"/>
                <a:sym typeface="Calibri"/>
              </a:rPr>
              <a:t>Figure of merit</a:t>
            </a:r>
            <a:r>
              <a:rPr lang="en-GB" sz="1800" dirty="0">
                <a:solidFill>
                  <a:schemeClr val="dk1"/>
                </a:solidFill>
                <a:latin typeface="Calibri"/>
                <a:ea typeface="Calibri"/>
                <a:cs typeface="Calibri"/>
                <a:sym typeface="Calibri"/>
              </a:rPr>
              <a:t>: Intra-granular gaseous swelling</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GB" sz="1800" dirty="0">
                <a:solidFill>
                  <a:schemeClr val="dk1"/>
                </a:solidFill>
                <a:latin typeface="Calibri"/>
                <a:ea typeface="Calibri"/>
                <a:cs typeface="Calibri"/>
                <a:sym typeface="Calibri"/>
              </a:rPr>
              <a:t>Separate-effect </a:t>
            </a:r>
            <a:r>
              <a:rPr lang="en-GB" sz="1800" b="1" dirty="0">
                <a:solidFill>
                  <a:schemeClr val="dk1"/>
                </a:solidFill>
                <a:latin typeface="Calibri"/>
                <a:ea typeface="Calibri"/>
                <a:cs typeface="Calibri"/>
                <a:sym typeface="Calibri"/>
              </a:rPr>
              <a:t>validation performed in SCIANTIX</a:t>
            </a:r>
            <a:r>
              <a:rPr lang="en-GB" sz="1800" dirty="0">
                <a:solidFill>
                  <a:schemeClr val="dk1"/>
                </a:solidFill>
                <a:latin typeface="Calibri"/>
                <a:ea typeface="Calibri"/>
                <a:cs typeface="Calibri"/>
                <a:sym typeface="Calibri"/>
              </a:rPr>
              <a:t>: agreement with experimental data</a:t>
            </a:r>
            <a:endParaRPr dirty="0"/>
          </a:p>
        </p:txBody>
      </p:sp>
      <p:sp>
        <p:nvSpPr>
          <p:cNvPr id="1370" name="Google Shape;1370;p16"/>
          <p:cNvSpPr/>
          <p:nvPr/>
        </p:nvSpPr>
        <p:spPr>
          <a:xfrm>
            <a:off x="1070101" y="4392875"/>
            <a:ext cx="33468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chemeClr val="dk1"/>
                </a:solidFill>
                <a:latin typeface="Quattrocento Sans"/>
                <a:ea typeface="Quattrocento Sans"/>
                <a:cs typeface="Quattrocento Sans"/>
                <a:sym typeface="Quattrocento Sans"/>
              </a:rPr>
              <a:t>Experimental data from Baker, 1977, JNM.</a:t>
            </a:r>
            <a:endParaRPr/>
          </a:p>
          <a:p>
            <a:pPr marL="0" marR="0" lvl="0" indent="0" algn="l" rtl="0">
              <a:spcBef>
                <a:spcPts val="0"/>
              </a:spcBef>
              <a:spcAft>
                <a:spcPts val="0"/>
              </a:spcAft>
              <a:buNone/>
            </a:pPr>
            <a:r>
              <a:rPr lang="en-GB" sz="1200">
                <a:solidFill>
                  <a:schemeClr val="dk1"/>
                </a:solidFill>
                <a:latin typeface="Quattrocento Sans"/>
                <a:ea typeface="Quattrocento Sans"/>
                <a:cs typeface="Quattrocento Sans"/>
                <a:sym typeface="Quattrocento Sans"/>
              </a:rPr>
              <a:t>Calculation from G. Zullo,  PhD Thesis, 2024.</a:t>
            </a:r>
            <a:endParaRPr sz="1200">
              <a:solidFill>
                <a:schemeClr val="dk1"/>
              </a:solidFill>
              <a:latin typeface="Quattrocento Sans"/>
              <a:ea typeface="Quattrocento Sans"/>
              <a:cs typeface="Quattrocento Sans"/>
              <a:sym typeface="Quattrocento Sans"/>
            </a:endParaRPr>
          </a:p>
        </p:txBody>
      </p:sp>
      <p:pic>
        <p:nvPicPr>
          <p:cNvPr id="1371" name="Google Shape;1371;p16"/>
          <p:cNvPicPr preferRelativeResize="0"/>
          <p:nvPr/>
        </p:nvPicPr>
        <p:blipFill rotWithShape="1">
          <a:blip r:embed="rId3">
            <a:alphaModFix/>
          </a:blip>
          <a:srcRect/>
          <a:stretch/>
        </p:blipFill>
        <p:spPr>
          <a:xfrm>
            <a:off x="78218" y="890124"/>
            <a:ext cx="4622018" cy="35027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17"/>
          <p:cNvSpPr txBox="1">
            <a:spLocks noGrp="1"/>
          </p:cNvSpPr>
          <p:nvPr>
            <p:ph type="title" idx="4294967295"/>
          </p:nvPr>
        </p:nvSpPr>
        <p:spPr>
          <a:xfrm>
            <a:off x="3149601" y="178943"/>
            <a:ext cx="5797840" cy="398655"/>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Inter-granular fission gas behaviour</a:t>
            </a:r>
            <a:endParaRPr sz="2000" b="0" i="0" u="none" strike="noStrike" cap="none">
              <a:solidFill>
                <a:srgbClr val="0157A3"/>
              </a:solidFill>
              <a:latin typeface="Arial"/>
              <a:ea typeface="Arial"/>
              <a:cs typeface="Arial"/>
              <a:sym typeface="Arial"/>
            </a:endParaRPr>
          </a:p>
        </p:txBody>
      </p:sp>
      <p:sp>
        <p:nvSpPr>
          <p:cNvPr id="1378" name="Google Shape;1378;p17"/>
          <p:cNvSpPr/>
          <p:nvPr/>
        </p:nvSpPr>
        <p:spPr>
          <a:xfrm>
            <a:off x="5653977" y="1935263"/>
            <a:ext cx="86760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Diffusion</a:t>
            </a:r>
            <a:endParaRPr sz="1200" strike="noStrike">
              <a:solidFill>
                <a:srgbClr val="7F7F7F"/>
              </a:solidFill>
              <a:latin typeface="Arial"/>
              <a:ea typeface="Arial"/>
              <a:cs typeface="Arial"/>
              <a:sym typeface="Arial"/>
            </a:endParaRPr>
          </a:p>
        </p:txBody>
      </p:sp>
      <p:sp>
        <p:nvSpPr>
          <p:cNvPr id="1379" name="Google Shape;1379;p17"/>
          <p:cNvSpPr/>
          <p:nvPr/>
        </p:nvSpPr>
        <p:spPr>
          <a:xfrm>
            <a:off x="2797654" y="2491260"/>
            <a:ext cx="1166157"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Re-solution</a:t>
            </a:r>
            <a:endParaRPr sz="1200" strike="noStrike">
              <a:solidFill>
                <a:srgbClr val="7F7F7F"/>
              </a:solidFill>
              <a:latin typeface="Arial"/>
              <a:ea typeface="Arial"/>
              <a:cs typeface="Arial"/>
              <a:sym typeface="Arial"/>
            </a:endParaRPr>
          </a:p>
        </p:txBody>
      </p:sp>
      <p:sp>
        <p:nvSpPr>
          <p:cNvPr id="1380" name="Google Shape;1380;p17"/>
          <p:cNvSpPr/>
          <p:nvPr/>
        </p:nvSpPr>
        <p:spPr>
          <a:xfrm>
            <a:off x="2524857" y="2158918"/>
            <a:ext cx="64044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Trapping</a:t>
            </a:r>
            <a:endParaRPr sz="1200" strike="noStrike">
              <a:solidFill>
                <a:srgbClr val="7F7F7F"/>
              </a:solidFill>
              <a:latin typeface="Arial"/>
              <a:ea typeface="Arial"/>
              <a:cs typeface="Arial"/>
              <a:sym typeface="Arial"/>
            </a:endParaRPr>
          </a:p>
        </p:txBody>
      </p:sp>
      <p:sp>
        <p:nvSpPr>
          <p:cNvPr id="1381" name="Google Shape;1381;p17"/>
          <p:cNvSpPr/>
          <p:nvPr/>
        </p:nvSpPr>
        <p:spPr>
          <a:xfrm>
            <a:off x="3459197" y="1239135"/>
            <a:ext cx="2207857" cy="43222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Fission gases (Xe, Kr) and fission products (Cs, I, Te, …)</a:t>
            </a:r>
            <a:endParaRPr/>
          </a:p>
        </p:txBody>
      </p:sp>
      <p:sp>
        <p:nvSpPr>
          <p:cNvPr id="1382" name="Google Shape;1382;p17"/>
          <p:cNvSpPr/>
          <p:nvPr/>
        </p:nvSpPr>
        <p:spPr>
          <a:xfrm>
            <a:off x="3781025" y="712996"/>
            <a:ext cx="1564200" cy="247554"/>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Fission reactions</a:t>
            </a:r>
            <a:endParaRPr/>
          </a:p>
        </p:txBody>
      </p:sp>
      <p:sp>
        <p:nvSpPr>
          <p:cNvPr id="1383" name="Google Shape;1383;p17"/>
          <p:cNvSpPr/>
          <p:nvPr/>
        </p:nvSpPr>
        <p:spPr>
          <a:xfrm>
            <a:off x="7046310" y="2233039"/>
            <a:ext cx="1704000" cy="43230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Inter-granular / grain-boundary bubbles</a:t>
            </a:r>
            <a:endParaRPr/>
          </a:p>
        </p:txBody>
      </p:sp>
      <p:sp>
        <p:nvSpPr>
          <p:cNvPr id="1384" name="Google Shape;1384;p17"/>
          <p:cNvSpPr/>
          <p:nvPr/>
        </p:nvSpPr>
        <p:spPr>
          <a:xfrm>
            <a:off x="456100" y="2459825"/>
            <a:ext cx="1623900" cy="2475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Intra-granular bubbles</a:t>
            </a:r>
            <a:endParaRPr/>
          </a:p>
        </p:txBody>
      </p:sp>
      <p:sp>
        <p:nvSpPr>
          <p:cNvPr id="1385" name="Google Shape;1385;p17"/>
          <p:cNvSpPr/>
          <p:nvPr/>
        </p:nvSpPr>
        <p:spPr>
          <a:xfrm>
            <a:off x="3867696" y="1935263"/>
            <a:ext cx="1390858" cy="43222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Intra-granular (single atoms)</a:t>
            </a:r>
            <a:endParaRPr/>
          </a:p>
        </p:txBody>
      </p:sp>
      <p:sp>
        <p:nvSpPr>
          <p:cNvPr id="1386" name="Google Shape;1386;p17"/>
          <p:cNvSpPr/>
          <p:nvPr/>
        </p:nvSpPr>
        <p:spPr>
          <a:xfrm>
            <a:off x="3306725" y="3752065"/>
            <a:ext cx="2512800"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rPr>
              <a:t>Grain-face </a:t>
            </a:r>
            <a:r>
              <a:rPr lang="en-GB" sz="1200" b="1" strike="noStrike">
                <a:solidFill>
                  <a:srgbClr val="000000"/>
                </a:solidFill>
                <a:latin typeface="Arial"/>
                <a:ea typeface="Arial"/>
                <a:cs typeface="Arial"/>
                <a:sym typeface="Arial"/>
              </a:rPr>
              <a:t>saturation</a:t>
            </a:r>
            <a:r>
              <a:rPr lang="en-GB" sz="1200" b="1">
                <a:solidFill>
                  <a:srgbClr val="000000"/>
                </a:solidFill>
                <a:latin typeface="Arial"/>
                <a:ea typeface="Arial"/>
                <a:cs typeface="Arial"/>
                <a:sym typeface="Arial"/>
              </a:rPr>
              <a:t> </a:t>
            </a:r>
            <a:r>
              <a:rPr lang="en-GB" sz="1200" strike="noStrike">
                <a:solidFill>
                  <a:srgbClr val="000000"/>
                </a:solidFill>
                <a:latin typeface="Arial"/>
                <a:ea typeface="Arial"/>
                <a:cs typeface="Arial"/>
                <a:sym typeface="Arial"/>
              </a:rPr>
              <a:t>and/or </a:t>
            </a:r>
            <a:r>
              <a:rPr lang="en-GB" sz="1200" b="1" strike="noStrike">
                <a:solidFill>
                  <a:srgbClr val="000000"/>
                </a:solidFill>
                <a:latin typeface="Arial"/>
                <a:ea typeface="Arial"/>
                <a:cs typeface="Arial"/>
                <a:sym typeface="Arial"/>
              </a:rPr>
              <a:t>micro-cracking</a:t>
            </a:r>
            <a:endParaRPr sz="1200" b="1" strike="noStrike">
              <a:solidFill>
                <a:srgbClr val="000000"/>
              </a:solidFill>
              <a:latin typeface="Arial"/>
              <a:ea typeface="Arial"/>
              <a:cs typeface="Arial"/>
              <a:sym typeface="Arial"/>
            </a:endParaRPr>
          </a:p>
        </p:txBody>
      </p:sp>
      <p:sp>
        <p:nvSpPr>
          <p:cNvPr id="1387" name="Google Shape;1387;p17"/>
          <p:cNvSpPr/>
          <p:nvPr/>
        </p:nvSpPr>
        <p:spPr>
          <a:xfrm>
            <a:off x="3698026" y="4433374"/>
            <a:ext cx="1730199" cy="275545"/>
          </a:xfrm>
          <a:prstGeom prst="rect">
            <a:avLst/>
          </a:prstGeom>
          <a:solidFill>
            <a:srgbClr val="DDD9C3"/>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rPr>
              <a:t>Fission gas release</a:t>
            </a:r>
            <a:endParaRPr sz="1200" strike="noStrike">
              <a:solidFill>
                <a:srgbClr val="000000"/>
              </a:solidFill>
              <a:latin typeface="Arial"/>
              <a:ea typeface="Arial"/>
              <a:cs typeface="Arial"/>
              <a:sym typeface="Arial"/>
            </a:endParaRPr>
          </a:p>
        </p:txBody>
      </p:sp>
      <p:sp>
        <p:nvSpPr>
          <p:cNvPr id="1388" name="Google Shape;1388;p17"/>
          <p:cNvSpPr/>
          <p:nvPr/>
        </p:nvSpPr>
        <p:spPr>
          <a:xfrm>
            <a:off x="7046300" y="4263475"/>
            <a:ext cx="1671900" cy="2754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High-burnup structure</a:t>
            </a:r>
            <a:endParaRPr sz="1200">
              <a:solidFill>
                <a:srgbClr val="7F7F7F"/>
              </a:solidFill>
              <a:latin typeface="Arial"/>
              <a:ea typeface="Arial"/>
              <a:cs typeface="Arial"/>
              <a:sym typeface="Arial"/>
            </a:endParaRPr>
          </a:p>
        </p:txBody>
      </p:sp>
      <p:cxnSp>
        <p:nvCxnSpPr>
          <p:cNvPr id="1389" name="Google Shape;1389;p17"/>
          <p:cNvCxnSpPr/>
          <p:nvPr/>
        </p:nvCxnSpPr>
        <p:spPr>
          <a:xfrm>
            <a:off x="4563125" y="983633"/>
            <a:ext cx="1" cy="255502"/>
          </a:xfrm>
          <a:prstGeom prst="straightConnector1">
            <a:avLst/>
          </a:prstGeom>
          <a:noFill/>
          <a:ln w="9525" cap="flat" cmpd="sng">
            <a:solidFill>
              <a:srgbClr val="5F497A"/>
            </a:solidFill>
            <a:prstDash val="solid"/>
            <a:miter lim="8000"/>
            <a:headEnd type="none" w="sm" len="sm"/>
            <a:tailEnd type="triangle" w="med" len="med"/>
          </a:ln>
        </p:spPr>
      </p:cxnSp>
      <p:cxnSp>
        <p:nvCxnSpPr>
          <p:cNvPr id="1390" name="Google Shape;1390;p17"/>
          <p:cNvCxnSpPr>
            <a:endCxn id="1385" idx="0"/>
          </p:cNvCxnSpPr>
          <p:nvPr/>
        </p:nvCxnSpPr>
        <p:spPr>
          <a:xfrm>
            <a:off x="4559525" y="1688363"/>
            <a:ext cx="3600" cy="246900"/>
          </a:xfrm>
          <a:prstGeom prst="straightConnector1">
            <a:avLst/>
          </a:prstGeom>
          <a:noFill/>
          <a:ln w="9525" cap="flat" cmpd="sng">
            <a:solidFill>
              <a:srgbClr val="5F497A"/>
            </a:solidFill>
            <a:prstDash val="solid"/>
            <a:miter lim="8000"/>
            <a:headEnd type="none" w="sm" len="sm"/>
            <a:tailEnd type="triangle" w="med" len="med"/>
          </a:ln>
        </p:spPr>
      </p:cxnSp>
      <p:cxnSp>
        <p:nvCxnSpPr>
          <p:cNvPr id="1391" name="Google Shape;1391;p17"/>
          <p:cNvCxnSpPr>
            <a:stCxn id="1385" idx="1"/>
            <a:endCxn id="1384" idx="3"/>
          </p:cNvCxnSpPr>
          <p:nvPr/>
        </p:nvCxnSpPr>
        <p:spPr>
          <a:xfrm flipH="1">
            <a:off x="2079996" y="2151373"/>
            <a:ext cx="1787700" cy="432300"/>
          </a:xfrm>
          <a:prstGeom prst="straightConnector1">
            <a:avLst/>
          </a:prstGeom>
          <a:noFill/>
          <a:ln w="9525" cap="flat" cmpd="sng">
            <a:solidFill>
              <a:srgbClr val="5F497A"/>
            </a:solidFill>
            <a:prstDash val="solid"/>
            <a:miter lim="8000"/>
            <a:headEnd type="triangle" w="med" len="med"/>
            <a:tailEnd type="triangle" w="med" len="med"/>
          </a:ln>
        </p:spPr>
      </p:cxnSp>
      <p:cxnSp>
        <p:nvCxnSpPr>
          <p:cNvPr id="1392" name="Google Shape;1392;p17"/>
          <p:cNvCxnSpPr>
            <a:stCxn id="1385" idx="3"/>
            <a:endCxn id="1383" idx="1"/>
          </p:cNvCxnSpPr>
          <p:nvPr/>
        </p:nvCxnSpPr>
        <p:spPr>
          <a:xfrm>
            <a:off x="5258554" y="2151373"/>
            <a:ext cx="1787700" cy="297900"/>
          </a:xfrm>
          <a:prstGeom prst="straightConnector1">
            <a:avLst/>
          </a:prstGeom>
          <a:noFill/>
          <a:ln w="9525" cap="flat" cmpd="sng">
            <a:solidFill>
              <a:srgbClr val="5F497A"/>
            </a:solidFill>
            <a:prstDash val="solid"/>
            <a:miter lim="8000"/>
            <a:headEnd type="none" w="sm" len="sm"/>
            <a:tailEnd type="triangle" w="med" len="med"/>
          </a:ln>
        </p:spPr>
      </p:cxnSp>
      <p:cxnSp>
        <p:nvCxnSpPr>
          <p:cNvPr id="1393" name="Google Shape;1393;p17"/>
          <p:cNvCxnSpPr>
            <a:stCxn id="1383" idx="1"/>
            <a:endCxn id="1386" idx="0"/>
          </p:cNvCxnSpPr>
          <p:nvPr/>
        </p:nvCxnSpPr>
        <p:spPr>
          <a:xfrm flipH="1">
            <a:off x="4563210" y="2449189"/>
            <a:ext cx="2483100" cy="1302900"/>
          </a:xfrm>
          <a:prstGeom prst="straightConnector1">
            <a:avLst/>
          </a:prstGeom>
          <a:noFill/>
          <a:ln w="9525" cap="flat" cmpd="sng">
            <a:solidFill>
              <a:srgbClr val="5F497A"/>
            </a:solidFill>
            <a:prstDash val="solid"/>
            <a:miter lim="8000"/>
            <a:headEnd type="none" w="sm" len="sm"/>
            <a:tailEnd type="triangle" w="med" len="med"/>
          </a:ln>
        </p:spPr>
      </p:cxnSp>
      <p:sp>
        <p:nvSpPr>
          <p:cNvPr id="1394" name="Google Shape;1394;p17"/>
          <p:cNvSpPr/>
          <p:nvPr/>
        </p:nvSpPr>
        <p:spPr>
          <a:xfrm>
            <a:off x="456050" y="3830475"/>
            <a:ext cx="1623900" cy="2754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Gaseous fuel swelling</a:t>
            </a:r>
            <a:endParaRPr sz="1200">
              <a:solidFill>
                <a:srgbClr val="7F7F7F"/>
              </a:solidFill>
              <a:latin typeface="Arial"/>
              <a:ea typeface="Arial"/>
              <a:cs typeface="Arial"/>
              <a:sym typeface="Arial"/>
            </a:endParaRPr>
          </a:p>
        </p:txBody>
      </p:sp>
      <p:pic>
        <p:nvPicPr>
          <p:cNvPr id="1395" name="Google Shape;1395;p17" descr="Rubber duck outline"/>
          <p:cNvPicPr preferRelativeResize="0"/>
          <p:nvPr/>
        </p:nvPicPr>
        <p:blipFill rotWithShape="1">
          <a:blip r:embed="rId3">
            <a:alphaModFix/>
          </a:blip>
          <a:srcRect/>
          <a:stretch/>
        </p:blipFill>
        <p:spPr>
          <a:xfrm>
            <a:off x="8491755" y="-96504"/>
            <a:ext cx="681240" cy="681240"/>
          </a:xfrm>
          <a:prstGeom prst="rect">
            <a:avLst/>
          </a:prstGeom>
          <a:noFill/>
          <a:ln>
            <a:noFill/>
          </a:ln>
        </p:spPr>
      </p:pic>
      <p:cxnSp>
        <p:nvCxnSpPr>
          <p:cNvPr id="1396" name="Google Shape;1396;p17"/>
          <p:cNvCxnSpPr>
            <a:stCxn id="1386" idx="2"/>
            <a:endCxn id="1387" idx="0"/>
          </p:cNvCxnSpPr>
          <p:nvPr/>
        </p:nvCxnSpPr>
        <p:spPr>
          <a:xfrm>
            <a:off x="4563125" y="4184285"/>
            <a:ext cx="0" cy="249000"/>
          </a:xfrm>
          <a:prstGeom prst="straightConnector1">
            <a:avLst/>
          </a:prstGeom>
          <a:noFill/>
          <a:ln w="9525" cap="flat" cmpd="sng">
            <a:solidFill>
              <a:srgbClr val="5F497A"/>
            </a:solidFill>
            <a:prstDash val="solid"/>
            <a:miter lim="8000"/>
            <a:headEnd type="none" w="sm" len="sm"/>
            <a:tailEnd type="triangle" w="med" len="med"/>
          </a:ln>
        </p:spPr>
      </p:cxnSp>
      <p:pic>
        <p:nvPicPr>
          <p:cNvPr id="1397" name="Google Shape;1397;p17"/>
          <p:cNvPicPr preferRelativeResize="0"/>
          <p:nvPr/>
        </p:nvPicPr>
        <p:blipFill>
          <a:blip r:embed="rId4">
            <a:alphaModFix/>
          </a:blip>
          <a:stretch>
            <a:fillRect/>
          </a:stretch>
        </p:blipFill>
        <p:spPr>
          <a:xfrm>
            <a:off x="7044250" y="577600"/>
            <a:ext cx="1671875" cy="1660823"/>
          </a:xfrm>
          <a:prstGeom prst="rect">
            <a:avLst/>
          </a:prstGeom>
          <a:noFill/>
          <a:ln>
            <a:noFill/>
          </a:ln>
        </p:spPr>
      </p:pic>
      <p:pic>
        <p:nvPicPr>
          <p:cNvPr id="1398" name="Google Shape;1398;p17"/>
          <p:cNvPicPr preferRelativeResize="0"/>
          <p:nvPr/>
        </p:nvPicPr>
        <p:blipFill>
          <a:blip r:embed="rId5">
            <a:alphaModFix amt="50000"/>
          </a:blip>
          <a:stretch>
            <a:fillRect/>
          </a:stretch>
        </p:blipFill>
        <p:spPr>
          <a:xfrm>
            <a:off x="456100" y="852350"/>
            <a:ext cx="1623899" cy="1638900"/>
          </a:xfrm>
          <a:prstGeom prst="rect">
            <a:avLst/>
          </a:prstGeom>
          <a:noFill/>
          <a:ln>
            <a:noFill/>
          </a:ln>
        </p:spPr>
      </p:pic>
      <p:pic>
        <p:nvPicPr>
          <p:cNvPr id="1399" name="Google Shape;1399;p17"/>
          <p:cNvPicPr preferRelativeResize="0"/>
          <p:nvPr/>
        </p:nvPicPr>
        <p:blipFill>
          <a:blip r:embed="rId6">
            <a:alphaModFix amt="50000"/>
          </a:blip>
          <a:stretch>
            <a:fillRect/>
          </a:stretch>
        </p:blipFill>
        <p:spPr>
          <a:xfrm>
            <a:off x="7046300" y="2776530"/>
            <a:ext cx="1671900" cy="14888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2"/>
                                        </p:tgtEl>
                                        <p:attrNameLst>
                                          <p:attrName>style.visibility</p:attrName>
                                        </p:attrNameLst>
                                      </p:cBhvr>
                                      <p:to>
                                        <p:strVal val="visible"/>
                                      </p:to>
                                    </p:set>
                                    <p:animEffect transition="in" filter="fade">
                                      <p:cBhvr>
                                        <p:cTn id="7" dur="500"/>
                                        <p:tgtEl>
                                          <p:spTgt spid="1382"/>
                                        </p:tgtEl>
                                      </p:cBhvr>
                                    </p:animEffect>
                                  </p:childTnLst>
                                </p:cTn>
                              </p:par>
                              <p:par>
                                <p:cTn id="8" presetID="10" presetClass="entr" presetSubtype="0" fill="hold" nodeType="withEffect">
                                  <p:stCondLst>
                                    <p:cond delay="0"/>
                                  </p:stCondLst>
                                  <p:childTnLst>
                                    <p:set>
                                      <p:cBhvr>
                                        <p:cTn id="9" dur="1" fill="hold">
                                          <p:stCondLst>
                                            <p:cond delay="0"/>
                                          </p:stCondLst>
                                        </p:cTn>
                                        <p:tgtEl>
                                          <p:spTgt spid="1389"/>
                                        </p:tgtEl>
                                        <p:attrNameLst>
                                          <p:attrName>style.visibility</p:attrName>
                                        </p:attrNameLst>
                                      </p:cBhvr>
                                      <p:to>
                                        <p:strVal val="visible"/>
                                      </p:to>
                                    </p:set>
                                    <p:animEffect transition="in" filter="fade">
                                      <p:cBhvr>
                                        <p:cTn id="10" dur="500"/>
                                        <p:tgtEl>
                                          <p:spTgt spid="1389"/>
                                        </p:tgtEl>
                                      </p:cBhvr>
                                    </p:animEffect>
                                  </p:childTnLst>
                                </p:cTn>
                              </p:par>
                              <p:par>
                                <p:cTn id="11" presetID="10" presetClass="entr" presetSubtype="0" fill="hold" nodeType="withEffect">
                                  <p:stCondLst>
                                    <p:cond delay="0"/>
                                  </p:stCondLst>
                                  <p:childTnLst>
                                    <p:set>
                                      <p:cBhvr>
                                        <p:cTn id="12" dur="1" fill="hold">
                                          <p:stCondLst>
                                            <p:cond delay="0"/>
                                          </p:stCondLst>
                                        </p:cTn>
                                        <p:tgtEl>
                                          <p:spTgt spid="1381"/>
                                        </p:tgtEl>
                                        <p:attrNameLst>
                                          <p:attrName>style.visibility</p:attrName>
                                        </p:attrNameLst>
                                      </p:cBhvr>
                                      <p:to>
                                        <p:strVal val="visible"/>
                                      </p:to>
                                    </p:set>
                                    <p:animEffect transition="in" filter="fade">
                                      <p:cBhvr>
                                        <p:cTn id="13" dur="500"/>
                                        <p:tgtEl>
                                          <p:spTgt spid="138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90"/>
                                        </p:tgtEl>
                                        <p:attrNameLst>
                                          <p:attrName>style.visibility</p:attrName>
                                        </p:attrNameLst>
                                      </p:cBhvr>
                                      <p:to>
                                        <p:strVal val="visible"/>
                                      </p:to>
                                    </p:set>
                                    <p:animEffect transition="in" filter="fade">
                                      <p:cBhvr>
                                        <p:cTn id="18" dur="500"/>
                                        <p:tgtEl>
                                          <p:spTgt spid="1390"/>
                                        </p:tgtEl>
                                      </p:cBhvr>
                                    </p:animEffect>
                                  </p:childTnLst>
                                </p:cTn>
                              </p:par>
                              <p:par>
                                <p:cTn id="19" presetID="10" presetClass="entr" presetSubtype="0" fill="hold" nodeType="withEffect">
                                  <p:stCondLst>
                                    <p:cond delay="0"/>
                                  </p:stCondLst>
                                  <p:childTnLst>
                                    <p:set>
                                      <p:cBhvr>
                                        <p:cTn id="20" dur="1" fill="hold">
                                          <p:stCondLst>
                                            <p:cond delay="0"/>
                                          </p:stCondLst>
                                        </p:cTn>
                                        <p:tgtEl>
                                          <p:spTgt spid="1385"/>
                                        </p:tgtEl>
                                        <p:attrNameLst>
                                          <p:attrName>style.visibility</p:attrName>
                                        </p:attrNameLst>
                                      </p:cBhvr>
                                      <p:to>
                                        <p:strVal val="visible"/>
                                      </p:to>
                                    </p:set>
                                    <p:animEffect transition="in" filter="fade">
                                      <p:cBhvr>
                                        <p:cTn id="21" dur="500"/>
                                        <p:tgtEl>
                                          <p:spTgt spid="1385"/>
                                        </p:tgtEl>
                                      </p:cBhvr>
                                    </p:animEffect>
                                  </p:childTnLst>
                                </p:cTn>
                              </p:par>
                              <p:par>
                                <p:cTn id="22" presetID="10" presetClass="entr" presetSubtype="0" fill="hold" nodeType="withEffect">
                                  <p:stCondLst>
                                    <p:cond delay="0"/>
                                  </p:stCondLst>
                                  <p:childTnLst>
                                    <p:set>
                                      <p:cBhvr>
                                        <p:cTn id="23" dur="1" fill="hold">
                                          <p:stCondLst>
                                            <p:cond delay="0"/>
                                          </p:stCondLst>
                                        </p:cTn>
                                        <p:tgtEl>
                                          <p:spTgt spid="1391"/>
                                        </p:tgtEl>
                                        <p:attrNameLst>
                                          <p:attrName>style.visibility</p:attrName>
                                        </p:attrNameLst>
                                      </p:cBhvr>
                                      <p:to>
                                        <p:strVal val="visible"/>
                                      </p:to>
                                    </p:set>
                                    <p:animEffect transition="in" filter="fade">
                                      <p:cBhvr>
                                        <p:cTn id="24" dur="500"/>
                                        <p:tgtEl>
                                          <p:spTgt spid="1391"/>
                                        </p:tgtEl>
                                      </p:cBhvr>
                                    </p:animEffect>
                                  </p:childTnLst>
                                </p:cTn>
                              </p:par>
                              <p:par>
                                <p:cTn id="25" presetID="10" presetClass="entr" presetSubtype="0" fill="hold" nodeType="withEffect">
                                  <p:stCondLst>
                                    <p:cond delay="0"/>
                                  </p:stCondLst>
                                  <p:childTnLst>
                                    <p:set>
                                      <p:cBhvr>
                                        <p:cTn id="26" dur="1" fill="hold">
                                          <p:stCondLst>
                                            <p:cond delay="0"/>
                                          </p:stCondLst>
                                        </p:cTn>
                                        <p:tgtEl>
                                          <p:spTgt spid="1380"/>
                                        </p:tgtEl>
                                        <p:attrNameLst>
                                          <p:attrName>style.visibility</p:attrName>
                                        </p:attrNameLst>
                                      </p:cBhvr>
                                      <p:to>
                                        <p:strVal val="visible"/>
                                      </p:to>
                                    </p:set>
                                    <p:animEffect transition="in" filter="fade">
                                      <p:cBhvr>
                                        <p:cTn id="27" dur="500"/>
                                        <p:tgtEl>
                                          <p:spTgt spid="1380"/>
                                        </p:tgtEl>
                                      </p:cBhvr>
                                    </p:animEffect>
                                  </p:childTnLst>
                                </p:cTn>
                              </p:par>
                              <p:par>
                                <p:cTn id="28" presetID="10" presetClass="entr" presetSubtype="0" fill="hold" nodeType="withEffect">
                                  <p:stCondLst>
                                    <p:cond delay="0"/>
                                  </p:stCondLst>
                                  <p:childTnLst>
                                    <p:set>
                                      <p:cBhvr>
                                        <p:cTn id="29" dur="1" fill="hold">
                                          <p:stCondLst>
                                            <p:cond delay="0"/>
                                          </p:stCondLst>
                                        </p:cTn>
                                        <p:tgtEl>
                                          <p:spTgt spid="1379"/>
                                        </p:tgtEl>
                                        <p:attrNameLst>
                                          <p:attrName>style.visibility</p:attrName>
                                        </p:attrNameLst>
                                      </p:cBhvr>
                                      <p:to>
                                        <p:strVal val="visible"/>
                                      </p:to>
                                    </p:set>
                                    <p:animEffect transition="in" filter="fade">
                                      <p:cBhvr>
                                        <p:cTn id="30" dur="500"/>
                                        <p:tgtEl>
                                          <p:spTgt spid="1379"/>
                                        </p:tgtEl>
                                      </p:cBhvr>
                                    </p:animEffect>
                                  </p:childTnLst>
                                </p:cTn>
                              </p:par>
                              <p:par>
                                <p:cTn id="31" presetID="10" presetClass="entr" presetSubtype="0" fill="hold" nodeType="withEffect">
                                  <p:stCondLst>
                                    <p:cond delay="0"/>
                                  </p:stCondLst>
                                  <p:childTnLst>
                                    <p:set>
                                      <p:cBhvr>
                                        <p:cTn id="32" dur="1" fill="hold">
                                          <p:stCondLst>
                                            <p:cond delay="0"/>
                                          </p:stCondLst>
                                        </p:cTn>
                                        <p:tgtEl>
                                          <p:spTgt spid="1384"/>
                                        </p:tgtEl>
                                        <p:attrNameLst>
                                          <p:attrName>style.visibility</p:attrName>
                                        </p:attrNameLst>
                                      </p:cBhvr>
                                      <p:to>
                                        <p:strVal val="visible"/>
                                      </p:to>
                                    </p:set>
                                    <p:animEffect transition="in" filter="fade">
                                      <p:cBhvr>
                                        <p:cTn id="33" dur="500"/>
                                        <p:tgtEl>
                                          <p:spTgt spid="1384"/>
                                        </p:tgtEl>
                                      </p:cBhvr>
                                    </p:animEffect>
                                  </p:childTnLst>
                                </p:cTn>
                              </p:par>
                              <p:par>
                                <p:cTn id="34" presetID="10" presetClass="entr" presetSubtype="0" fill="hold" nodeType="withEffect">
                                  <p:stCondLst>
                                    <p:cond delay="0"/>
                                  </p:stCondLst>
                                  <p:childTnLst>
                                    <p:set>
                                      <p:cBhvr>
                                        <p:cTn id="35" dur="1" fill="hold">
                                          <p:stCondLst>
                                            <p:cond delay="0"/>
                                          </p:stCondLst>
                                        </p:cTn>
                                        <p:tgtEl>
                                          <p:spTgt spid="1394"/>
                                        </p:tgtEl>
                                        <p:attrNameLst>
                                          <p:attrName>style.visibility</p:attrName>
                                        </p:attrNameLst>
                                      </p:cBhvr>
                                      <p:to>
                                        <p:strVal val="visible"/>
                                      </p:to>
                                    </p:set>
                                    <p:animEffect transition="in" filter="fade">
                                      <p:cBhvr>
                                        <p:cTn id="36" dur="500"/>
                                        <p:tgtEl>
                                          <p:spTgt spid="139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78"/>
                                        </p:tgtEl>
                                        <p:attrNameLst>
                                          <p:attrName>style.visibility</p:attrName>
                                        </p:attrNameLst>
                                      </p:cBhvr>
                                      <p:to>
                                        <p:strVal val="visible"/>
                                      </p:to>
                                    </p:set>
                                    <p:animEffect transition="in" filter="fade">
                                      <p:cBhvr>
                                        <p:cTn id="41" dur="500"/>
                                        <p:tgtEl>
                                          <p:spTgt spid="1378"/>
                                        </p:tgtEl>
                                      </p:cBhvr>
                                    </p:animEffect>
                                  </p:childTnLst>
                                </p:cTn>
                              </p:par>
                              <p:par>
                                <p:cTn id="42" presetID="10" presetClass="entr" presetSubtype="0" fill="hold" nodeType="withEffect">
                                  <p:stCondLst>
                                    <p:cond delay="0"/>
                                  </p:stCondLst>
                                  <p:childTnLst>
                                    <p:set>
                                      <p:cBhvr>
                                        <p:cTn id="43" dur="1" fill="hold">
                                          <p:stCondLst>
                                            <p:cond delay="0"/>
                                          </p:stCondLst>
                                        </p:cTn>
                                        <p:tgtEl>
                                          <p:spTgt spid="1392"/>
                                        </p:tgtEl>
                                        <p:attrNameLst>
                                          <p:attrName>style.visibility</p:attrName>
                                        </p:attrNameLst>
                                      </p:cBhvr>
                                      <p:to>
                                        <p:strVal val="visible"/>
                                      </p:to>
                                    </p:set>
                                    <p:animEffect transition="in" filter="fade">
                                      <p:cBhvr>
                                        <p:cTn id="44" dur="500"/>
                                        <p:tgtEl>
                                          <p:spTgt spid="1392"/>
                                        </p:tgtEl>
                                      </p:cBhvr>
                                    </p:animEffect>
                                  </p:childTnLst>
                                </p:cTn>
                              </p:par>
                              <p:par>
                                <p:cTn id="45" presetID="10" presetClass="entr" presetSubtype="0" fill="hold" nodeType="withEffect">
                                  <p:stCondLst>
                                    <p:cond delay="0"/>
                                  </p:stCondLst>
                                  <p:childTnLst>
                                    <p:set>
                                      <p:cBhvr>
                                        <p:cTn id="46" dur="1" fill="hold">
                                          <p:stCondLst>
                                            <p:cond delay="0"/>
                                          </p:stCondLst>
                                        </p:cTn>
                                        <p:tgtEl>
                                          <p:spTgt spid="1383"/>
                                        </p:tgtEl>
                                        <p:attrNameLst>
                                          <p:attrName>style.visibility</p:attrName>
                                        </p:attrNameLst>
                                      </p:cBhvr>
                                      <p:to>
                                        <p:strVal val="visible"/>
                                      </p:to>
                                    </p:set>
                                    <p:animEffect transition="in" filter="fade">
                                      <p:cBhvr>
                                        <p:cTn id="47" dur="500"/>
                                        <p:tgtEl>
                                          <p:spTgt spid="138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93"/>
                                        </p:tgtEl>
                                        <p:attrNameLst>
                                          <p:attrName>style.visibility</p:attrName>
                                        </p:attrNameLst>
                                      </p:cBhvr>
                                      <p:to>
                                        <p:strVal val="visible"/>
                                      </p:to>
                                    </p:set>
                                    <p:animEffect transition="in" filter="fade">
                                      <p:cBhvr>
                                        <p:cTn id="52" dur="500"/>
                                        <p:tgtEl>
                                          <p:spTgt spid="1393"/>
                                        </p:tgtEl>
                                      </p:cBhvr>
                                    </p:animEffect>
                                  </p:childTnLst>
                                </p:cTn>
                              </p:par>
                              <p:par>
                                <p:cTn id="53" presetID="10" presetClass="entr" presetSubtype="0" fill="hold" nodeType="withEffect">
                                  <p:stCondLst>
                                    <p:cond delay="0"/>
                                  </p:stCondLst>
                                  <p:childTnLst>
                                    <p:set>
                                      <p:cBhvr>
                                        <p:cTn id="54" dur="1" fill="hold">
                                          <p:stCondLst>
                                            <p:cond delay="0"/>
                                          </p:stCondLst>
                                        </p:cTn>
                                        <p:tgtEl>
                                          <p:spTgt spid="1386"/>
                                        </p:tgtEl>
                                        <p:attrNameLst>
                                          <p:attrName>style.visibility</p:attrName>
                                        </p:attrNameLst>
                                      </p:cBhvr>
                                      <p:to>
                                        <p:strVal val="visible"/>
                                      </p:to>
                                    </p:set>
                                    <p:animEffect transition="in" filter="fade">
                                      <p:cBhvr>
                                        <p:cTn id="55" dur="500"/>
                                        <p:tgtEl>
                                          <p:spTgt spid="1386"/>
                                        </p:tgtEl>
                                      </p:cBhvr>
                                    </p:animEffect>
                                  </p:childTnLst>
                                </p:cTn>
                              </p:par>
                              <p:par>
                                <p:cTn id="56" presetID="10" presetClass="entr" presetSubtype="0" fill="hold" nodeType="withEffect">
                                  <p:stCondLst>
                                    <p:cond delay="0"/>
                                  </p:stCondLst>
                                  <p:childTnLst>
                                    <p:set>
                                      <p:cBhvr>
                                        <p:cTn id="57" dur="1" fill="hold">
                                          <p:stCondLst>
                                            <p:cond delay="0"/>
                                          </p:stCondLst>
                                        </p:cTn>
                                        <p:tgtEl>
                                          <p:spTgt spid="1396"/>
                                        </p:tgtEl>
                                        <p:attrNameLst>
                                          <p:attrName>style.visibility</p:attrName>
                                        </p:attrNameLst>
                                      </p:cBhvr>
                                      <p:to>
                                        <p:strVal val="visible"/>
                                      </p:to>
                                    </p:set>
                                    <p:animEffect transition="in" filter="fade">
                                      <p:cBhvr>
                                        <p:cTn id="58" dur="500"/>
                                        <p:tgtEl>
                                          <p:spTgt spid="1396"/>
                                        </p:tgtEl>
                                      </p:cBhvr>
                                    </p:animEffect>
                                  </p:childTnLst>
                                </p:cTn>
                              </p:par>
                              <p:par>
                                <p:cTn id="59" presetID="10" presetClass="entr" presetSubtype="0" fill="hold" nodeType="withEffect">
                                  <p:stCondLst>
                                    <p:cond delay="0"/>
                                  </p:stCondLst>
                                  <p:childTnLst>
                                    <p:set>
                                      <p:cBhvr>
                                        <p:cTn id="60" dur="1" fill="hold">
                                          <p:stCondLst>
                                            <p:cond delay="0"/>
                                          </p:stCondLst>
                                        </p:cTn>
                                        <p:tgtEl>
                                          <p:spTgt spid="1387"/>
                                        </p:tgtEl>
                                        <p:attrNameLst>
                                          <p:attrName>style.visibility</p:attrName>
                                        </p:attrNameLst>
                                      </p:cBhvr>
                                      <p:to>
                                        <p:strVal val="visible"/>
                                      </p:to>
                                    </p:set>
                                    <p:animEffect transition="in" filter="fade">
                                      <p:cBhvr>
                                        <p:cTn id="61" dur="500"/>
                                        <p:tgtEl>
                                          <p:spTgt spid="138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388"/>
                                        </p:tgtEl>
                                        <p:attrNameLst>
                                          <p:attrName>style.visibility</p:attrName>
                                        </p:attrNameLst>
                                      </p:cBhvr>
                                      <p:to>
                                        <p:strVal val="visible"/>
                                      </p:to>
                                    </p:set>
                                    <p:animEffect transition="in" filter="fade">
                                      <p:cBhvr>
                                        <p:cTn id="66" dur="500"/>
                                        <p:tgtEl>
                                          <p:spTgt spid="1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04"/>
        <p:cNvGrpSpPr/>
        <p:nvPr/>
      </p:nvGrpSpPr>
      <p:grpSpPr>
        <a:xfrm>
          <a:off x="0" y="0"/>
          <a:ext cx="0" cy="0"/>
          <a:chOff x="0" y="0"/>
          <a:chExt cx="0" cy="0"/>
        </a:xfrm>
      </p:grpSpPr>
      <p:sp>
        <p:nvSpPr>
          <p:cNvPr id="1405" name="Google Shape;1405;p18"/>
          <p:cNvSpPr txBox="1">
            <a:spLocks noGrp="1"/>
          </p:cNvSpPr>
          <p:nvPr>
            <p:ph type="title" idx="4294967295"/>
          </p:nvPr>
        </p:nvSpPr>
        <p:spPr>
          <a:xfrm>
            <a:off x="2235201" y="178944"/>
            <a:ext cx="671224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code, inter-granular fission gas behaviour</a:t>
            </a:r>
            <a:endParaRPr sz="2000" b="0" i="0" u="none" strike="noStrike" cap="none">
              <a:solidFill>
                <a:srgbClr val="0157A3"/>
              </a:solidFill>
              <a:latin typeface="Arial"/>
              <a:ea typeface="Arial"/>
              <a:cs typeface="Arial"/>
              <a:sym typeface="Arial"/>
            </a:endParaRPr>
          </a:p>
        </p:txBody>
      </p:sp>
      <p:sp>
        <p:nvSpPr>
          <p:cNvPr id="1406" name="Google Shape;1406;p18"/>
          <p:cNvSpPr txBox="1"/>
          <p:nvPr/>
        </p:nvSpPr>
        <p:spPr>
          <a:xfrm>
            <a:off x="468626" y="928793"/>
            <a:ext cx="8478900" cy="585000"/>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600"/>
              <a:buFont typeface="Arial"/>
              <a:buChar char="-"/>
            </a:pPr>
            <a:r>
              <a:rPr lang="en-GB" sz="1600">
                <a:solidFill>
                  <a:schemeClr val="dk1"/>
                </a:solidFill>
                <a:latin typeface="Arial"/>
                <a:ea typeface="Arial"/>
                <a:cs typeface="Arial"/>
                <a:sym typeface="Arial"/>
              </a:rPr>
              <a:t>Fission gases from the intra-granular diffusion are accumulated in grain-boundary</a:t>
            </a:r>
            <a:r>
              <a:rPr lang="en-GB" sz="1600">
                <a:solidFill>
                  <a:schemeClr val="dk1"/>
                </a:solidFill>
              </a:rPr>
              <a:t> </a:t>
            </a:r>
            <a:r>
              <a:rPr lang="en-GB" sz="1600">
                <a:solidFill>
                  <a:schemeClr val="dk1"/>
                </a:solidFill>
                <a:latin typeface="Arial"/>
                <a:ea typeface="Arial"/>
                <a:cs typeface="Arial"/>
                <a:sym typeface="Arial"/>
              </a:rPr>
              <a:t>bubbles</a:t>
            </a:r>
            <a:endParaRPr/>
          </a:p>
          <a:p>
            <a:pPr marL="171450" marR="0" lvl="0" indent="-171450" algn="l" rtl="0">
              <a:spcBef>
                <a:spcPts val="0"/>
              </a:spcBef>
              <a:spcAft>
                <a:spcPts val="0"/>
              </a:spcAft>
              <a:buClr>
                <a:schemeClr val="dk1"/>
              </a:buClr>
              <a:buSzPts val="1600"/>
              <a:buFont typeface="Arial"/>
              <a:buChar char="-"/>
            </a:pPr>
            <a:r>
              <a:rPr lang="en-GB" sz="1600">
                <a:solidFill>
                  <a:schemeClr val="dk1"/>
                </a:solidFill>
              </a:rPr>
              <a:t>Grain boundary</a:t>
            </a:r>
            <a:r>
              <a:rPr lang="en-GB" sz="1600">
                <a:solidFill>
                  <a:schemeClr val="dk1"/>
                </a:solidFill>
                <a:latin typeface="Arial"/>
                <a:ea typeface="Arial"/>
                <a:cs typeface="Arial"/>
                <a:sym typeface="Arial"/>
              </a:rPr>
              <a:t> bubble evolution leads to </a:t>
            </a:r>
            <a:r>
              <a:rPr lang="en-GB" sz="1600" b="1">
                <a:solidFill>
                  <a:schemeClr val="dk1"/>
                </a:solidFill>
              </a:rPr>
              <a:t>fission gas release</a:t>
            </a:r>
            <a:r>
              <a:rPr lang="en-GB" sz="1600">
                <a:solidFill>
                  <a:schemeClr val="dk1"/>
                </a:solidFill>
                <a:latin typeface="Arial"/>
                <a:ea typeface="Arial"/>
                <a:cs typeface="Arial"/>
                <a:sym typeface="Arial"/>
              </a:rPr>
              <a:t> and </a:t>
            </a:r>
            <a:r>
              <a:rPr lang="en-GB" sz="1600" b="1">
                <a:solidFill>
                  <a:schemeClr val="dk1"/>
                </a:solidFill>
                <a:latin typeface="Arial"/>
                <a:ea typeface="Arial"/>
                <a:cs typeface="Arial"/>
                <a:sym typeface="Arial"/>
              </a:rPr>
              <a:t>gaseous swelling</a:t>
            </a:r>
            <a:endParaRPr/>
          </a:p>
        </p:txBody>
      </p:sp>
      <p:cxnSp>
        <p:nvCxnSpPr>
          <p:cNvPr id="1407" name="Google Shape;1407;p18"/>
          <p:cNvCxnSpPr/>
          <p:nvPr/>
        </p:nvCxnSpPr>
        <p:spPr>
          <a:xfrm>
            <a:off x="4506987" y="2315742"/>
            <a:ext cx="816900" cy="2100"/>
          </a:xfrm>
          <a:prstGeom prst="straightConnector1">
            <a:avLst/>
          </a:prstGeom>
          <a:noFill/>
          <a:ln w="28575" cap="flat" cmpd="sng">
            <a:solidFill>
              <a:srgbClr val="FF0000"/>
            </a:solidFill>
            <a:prstDash val="solid"/>
            <a:miter lim="8000"/>
            <a:headEnd type="none" w="sm" len="sm"/>
            <a:tailEnd type="triangle" w="med" len="med"/>
          </a:ln>
        </p:spPr>
      </p:cxnSp>
      <p:sp>
        <p:nvSpPr>
          <p:cNvPr id="1408" name="Google Shape;1408;p18"/>
          <p:cNvSpPr/>
          <p:nvPr/>
        </p:nvSpPr>
        <p:spPr>
          <a:xfrm rot="5400000">
            <a:off x="1570055" y="2479758"/>
            <a:ext cx="1081829" cy="1215308"/>
          </a:xfrm>
          <a:prstGeom prst="flowChartOnlineStorage">
            <a:avLst/>
          </a:prstGeom>
          <a:solidFill>
            <a:srgbClr val="747474"/>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1409" name="Google Shape;1409;p18"/>
          <p:cNvSpPr/>
          <p:nvPr/>
        </p:nvSpPr>
        <p:spPr>
          <a:xfrm rot="5400000">
            <a:off x="1586335" y="2572011"/>
            <a:ext cx="1049166" cy="1063461"/>
          </a:xfrm>
          <a:prstGeom prst="flowChartOnlineStorage">
            <a:avLst/>
          </a:prstGeom>
          <a:solidFill>
            <a:srgbClr val="BFBFBF"/>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1410" name="Google Shape;1410;p18"/>
          <p:cNvSpPr/>
          <p:nvPr/>
        </p:nvSpPr>
        <p:spPr>
          <a:xfrm>
            <a:off x="1655057" y="2613597"/>
            <a:ext cx="912000" cy="1080000"/>
          </a:xfrm>
          <a:prstGeom prst="can">
            <a:avLst>
              <a:gd name="adj" fmla="val 31808"/>
            </a:avLst>
          </a:prstGeom>
          <a:solidFill>
            <a:srgbClr val="3A3A3A"/>
          </a:solidFill>
          <a:ln w="8825" cap="flat" cmpd="sng">
            <a:solidFill>
              <a:srgbClr val="191919"/>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1411" name="Google Shape;1411;p18"/>
          <p:cNvGrpSpPr/>
          <p:nvPr/>
        </p:nvGrpSpPr>
        <p:grpSpPr>
          <a:xfrm>
            <a:off x="1987897" y="2184150"/>
            <a:ext cx="394891" cy="518823"/>
            <a:chOff x="3796641" y="775621"/>
            <a:chExt cx="792000" cy="1119600"/>
          </a:xfrm>
        </p:grpSpPr>
        <p:cxnSp>
          <p:nvCxnSpPr>
            <p:cNvPr id="1412" name="Google Shape;1412;p18"/>
            <p:cNvCxnSpPr>
              <a:stCxn id="1413" idx="2"/>
            </p:cNvCxnSpPr>
            <p:nvPr/>
          </p:nvCxnSpPr>
          <p:spPr>
            <a:xfrm flipH="1">
              <a:off x="4032441" y="1063621"/>
              <a:ext cx="160200" cy="831600"/>
            </a:xfrm>
            <a:prstGeom prst="straightConnector1">
              <a:avLst/>
            </a:prstGeom>
            <a:noFill/>
            <a:ln w="5900" cap="flat" cmpd="sng">
              <a:solidFill>
                <a:srgbClr val="262626"/>
              </a:solidFill>
              <a:prstDash val="solid"/>
              <a:miter lim="800000"/>
              <a:headEnd type="none" w="sm" len="sm"/>
              <a:tailEnd type="none" w="sm" len="sm"/>
            </a:ln>
          </p:spPr>
        </p:cxnSp>
        <p:sp>
          <p:nvSpPr>
            <p:cNvPr id="1413" name="Google Shape;1413;p18"/>
            <p:cNvSpPr/>
            <p:nvPr/>
          </p:nvSpPr>
          <p:spPr>
            <a:xfrm>
              <a:off x="3796641" y="77562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Pellet</a:t>
              </a:r>
              <a:endParaRPr sz="555">
                <a:solidFill>
                  <a:srgbClr val="262626"/>
                </a:solidFill>
                <a:latin typeface="Arial"/>
                <a:ea typeface="Arial"/>
                <a:cs typeface="Arial"/>
                <a:sym typeface="Arial"/>
              </a:endParaRPr>
            </a:p>
          </p:txBody>
        </p:sp>
      </p:grpSp>
      <p:cxnSp>
        <p:nvCxnSpPr>
          <p:cNvPr id="1414" name="Google Shape;1414;p18"/>
          <p:cNvCxnSpPr/>
          <p:nvPr/>
        </p:nvCxnSpPr>
        <p:spPr>
          <a:xfrm rot="10800000" flipH="1">
            <a:off x="2641066" y="2728375"/>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1415" name="Google Shape;1415;p18"/>
          <p:cNvGrpSpPr/>
          <p:nvPr/>
        </p:nvGrpSpPr>
        <p:grpSpPr>
          <a:xfrm>
            <a:off x="2642328" y="3301828"/>
            <a:ext cx="77183" cy="323764"/>
            <a:chOff x="9755471" y="3187529"/>
            <a:chExt cx="154800" cy="698671"/>
          </a:xfrm>
        </p:grpSpPr>
        <p:cxnSp>
          <p:nvCxnSpPr>
            <p:cNvPr id="1416" name="Google Shape;1416;p18"/>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1417" name="Google Shape;1417;p18"/>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cxnSp>
        <p:nvCxnSpPr>
          <p:cNvPr id="1418" name="Google Shape;1418;p18"/>
          <p:cNvCxnSpPr/>
          <p:nvPr/>
        </p:nvCxnSpPr>
        <p:spPr>
          <a:xfrm>
            <a:off x="1503317" y="2728403"/>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1419" name="Google Shape;1419;p18"/>
          <p:cNvGrpSpPr/>
          <p:nvPr/>
        </p:nvGrpSpPr>
        <p:grpSpPr>
          <a:xfrm>
            <a:off x="1503467" y="3301828"/>
            <a:ext cx="77183" cy="323764"/>
            <a:chOff x="9755471" y="3187529"/>
            <a:chExt cx="154800" cy="698671"/>
          </a:xfrm>
        </p:grpSpPr>
        <p:cxnSp>
          <p:nvCxnSpPr>
            <p:cNvPr id="1420" name="Google Shape;1420;p18"/>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1421" name="Google Shape;1421;p18"/>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grpSp>
        <p:nvGrpSpPr>
          <p:cNvPr id="1422" name="Google Shape;1422;p18"/>
          <p:cNvGrpSpPr/>
          <p:nvPr/>
        </p:nvGrpSpPr>
        <p:grpSpPr>
          <a:xfrm>
            <a:off x="932165" y="2579247"/>
            <a:ext cx="602957" cy="414558"/>
            <a:chOff x="2866933" y="933607"/>
            <a:chExt cx="1209300" cy="894600"/>
          </a:xfrm>
        </p:grpSpPr>
        <p:cxnSp>
          <p:nvCxnSpPr>
            <p:cNvPr id="1423" name="Google Shape;1423;p18"/>
            <p:cNvCxnSpPr>
              <a:stCxn id="1424" idx="3"/>
            </p:cNvCxnSpPr>
            <p:nvPr/>
          </p:nvCxnSpPr>
          <p:spPr>
            <a:xfrm>
              <a:off x="3658933" y="1077607"/>
              <a:ext cx="417300" cy="750600"/>
            </a:xfrm>
            <a:prstGeom prst="straightConnector1">
              <a:avLst/>
            </a:prstGeom>
            <a:noFill/>
            <a:ln w="5900" cap="flat" cmpd="sng">
              <a:solidFill>
                <a:srgbClr val="262626"/>
              </a:solidFill>
              <a:prstDash val="solid"/>
              <a:miter lim="800000"/>
              <a:headEnd type="none" w="sm" len="sm"/>
              <a:tailEnd type="none" w="sm" len="sm"/>
            </a:ln>
          </p:spPr>
        </p:cxnSp>
        <p:sp>
          <p:nvSpPr>
            <p:cNvPr id="1424" name="Google Shape;1424;p18"/>
            <p:cNvSpPr/>
            <p:nvPr/>
          </p:nvSpPr>
          <p:spPr>
            <a:xfrm>
              <a:off x="2866933" y="933607"/>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Cladding</a:t>
              </a:r>
              <a:endParaRPr sz="555">
                <a:solidFill>
                  <a:srgbClr val="262626"/>
                </a:solidFill>
                <a:latin typeface="Arial"/>
                <a:ea typeface="Arial"/>
                <a:cs typeface="Arial"/>
                <a:sym typeface="Arial"/>
              </a:endParaRPr>
            </a:p>
          </p:txBody>
        </p:sp>
      </p:grpSp>
      <p:grpSp>
        <p:nvGrpSpPr>
          <p:cNvPr id="1425" name="Google Shape;1425;p18"/>
          <p:cNvGrpSpPr/>
          <p:nvPr/>
        </p:nvGrpSpPr>
        <p:grpSpPr>
          <a:xfrm>
            <a:off x="1338863" y="2215040"/>
            <a:ext cx="394891" cy="701356"/>
            <a:chOff x="4708781" y="1062201"/>
            <a:chExt cx="792000" cy="1513500"/>
          </a:xfrm>
        </p:grpSpPr>
        <p:cxnSp>
          <p:nvCxnSpPr>
            <p:cNvPr id="1426" name="Google Shape;1426;p18"/>
            <p:cNvCxnSpPr>
              <a:stCxn id="1427" idx="2"/>
            </p:cNvCxnSpPr>
            <p:nvPr/>
          </p:nvCxnSpPr>
          <p:spPr>
            <a:xfrm>
              <a:off x="5104781" y="1350201"/>
              <a:ext cx="190500" cy="1225500"/>
            </a:xfrm>
            <a:prstGeom prst="straightConnector1">
              <a:avLst/>
            </a:prstGeom>
            <a:noFill/>
            <a:ln w="5900" cap="flat" cmpd="sng">
              <a:solidFill>
                <a:srgbClr val="262626"/>
              </a:solidFill>
              <a:prstDash val="solid"/>
              <a:miter lim="800000"/>
              <a:headEnd type="none" w="sm" len="sm"/>
              <a:tailEnd type="none" w="sm" len="sm"/>
            </a:ln>
          </p:spPr>
        </p:cxnSp>
        <p:sp>
          <p:nvSpPr>
            <p:cNvPr id="1427" name="Google Shape;1427;p18"/>
            <p:cNvSpPr/>
            <p:nvPr/>
          </p:nvSpPr>
          <p:spPr>
            <a:xfrm>
              <a:off x="4708781" y="106220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Gap</a:t>
              </a:r>
              <a:endParaRPr sz="555">
                <a:solidFill>
                  <a:srgbClr val="262626"/>
                </a:solidFill>
                <a:latin typeface="Arial"/>
                <a:ea typeface="Arial"/>
                <a:cs typeface="Arial"/>
                <a:sym typeface="Arial"/>
              </a:endParaRPr>
            </a:p>
          </p:txBody>
        </p:sp>
      </p:grpSp>
      <p:cxnSp>
        <p:nvCxnSpPr>
          <p:cNvPr id="1428" name="Google Shape;1428;p18"/>
          <p:cNvCxnSpPr/>
          <p:nvPr/>
        </p:nvCxnSpPr>
        <p:spPr>
          <a:xfrm rot="10800000" flipH="1">
            <a:off x="2252439" y="2543577"/>
            <a:ext cx="940500" cy="536400"/>
          </a:xfrm>
          <a:prstGeom prst="straightConnector1">
            <a:avLst/>
          </a:prstGeom>
          <a:noFill/>
          <a:ln w="8825" cap="flat" cmpd="sng">
            <a:solidFill>
              <a:srgbClr val="000000"/>
            </a:solidFill>
            <a:prstDash val="solid"/>
            <a:miter lim="800000"/>
            <a:headEnd type="none" w="sm" len="sm"/>
            <a:tailEnd type="none" w="sm" len="sm"/>
          </a:ln>
        </p:spPr>
      </p:cxnSp>
      <p:cxnSp>
        <p:nvCxnSpPr>
          <p:cNvPr id="1429" name="Google Shape;1429;p18"/>
          <p:cNvCxnSpPr/>
          <p:nvPr/>
        </p:nvCxnSpPr>
        <p:spPr>
          <a:xfrm>
            <a:off x="2252439" y="3236150"/>
            <a:ext cx="940500" cy="150000"/>
          </a:xfrm>
          <a:prstGeom prst="straightConnector1">
            <a:avLst/>
          </a:prstGeom>
          <a:noFill/>
          <a:ln w="8825" cap="flat" cmpd="sng">
            <a:solidFill>
              <a:srgbClr val="000000"/>
            </a:solidFill>
            <a:prstDash val="solid"/>
            <a:miter lim="800000"/>
            <a:headEnd type="none" w="sm" len="sm"/>
            <a:tailEnd type="none" w="sm" len="sm"/>
          </a:ln>
        </p:spPr>
      </p:cxnSp>
      <p:sp>
        <p:nvSpPr>
          <p:cNvPr id="1430" name="Google Shape;1430;p18"/>
          <p:cNvSpPr/>
          <p:nvPr/>
        </p:nvSpPr>
        <p:spPr>
          <a:xfrm>
            <a:off x="3192932" y="2543397"/>
            <a:ext cx="901800" cy="842700"/>
          </a:xfrm>
          <a:prstGeom prst="rect">
            <a:avLst/>
          </a:prstGeom>
          <a:solidFill>
            <a:srgbClr val="747474"/>
          </a:solidFill>
          <a:ln w="8825" cap="flat" cmpd="sng">
            <a:solidFill>
              <a:srgbClr val="08283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1431" name="Google Shape;1431;p18"/>
          <p:cNvGrpSpPr/>
          <p:nvPr/>
        </p:nvGrpSpPr>
        <p:grpSpPr>
          <a:xfrm>
            <a:off x="3597758" y="2543463"/>
            <a:ext cx="496613" cy="458486"/>
            <a:chOff x="861338" y="1593726"/>
            <a:chExt cx="2895700" cy="2812800"/>
          </a:xfrm>
        </p:grpSpPr>
        <p:pic>
          <p:nvPicPr>
            <p:cNvPr id="1432" name="Google Shape;1432;p18"/>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433" name="Google Shape;1433;p18"/>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434" name="Google Shape;1434;p18"/>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435" name="Google Shape;1435;p18"/>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436" name="Google Shape;1436;p18"/>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437" name="Google Shape;1437;p18"/>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438" name="Google Shape;1438;p18"/>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439" name="Google Shape;1439;p18"/>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40" name="Google Shape;1440;p18"/>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41" name="Google Shape;1441;p18"/>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2" name="Google Shape;1442;p18"/>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3" name="Google Shape;1443;p18"/>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4" name="Google Shape;1444;p18"/>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45" name="Google Shape;1445;p18"/>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6" name="Google Shape;1446;p18"/>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7" name="Google Shape;1447;p18"/>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8" name="Google Shape;1448;p18"/>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9" name="Google Shape;1449;p18"/>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0" name="Google Shape;1450;p18"/>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1" name="Google Shape;1451;p18"/>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2" name="Google Shape;1452;p18"/>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3" name="Google Shape;1453;p18"/>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4" name="Google Shape;1454;p18"/>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5" name="Google Shape;1455;p18"/>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56" name="Google Shape;1456;p18"/>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57" name="Google Shape;1457;p18"/>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8" name="Google Shape;1458;p18"/>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59" name="Google Shape;1459;p18"/>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60" name="Google Shape;1460;p18"/>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1" name="Google Shape;1461;p18"/>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2" name="Google Shape;1462;p18"/>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3" name="Google Shape;1463;p18"/>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4" name="Google Shape;1464;p18"/>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5" name="Google Shape;1465;p18"/>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6" name="Google Shape;1466;p18"/>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7" name="Google Shape;1467;p18"/>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8" name="Google Shape;1468;p18"/>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9" name="Google Shape;1469;p18"/>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0" name="Google Shape;1470;p18"/>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1" name="Google Shape;1471;p18"/>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2" name="Google Shape;1472;p18"/>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3" name="Google Shape;1473;p18"/>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4" name="Google Shape;1474;p18"/>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5" name="Google Shape;1475;p18"/>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6" name="Google Shape;1476;p18"/>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7" name="Google Shape;1477;p18"/>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8" name="Google Shape;1478;p18"/>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79" name="Google Shape;1479;p18"/>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0" name="Google Shape;1480;p18"/>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1" name="Google Shape;1481;p18"/>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2" name="Google Shape;1482;p18"/>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3" name="Google Shape;1483;p18"/>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84" name="Google Shape;1484;p18"/>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85" name="Google Shape;1485;p18"/>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86" name="Google Shape;1486;p18"/>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7" name="Google Shape;1487;p18"/>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8" name="Google Shape;1488;p18"/>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9" name="Google Shape;1489;p18"/>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0" name="Google Shape;1490;p18"/>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1" name="Google Shape;1491;p18"/>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2" name="Google Shape;1492;p18"/>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3" name="Google Shape;1493;p18"/>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4" name="Google Shape;1494;p18"/>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95" name="Google Shape;1495;p18"/>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96" name="Google Shape;1496;p18"/>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7" name="Google Shape;1497;p18"/>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8" name="Google Shape;1498;p18"/>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9" name="Google Shape;1499;p18"/>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00" name="Google Shape;1500;p18"/>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01" name="Google Shape;1501;p18"/>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02" name="Google Shape;1502;p18"/>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03" name="Google Shape;1503;p18"/>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4" name="Google Shape;1504;p18"/>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5" name="Google Shape;1505;p18"/>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6" name="Google Shape;1506;p18"/>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7" name="Google Shape;1507;p18"/>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8" name="Google Shape;1508;p18"/>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9" name="Google Shape;1509;p18"/>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0" name="Google Shape;1510;p18"/>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1" name="Google Shape;1511;p18"/>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2" name="Google Shape;1512;p18"/>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3" name="Google Shape;1513;p18"/>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4" name="Google Shape;1514;p18"/>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15" name="Google Shape;1515;p18"/>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516" name="Google Shape;1516;p18"/>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517" name="Google Shape;1517;p18"/>
          <p:cNvGrpSpPr/>
          <p:nvPr/>
        </p:nvGrpSpPr>
        <p:grpSpPr>
          <a:xfrm>
            <a:off x="3187382" y="2552186"/>
            <a:ext cx="429722" cy="396324"/>
            <a:chOff x="861338" y="1593726"/>
            <a:chExt cx="2895700" cy="2812800"/>
          </a:xfrm>
        </p:grpSpPr>
        <p:pic>
          <p:nvPicPr>
            <p:cNvPr id="1518" name="Google Shape;1518;p18"/>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519" name="Google Shape;1519;p18"/>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520" name="Google Shape;1520;p18"/>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521" name="Google Shape;1521;p18"/>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522" name="Google Shape;1522;p18"/>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523" name="Google Shape;1523;p18"/>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524" name="Google Shape;1524;p18"/>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525" name="Google Shape;1525;p18"/>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26" name="Google Shape;1526;p18"/>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27" name="Google Shape;1527;p18"/>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28" name="Google Shape;1528;p18"/>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29" name="Google Shape;1529;p18"/>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0" name="Google Shape;1530;p18"/>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31" name="Google Shape;1531;p18"/>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2" name="Google Shape;1532;p18"/>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3" name="Google Shape;1533;p18"/>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4" name="Google Shape;1534;p18"/>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5" name="Google Shape;1535;p18"/>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6" name="Google Shape;1536;p18"/>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7" name="Google Shape;1537;p18"/>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8" name="Google Shape;1538;p18"/>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9" name="Google Shape;1539;p18"/>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0" name="Google Shape;1540;p18"/>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1" name="Google Shape;1541;p18"/>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42" name="Google Shape;1542;p18"/>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43" name="Google Shape;1543;p18"/>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4" name="Google Shape;1544;p18"/>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45" name="Google Shape;1545;p18"/>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46" name="Google Shape;1546;p18"/>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7" name="Google Shape;1547;p18"/>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8" name="Google Shape;1548;p18"/>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9" name="Google Shape;1549;p18"/>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0" name="Google Shape;1550;p18"/>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1" name="Google Shape;1551;p18"/>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2" name="Google Shape;1552;p18"/>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3" name="Google Shape;1553;p18"/>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4" name="Google Shape;1554;p18"/>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5" name="Google Shape;1555;p18"/>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6" name="Google Shape;1556;p18"/>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7" name="Google Shape;1557;p18"/>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8" name="Google Shape;1558;p18"/>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9" name="Google Shape;1559;p18"/>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0" name="Google Shape;1560;p18"/>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1" name="Google Shape;1561;p18"/>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2" name="Google Shape;1562;p18"/>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3" name="Google Shape;1563;p18"/>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4" name="Google Shape;1564;p18"/>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65" name="Google Shape;1565;p18"/>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6" name="Google Shape;1566;p18"/>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7" name="Google Shape;1567;p18"/>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8" name="Google Shape;1568;p18"/>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9" name="Google Shape;1569;p18"/>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0" name="Google Shape;1570;p18"/>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1" name="Google Shape;1571;p18"/>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2" name="Google Shape;1572;p18"/>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73" name="Google Shape;1573;p18"/>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74" name="Google Shape;1574;p18"/>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75" name="Google Shape;1575;p18"/>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6" name="Google Shape;1576;p18"/>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7" name="Google Shape;1577;p18"/>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8" name="Google Shape;1578;p18"/>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9" name="Google Shape;1579;p18"/>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0" name="Google Shape;1580;p18"/>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81" name="Google Shape;1581;p18"/>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82" name="Google Shape;1582;p18"/>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3" name="Google Shape;1583;p18"/>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4" name="Google Shape;1584;p18"/>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5" name="Google Shape;1585;p18"/>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6" name="Google Shape;1586;p18"/>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7" name="Google Shape;1587;p18"/>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8" name="Google Shape;1588;p18"/>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9" name="Google Shape;1589;p18"/>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0" name="Google Shape;1590;p18"/>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1" name="Google Shape;1591;p18"/>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2" name="Google Shape;1592;p18"/>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3" name="Google Shape;1593;p18"/>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4" name="Google Shape;1594;p18"/>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5" name="Google Shape;1595;p18"/>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6" name="Google Shape;1596;p18"/>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7" name="Google Shape;1597;p18"/>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8" name="Google Shape;1598;p18"/>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9" name="Google Shape;1599;p18"/>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00" name="Google Shape;1600;p18"/>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01" name="Google Shape;1601;p18"/>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602" name="Google Shape;1602;p18"/>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603" name="Google Shape;1603;p18"/>
          <p:cNvGrpSpPr/>
          <p:nvPr/>
        </p:nvGrpSpPr>
        <p:grpSpPr>
          <a:xfrm>
            <a:off x="3309046" y="2921215"/>
            <a:ext cx="496613" cy="458486"/>
            <a:chOff x="861338" y="1593726"/>
            <a:chExt cx="2895700" cy="2812800"/>
          </a:xfrm>
        </p:grpSpPr>
        <p:pic>
          <p:nvPicPr>
            <p:cNvPr id="1604" name="Google Shape;1604;p18"/>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605" name="Google Shape;1605;p18"/>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606" name="Google Shape;1606;p18"/>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607" name="Google Shape;1607;p18"/>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608" name="Google Shape;1608;p18"/>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609" name="Google Shape;1609;p18"/>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610" name="Google Shape;1610;p18"/>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611" name="Google Shape;1611;p18"/>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12" name="Google Shape;1612;p18"/>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13" name="Google Shape;1613;p18"/>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4" name="Google Shape;1614;p18"/>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5" name="Google Shape;1615;p18"/>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6" name="Google Shape;1616;p18"/>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17" name="Google Shape;1617;p18"/>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8" name="Google Shape;1618;p18"/>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9" name="Google Shape;1619;p18"/>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0" name="Google Shape;1620;p18"/>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1" name="Google Shape;1621;p18"/>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2" name="Google Shape;1622;p18"/>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3" name="Google Shape;1623;p18"/>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4" name="Google Shape;1624;p18"/>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5" name="Google Shape;1625;p18"/>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6" name="Google Shape;1626;p18"/>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7" name="Google Shape;1627;p18"/>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28" name="Google Shape;1628;p18"/>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29" name="Google Shape;1629;p18"/>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0" name="Google Shape;1630;p18"/>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31" name="Google Shape;1631;p18"/>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32" name="Google Shape;1632;p18"/>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3" name="Google Shape;1633;p18"/>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4" name="Google Shape;1634;p18"/>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5" name="Google Shape;1635;p18"/>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6" name="Google Shape;1636;p18"/>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7" name="Google Shape;1637;p18"/>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8" name="Google Shape;1638;p18"/>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9" name="Google Shape;1639;p18"/>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0" name="Google Shape;1640;p18"/>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1" name="Google Shape;1641;p18"/>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2" name="Google Shape;1642;p18"/>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3" name="Google Shape;1643;p18"/>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4" name="Google Shape;1644;p18"/>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5" name="Google Shape;1645;p18"/>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6" name="Google Shape;1646;p18"/>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7" name="Google Shape;1647;p18"/>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8" name="Google Shape;1648;p18"/>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9" name="Google Shape;1649;p18"/>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0" name="Google Shape;1650;p18"/>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51" name="Google Shape;1651;p18"/>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2" name="Google Shape;1652;p18"/>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3" name="Google Shape;1653;p18"/>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4" name="Google Shape;1654;p18"/>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5" name="Google Shape;1655;p18"/>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56" name="Google Shape;1656;p18"/>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57" name="Google Shape;1657;p18"/>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58" name="Google Shape;1658;p18"/>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9" name="Google Shape;1659;p18"/>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60" name="Google Shape;1660;p18"/>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61" name="Google Shape;1661;p18"/>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2" name="Google Shape;1662;p18"/>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3" name="Google Shape;1663;p18"/>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4" name="Google Shape;1664;p18"/>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5" name="Google Shape;1665;p18"/>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6" name="Google Shape;1666;p18"/>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67" name="Google Shape;1667;p18"/>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68" name="Google Shape;1668;p18"/>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9" name="Google Shape;1669;p18"/>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0" name="Google Shape;1670;p18"/>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1" name="Google Shape;1671;p18"/>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2" name="Google Shape;1672;p18"/>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3" name="Google Shape;1673;p18"/>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4" name="Google Shape;1674;p18"/>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5" name="Google Shape;1675;p18"/>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76" name="Google Shape;1676;p18"/>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77" name="Google Shape;1677;p18"/>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78" name="Google Shape;1678;p18"/>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79" name="Google Shape;1679;p18"/>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0" name="Google Shape;1680;p18"/>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1" name="Google Shape;1681;p18"/>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2" name="Google Shape;1682;p18"/>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3" name="Google Shape;1683;p18"/>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4" name="Google Shape;1684;p18"/>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5" name="Google Shape;1685;p18"/>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6" name="Google Shape;1686;p18"/>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87" name="Google Shape;1687;p18"/>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688" name="Google Shape;1688;p18"/>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689" name="Google Shape;1689;p18"/>
          <p:cNvGrpSpPr/>
          <p:nvPr/>
        </p:nvGrpSpPr>
        <p:grpSpPr>
          <a:xfrm>
            <a:off x="3073160" y="2301503"/>
            <a:ext cx="394891" cy="387449"/>
            <a:chOff x="2669487" y="1048029"/>
            <a:chExt cx="792000" cy="836100"/>
          </a:xfrm>
        </p:grpSpPr>
        <p:cxnSp>
          <p:nvCxnSpPr>
            <p:cNvPr id="1690" name="Google Shape;1690;p18"/>
            <p:cNvCxnSpPr>
              <a:stCxn id="1691" idx="2"/>
              <a:endCxn id="1528" idx="7"/>
            </p:cNvCxnSpPr>
            <p:nvPr/>
          </p:nvCxnSpPr>
          <p:spPr>
            <a:xfrm>
              <a:off x="3065487" y="1336029"/>
              <a:ext cx="227700" cy="548100"/>
            </a:xfrm>
            <a:prstGeom prst="straightConnector1">
              <a:avLst/>
            </a:prstGeom>
            <a:noFill/>
            <a:ln w="5900" cap="flat" cmpd="sng">
              <a:solidFill>
                <a:srgbClr val="262626"/>
              </a:solidFill>
              <a:prstDash val="solid"/>
              <a:miter lim="800000"/>
              <a:headEnd type="none" w="sm" len="sm"/>
              <a:tailEnd type="none" w="sm" len="sm"/>
            </a:ln>
          </p:spPr>
        </p:cxnSp>
        <p:sp>
          <p:nvSpPr>
            <p:cNvPr id="1691" name="Google Shape;1691;p18"/>
            <p:cNvSpPr/>
            <p:nvPr/>
          </p:nvSpPr>
          <p:spPr>
            <a:xfrm>
              <a:off x="2669487" y="1048029"/>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Grains</a:t>
              </a:r>
              <a:endParaRPr sz="555">
                <a:solidFill>
                  <a:srgbClr val="262626"/>
                </a:solidFill>
                <a:latin typeface="Arial"/>
                <a:ea typeface="Arial"/>
                <a:cs typeface="Arial"/>
                <a:sym typeface="Arial"/>
              </a:endParaRPr>
            </a:p>
          </p:txBody>
        </p:sp>
      </p:grpSp>
      <p:cxnSp>
        <p:nvCxnSpPr>
          <p:cNvPr id="1692" name="Google Shape;1692;p18"/>
          <p:cNvCxnSpPr>
            <a:stCxn id="1691" idx="2"/>
            <a:endCxn id="1513" idx="5"/>
          </p:cNvCxnSpPr>
          <p:nvPr/>
        </p:nvCxnSpPr>
        <p:spPr>
          <a:xfrm>
            <a:off x="3270606" y="2434963"/>
            <a:ext cx="563100" cy="154800"/>
          </a:xfrm>
          <a:prstGeom prst="straightConnector1">
            <a:avLst/>
          </a:prstGeom>
          <a:noFill/>
          <a:ln w="5900" cap="flat" cmpd="sng">
            <a:solidFill>
              <a:srgbClr val="262626"/>
            </a:solidFill>
            <a:prstDash val="solid"/>
            <a:miter lim="800000"/>
            <a:headEnd type="none" w="sm" len="sm"/>
            <a:tailEnd type="none" w="sm" len="sm"/>
          </a:ln>
        </p:spPr>
      </p:cxnSp>
      <p:grpSp>
        <p:nvGrpSpPr>
          <p:cNvPr id="1693" name="Google Shape;1693;p18"/>
          <p:cNvGrpSpPr/>
          <p:nvPr/>
        </p:nvGrpSpPr>
        <p:grpSpPr>
          <a:xfrm>
            <a:off x="3555987" y="2247224"/>
            <a:ext cx="721987" cy="362981"/>
            <a:chOff x="2703097" y="980611"/>
            <a:chExt cx="792000" cy="783300"/>
          </a:xfrm>
        </p:grpSpPr>
        <p:cxnSp>
          <p:nvCxnSpPr>
            <p:cNvPr id="1694" name="Google Shape;1694;p18"/>
            <p:cNvCxnSpPr>
              <a:stCxn id="1695" idx="2"/>
              <a:endCxn id="1525" idx="7"/>
            </p:cNvCxnSpPr>
            <p:nvPr/>
          </p:nvCxnSpPr>
          <p:spPr>
            <a:xfrm flipH="1">
              <a:off x="2703097" y="1268611"/>
              <a:ext cx="396000" cy="495300"/>
            </a:xfrm>
            <a:prstGeom prst="straightConnector1">
              <a:avLst/>
            </a:prstGeom>
            <a:noFill/>
            <a:ln w="5900" cap="flat" cmpd="sng">
              <a:solidFill>
                <a:srgbClr val="262626"/>
              </a:solidFill>
              <a:prstDash val="solid"/>
              <a:miter lim="800000"/>
              <a:headEnd type="none" w="sm" len="sm"/>
              <a:tailEnd type="none" w="sm" len="sm"/>
            </a:ln>
          </p:spPr>
        </p:cxnSp>
        <p:sp>
          <p:nvSpPr>
            <p:cNvPr id="1695" name="Google Shape;1695;p18"/>
            <p:cNvSpPr/>
            <p:nvPr/>
          </p:nvSpPr>
          <p:spPr>
            <a:xfrm>
              <a:off x="2703097" y="98061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 boundary</a:t>
              </a:r>
              <a:endParaRPr sz="555">
                <a:solidFill>
                  <a:srgbClr val="262626"/>
                </a:solidFill>
                <a:latin typeface="Arial"/>
                <a:ea typeface="Arial"/>
                <a:cs typeface="Arial"/>
                <a:sym typeface="Arial"/>
              </a:endParaRPr>
            </a:p>
          </p:txBody>
        </p:sp>
      </p:grpSp>
      <p:sp>
        <p:nvSpPr>
          <p:cNvPr id="1696" name="Google Shape;1696;p18"/>
          <p:cNvSpPr/>
          <p:nvPr/>
        </p:nvSpPr>
        <p:spPr>
          <a:xfrm>
            <a:off x="3594325" y="2127050"/>
            <a:ext cx="645300" cy="377400"/>
          </a:xfrm>
          <a:prstGeom prst="ellipse">
            <a:avLst/>
          </a:prstGeom>
          <a:noFill/>
          <a:ln w="28575"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p:grpSp>
        <p:nvGrpSpPr>
          <p:cNvPr id="1697" name="Google Shape;1697;p18"/>
          <p:cNvGrpSpPr/>
          <p:nvPr/>
        </p:nvGrpSpPr>
        <p:grpSpPr>
          <a:xfrm>
            <a:off x="5552799" y="2313871"/>
            <a:ext cx="3394381" cy="1680704"/>
            <a:chOff x="2302935" y="1000853"/>
            <a:chExt cx="8177262" cy="4048914"/>
          </a:xfrm>
        </p:grpSpPr>
        <p:sp>
          <p:nvSpPr>
            <p:cNvPr id="1698" name="Google Shape;1698;p18"/>
            <p:cNvSpPr/>
            <p:nvPr/>
          </p:nvSpPr>
          <p:spPr>
            <a:xfrm>
              <a:off x="2302935" y="1583267"/>
              <a:ext cx="3466500" cy="3466500"/>
            </a:xfrm>
            <a:prstGeom prst="ellipse">
              <a:avLst/>
            </a:prstGeom>
            <a:noFill/>
            <a:ln w="7925" cap="flat" cmpd="sng">
              <a:solidFill>
                <a:srgbClr val="082836"/>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699" name="Google Shape;1699;p18"/>
            <p:cNvSpPr/>
            <p:nvPr/>
          </p:nvSpPr>
          <p:spPr>
            <a:xfrm>
              <a:off x="5769343" y="1583267"/>
              <a:ext cx="2029800" cy="3466500"/>
            </a:xfrm>
            <a:prstGeom prst="rect">
              <a:avLst/>
            </a:prstGeom>
            <a:noFill/>
            <a:ln w="7925" cap="flat" cmpd="sng">
              <a:solidFill>
                <a:srgbClr val="082836"/>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0" name="Google Shape;1700;p18"/>
            <p:cNvSpPr txBox="1"/>
            <p:nvPr/>
          </p:nvSpPr>
          <p:spPr>
            <a:xfrm>
              <a:off x="3627257" y="1698166"/>
              <a:ext cx="817800" cy="3696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u="sng">
                  <a:solidFill>
                    <a:srgbClr val="000000"/>
                  </a:solidFill>
                  <a:latin typeface="Arial"/>
                  <a:ea typeface="Arial"/>
                  <a:cs typeface="Arial"/>
                  <a:sym typeface="Arial"/>
                </a:rPr>
                <a:t>Grain</a:t>
              </a:r>
              <a:endParaRPr sz="581"/>
            </a:p>
          </p:txBody>
        </p:sp>
        <p:sp>
          <p:nvSpPr>
            <p:cNvPr id="1701" name="Google Shape;1701;p18"/>
            <p:cNvSpPr txBox="1"/>
            <p:nvPr/>
          </p:nvSpPr>
          <p:spPr>
            <a:xfrm>
              <a:off x="5769343" y="1590686"/>
              <a:ext cx="1939800" cy="3696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u="sng">
                  <a:solidFill>
                    <a:srgbClr val="000000"/>
                  </a:solidFill>
                  <a:latin typeface="Arial"/>
                  <a:ea typeface="Arial"/>
                  <a:cs typeface="Arial"/>
                  <a:sym typeface="Arial"/>
                </a:rPr>
                <a:t>Grain boundary</a:t>
              </a:r>
              <a:endParaRPr sz="581"/>
            </a:p>
          </p:txBody>
        </p:sp>
        <p:sp>
          <p:nvSpPr>
            <p:cNvPr id="1702" name="Google Shape;1702;p18"/>
            <p:cNvSpPr/>
            <p:nvPr/>
          </p:nvSpPr>
          <p:spPr>
            <a:xfrm>
              <a:off x="3966675" y="2342109"/>
              <a:ext cx="138900" cy="138900"/>
            </a:xfrm>
            <a:prstGeom prst="ellipse">
              <a:avLst/>
            </a:prstGeom>
            <a:solidFill>
              <a:srgbClr val="196B24"/>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3" name="Google Shape;1703;p18"/>
            <p:cNvSpPr/>
            <p:nvPr/>
          </p:nvSpPr>
          <p:spPr>
            <a:xfrm>
              <a:off x="3431908" y="2385753"/>
              <a:ext cx="390600" cy="1945800"/>
            </a:xfrm>
            <a:prstGeom prst="curvedRightArrow">
              <a:avLst>
                <a:gd name="adj1" fmla="val 25000"/>
                <a:gd name="adj2" fmla="val 50000"/>
                <a:gd name="adj3" fmla="val 25000"/>
              </a:avLst>
            </a:prstGeom>
            <a:solidFill>
              <a:srgbClr val="0B769F"/>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sp>
          <p:nvSpPr>
            <p:cNvPr id="1704" name="Google Shape;1704;p18"/>
            <p:cNvSpPr/>
            <p:nvPr/>
          </p:nvSpPr>
          <p:spPr>
            <a:xfrm rot="10800000">
              <a:off x="4224795" y="2342179"/>
              <a:ext cx="390600" cy="1945800"/>
            </a:xfrm>
            <a:prstGeom prst="curvedRightArrow">
              <a:avLst>
                <a:gd name="adj1" fmla="val 25000"/>
                <a:gd name="adj2" fmla="val 50000"/>
                <a:gd name="adj3" fmla="val 25000"/>
              </a:avLst>
            </a:prstGeom>
            <a:solidFill>
              <a:srgbClr val="E97132"/>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grpSp>
          <p:nvGrpSpPr>
            <p:cNvPr id="1705" name="Google Shape;1705;p18"/>
            <p:cNvGrpSpPr/>
            <p:nvPr/>
          </p:nvGrpSpPr>
          <p:grpSpPr>
            <a:xfrm>
              <a:off x="3897210" y="4100560"/>
              <a:ext cx="223414" cy="244194"/>
              <a:chOff x="3897210" y="4100560"/>
              <a:chExt cx="223414" cy="244194"/>
            </a:xfrm>
          </p:grpSpPr>
          <p:sp>
            <p:nvSpPr>
              <p:cNvPr id="1706" name="Google Shape;1706;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7" name="Google Shape;1707;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8" name="Google Shape;1708;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9" name="Google Shape;1709;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10" name="Google Shape;1710;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sp>
          <p:nvSpPr>
            <p:cNvPr id="1711" name="Google Shape;1711;p18"/>
            <p:cNvSpPr/>
            <p:nvPr/>
          </p:nvSpPr>
          <p:spPr>
            <a:xfrm rot="-5400000" flipH="1">
              <a:off x="5105419" y="920044"/>
              <a:ext cx="253500" cy="2453400"/>
            </a:xfrm>
            <a:prstGeom prst="curvedRightArrow">
              <a:avLst>
                <a:gd name="adj1" fmla="val 24998"/>
                <a:gd name="adj2" fmla="val 64542"/>
                <a:gd name="adj3" fmla="val 25001"/>
              </a:avLst>
            </a:prstGeom>
            <a:solidFill>
              <a:srgbClr val="000000"/>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sp>
          <p:nvSpPr>
            <p:cNvPr id="1712" name="Google Shape;1712;p18"/>
            <p:cNvSpPr/>
            <p:nvPr/>
          </p:nvSpPr>
          <p:spPr>
            <a:xfrm>
              <a:off x="6958204" y="2194227"/>
              <a:ext cx="2357400" cy="660900"/>
            </a:xfrm>
            <a:prstGeom prst="rightArrow">
              <a:avLst>
                <a:gd name="adj1" fmla="val 50000"/>
                <a:gd name="adj2" fmla="val 50000"/>
              </a:avLst>
            </a:prstGeom>
            <a:solidFill>
              <a:srgbClr val="FFC000"/>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r>
                <a:rPr lang="en-GB" sz="705">
                  <a:solidFill>
                    <a:srgbClr val="000000"/>
                  </a:solidFill>
                  <a:latin typeface="Arial"/>
                  <a:ea typeface="Arial"/>
                  <a:cs typeface="Arial"/>
                  <a:sym typeface="Arial"/>
                </a:rPr>
                <a:t>Fission gas release</a:t>
              </a:r>
              <a:endParaRPr sz="664">
                <a:solidFill>
                  <a:srgbClr val="FFFFFF"/>
                </a:solidFill>
                <a:latin typeface="Arial"/>
                <a:ea typeface="Arial"/>
                <a:cs typeface="Arial"/>
                <a:sym typeface="Arial"/>
              </a:endParaRPr>
            </a:p>
          </p:txBody>
        </p:sp>
        <p:grpSp>
          <p:nvGrpSpPr>
            <p:cNvPr id="1713" name="Google Shape;1713;p18"/>
            <p:cNvGrpSpPr/>
            <p:nvPr/>
          </p:nvGrpSpPr>
          <p:grpSpPr>
            <a:xfrm>
              <a:off x="6341287" y="2281845"/>
              <a:ext cx="381920" cy="403587"/>
              <a:chOff x="6341287" y="2281845"/>
              <a:chExt cx="381920" cy="403587"/>
            </a:xfrm>
          </p:grpSpPr>
          <p:sp>
            <p:nvSpPr>
              <p:cNvPr id="1714" name="Google Shape;1714;p18"/>
              <p:cNvSpPr/>
              <p:nvPr/>
            </p:nvSpPr>
            <p:spPr>
              <a:xfrm>
                <a:off x="6379270" y="2316288"/>
                <a:ext cx="138900" cy="138900"/>
              </a:xfrm>
              <a:prstGeom prst="ellipse">
                <a:avLst/>
              </a:prstGeom>
              <a:solidFill>
                <a:srgbClr val="196B24"/>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nvGrpSpPr>
              <p:cNvPr id="1715" name="Google Shape;1715;p18"/>
              <p:cNvGrpSpPr/>
              <p:nvPr/>
            </p:nvGrpSpPr>
            <p:grpSpPr>
              <a:xfrm>
                <a:off x="6375924" y="2281845"/>
                <a:ext cx="223414" cy="244194"/>
                <a:chOff x="3897210" y="4100560"/>
                <a:chExt cx="223414" cy="244194"/>
              </a:xfrm>
            </p:grpSpPr>
            <p:sp>
              <p:nvSpPr>
                <p:cNvPr id="1716" name="Google Shape;1716;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17" name="Google Shape;1717;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18" name="Google Shape;1718;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19" name="Google Shape;1719;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0" name="Google Shape;1720;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1721" name="Google Shape;1721;p18"/>
              <p:cNvGrpSpPr/>
              <p:nvPr/>
            </p:nvGrpSpPr>
            <p:grpSpPr>
              <a:xfrm>
                <a:off x="6341287" y="2388053"/>
                <a:ext cx="223414" cy="244194"/>
                <a:chOff x="3897210" y="4100560"/>
                <a:chExt cx="223414" cy="244194"/>
              </a:xfrm>
            </p:grpSpPr>
            <p:sp>
              <p:nvSpPr>
                <p:cNvPr id="1722" name="Google Shape;1722;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3" name="Google Shape;1723;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4" name="Google Shape;1724;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5" name="Google Shape;1725;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6" name="Google Shape;1726;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1727" name="Google Shape;1727;p18"/>
              <p:cNvGrpSpPr/>
              <p:nvPr/>
            </p:nvGrpSpPr>
            <p:grpSpPr>
              <a:xfrm>
                <a:off x="6413906" y="2441238"/>
                <a:ext cx="223414" cy="244194"/>
                <a:chOff x="3897210" y="4100560"/>
                <a:chExt cx="223414" cy="244194"/>
              </a:xfrm>
            </p:grpSpPr>
            <p:sp>
              <p:nvSpPr>
                <p:cNvPr id="1728" name="Google Shape;1728;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9" name="Google Shape;1729;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0" name="Google Shape;1730;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1" name="Google Shape;1731;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2" name="Google Shape;1732;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1733" name="Google Shape;1733;p18"/>
              <p:cNvGrpSpPr/>
              <p:nvPr/>
            </p:nvGrpSpPr>
            <p:grpSpPr>
              <a:xfrm>
                <a:off x="6483370" y="2298663"/>
                <a:ext cx="223414" cy="244194"/>
                <a:chOff x="3897210" y="4100560"/>
                <a:chExt cx="223414" cy="244194"/>
              </a:xfrm>
            </p:grpSpPr>
            <p:sp>
              <p:nvSpPr>
                <p:cNvPr id="1734" name="Google Shape;1734;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5" name="Google Shape;1735;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6" name="Google Shape;1736;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7" name="Google Shape;1737;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8" name="Google Shape;1738;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1739" name="Google Shape;1739;p18"/>
              <p:cNvGrpSpPr/>
              <p:nvPr/>
            </p:nvGrpSpPr>
            <p:grpSpPr>
              <a:xfrm>
                <a:off x="6499793" y="2420774"/>
                <a:ext cx="223414" cy="244194"/>
                <a:chOff x="3897210" y="4100560"/>
                <a:chExt cx="223414" cy="244194"/>
              </a:xfrm>
            </p:grpSpPr>
            <p:sp>
              <p:nvSpPr>
                <p:cNvPr id="1740" name="Google Shape;1740;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41" name="Google Shape;1741;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42" name="Google Shape;1742;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43" name="Google Shape;1743;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44" name="Google Shape;1744;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sp>
          <p:nvSpPr>
            <p:cNvPr id="1745" name="Google Shape;1745;p18"/>
            <p:cNvSpPr/>
            <p:nvPr/>
          </p:nvSpPr>
          <p:spPr>
            <a:xfrm>
              <a:off x="7991397" y="1000853"/>
              <a:ext cx="2488800" cy="1193400"/>
            </a:xfrm>
            <a:prstGeom prst="rect">
              <a:avLst/>
            </a:prstGeom>
            <a:blipFill rotWithShape="1">
              <a:blip r:embed="rId4">
                <a:alphaModFix/>
              </a:blip>
              <a:stretch>
                <a:fillRect l="-1469" t="-509" r="-2699"/>
              </a:stretch>
            </a:blipFill>
            <a:ln>
              <a:noFill/>
            </a:ln>
          </p:spPr>
          <p:txBody>
            <a:bodyPr spcFirstLastPara="1" wrap="square" lIns="37925" tIns="18975" rIns="37925" bIns="18975" anchor="t" anchorCtr="0">
              <a:noAutofit/>
            </a:bodyPr>
            <a:lstStyle/>
            <a:p>
              <a:pPr marL="0" marR="0" lvl="0" indent="0" algn="l" rtl="0">
                <a:spcBef>
                  <a:spcPts val="0"/>
                </a:spcBef>
                <a:spcAft>
                  <a:spcPts val="0"/>
                </a:spcAft>
                <a:buNone/>
              </a:pPr>
              <a:r>
                <a:rPr lang="en-GB" sz="747">
                  <a:latin typeface="Arial"/>
                  <a:ea typeface="Arial"/>
                  <a:cs typeface="Arial"/>
                  <a:sym typeface="Arial"/>
                </a:rPr>
                <a:t> </a:t>
              </a:r>
              <a:endParaRPr sz="581"/>
            </a:p>
          </p:txBody>
        </p:sp>
        <p:cxnSp>
          <p:nvCxnSpPr>
            <p:cNvPr id="1746" name="Google Shape;1746;p18"/>
            <p:cNvCxnSpPr>
              <a:stCxn id="1698" idx="0"/>
              <a:endCxn id="1745" idx="0"/>
            </p:cNvCxnSpPr>
            <p:nvPr/>
          </p:nvCxnSpPr>
          <p:spPr>
            <a:xfrm rot="-5400000">
              <a:off x="6344835" y="-1307683"/>
              <a:ext cx="582300" cy="5199600"/>
            </a:xfrm>
            <a:prstGeom prst="bentConnector3">
              <a:avLst>
                <a:gd name="adj1" fmla="val 174600"/>
              </a:avLst>
            </a:prstGeom>
            <a:noFill/>
            <a:ln w="11875" cap="flat" cmpd="sng">
              <a:solidFill>
                <a:srgbClr val="000000"/>
              </a:solidFill>
              <a:prstDash val="solid"/>
              <a:miter lim="800000"/>
              <a:headEnd type="none" w="sm" len="sm"/>
              <a:tailEnd type="stealth" w="med" len="med"/>
            </a:ln>
          </p:spPr>
        </p:cxnSp>
        <p:sp>
          <p:nvSpPr>
            <p:cNvPr id="1747" name="Google Shape;1747;p18"/>
            <p:cNvSpPr/>
            <p:nvPr/>
          </p:nvSpPr>
          <p:spPr>
            <a:xfrm>
              <a:off x="6258193" y="3824859"/>
              <a:ext cx="2488800" cy="744000"/>
            </a:xfrm>
            <a:prstGeom prst="rect">
              <a:avLst/>
            </a:prstGeom>
            <a:solidFill>
              <a:srgbClr val="82CAEB"/>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r>
                <a:rPr lang="en-GB" sz="705">
                  <a:solidFill>
                    <a:srgbClr val="000000"/>
                  </a:solidFill>
                  <a:latin typeface="Arial"/>
                  <a:ea typeface="Arial"/>
                  <a:cs typeface="Arial"/>
                  <a:sym typeface="Arial"/>
                </a:rPr>
                <a:t>Fission gas in grain-boundary bubbles</a:t>
              </a:r>
              <a:endParaRPr sz="539"/>
            </a:p>
          </p:txBody>
        </p:sp>
        <p:cxnSp>
          <p:nvCxnSpPr>
            <p:cNvPr id="1748" name="Google Shape;1748;p18"/>
            <p:cNvCxnSpPr>
              <a:stCxn id="1732" idx="4"/>
              <a:endCxn id="1747" idx="0"/>
            </p:cNvCxnSpPr>
            <p:nvPr/>
          </p:nvCxnSpPr>
          <p:spPr>
            <a:xfrm rot="-5400000" flipH="1">
              <a:off x="6461891" y="2783981"/>
              <a:ext cx="1139400" cy="942300"/>
            </a:xfrm>
            <a:prstGeom prst="bentConnector3">
              <a:avLst>
                <a:gd name="adj1" fmla="val 50001"/>
              </a:avLst>
            </a:prstGeom>
            <a:noFill/>
            <a:ln w="11875" cap="flat" cmpd="sng">
              <a:solidFill>
                <a:srgbClr val="000000"/>
              </a:solidFill>
              <a:prstDash val="solid"/>
              <a:miter lim="800000"/>
              <a:headEnd type="none" w="sm" len="sm"/>
              <a:tailEnd type="stealth" w="med" len="med"/>
            </a:ln>
          </p:spPr>
        </p:cxnSp>
        <p:sp>
          <p:nvSpPr>
            <p:cNvPr id="1749" name="Google Shape;1749;p18"/>
            <p:cNvSpPr txBox="1"/>
            <p:nvPr/>
          </p:nvSpPr>
          <p:spPr>
            <a:xfrm>
              <a:off x="3920763" y="3220188"/>
              <a:ext cx="1544700" cy="3696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a:solidFill>
                    <a:srgbClr val="000000"/>
                  </a:solidFill>
                  <a:latin typeface="Arial"/>
                  <a:ea typeface="Arial"/>
                  <a:cs typeface="Arial"/>
                  <a:sym typeface="Arial"/>
                </a:rPr>
                <a:t>Re-solution</a:t>
              </a:r>
              <a:endParaRPr sz="581"/>
            </a:p>
          </p:txBody>
        </p:sp>
        <p:sp>
          <p:nvSpPr>
            <p:cNvPr id="1750" name="Google Shape;1750;p18"/>
            <p:cNvSpPr txBox="1"/>
            <p:nvPr/>
          </p:nvSpPr>
          <p:spPr>
            <a:xfrm>
              <a:off x="2844493" y="3220188"/>
              <a:ext cx="1230300" cy="3696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a:solidFill>
                    <a:srgbClr val="000000"/>
                  </a:solidFill>
                  <a:latin typeface="Arial"/>
                  <a:ea typeface="Arial"/>
                  <a:cs typeface="Arial"/>
                  <a:sym typeface="Arial"/>
                </a:rPr>
                <a:t>Trapping</a:t>
              </a:r>
              <a:endParaRPr sz="581"/>
            </a:p>
          </p:txBody>
        </p:sp>
      </p:grpSp>
      <p:sp>
        <p:nvSpPr>
          <p:cNvPr id="1751" name="Google Shape;1751;p18"/>
          <p:cNvSpPr txBox="1"/>
          <p:nvPr/>
        </p:nvSpPr>
        <p:spPr>
          <a:xfrm>
            <a:off x="6353553" y="2699405"/>
            <a:ext cx="2429700" cy="255600"/>
          </a:xfrm>
          <a:prstGeom prst="rect">
            <a:avLst/>
          </a:prstGeom>
          <a:noFill/>
          <a:ln>
            <a:noFill/>
          </a:ln>
        </p:spPr>
        <p:txBody>
          <a:bodyPr spcFirstLastPara="1" wrap="square" lIns="37925" tIns="37925" rIns="37925" bIns="37925" anchor="t" anchorCtr="0">
            <a:spAutoFit/>
          </a:bodyPr>
          <a:lstStyle/>
          <a:p>
            <a:pPr marL="0" lvl="0" indent="0" algn="l" rtl="0">
              <a:spcBef>
                <a:spcPts val="0"/>
              </a:spcBef>
              <a:spcAft>
                <a:spcPts val="0"/>
              </a:spcAft>
              <a:buNone/>
            </a:pPr>
            <a:endParaRPr sz="1162">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6"/>
        <p:cNvGrpSpPr/>
        <p:nvPr/>
      </p:nvGrpSpPr>
      <p:grpSpPr>
        <a:xfrm>
          <a:off x="0" y="0"/>
          <a:ext cx="0" cy="0"/>
          <a:chOff x="0" y="0"/>
          <a:chExt cx="0" cy="0"/>
        </a:xfrm>
      </p:grpSpPr>
      <p:sp>
        <p:nvSpPr>
          <p:cNvPr id="1757" name="Google Shape;1757;p19"/>
          <p:cNvSpPr txBox="1">
            <a:spLocks noGrp="1"/>
          </p:cNvSpPr>
          <p:nvPr>
            <p:ph type="title" idx="4294967295"/>
          </p:nvPr>
        </p:nvSpPr>
        <p:spPr>
          <a:xfrm>
            <a:off x="2062557" y="178944"/>
            <a:ext cx="6884884" cy="762957"/>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dirty="0">
                <a:solidFill>
                  <a:srgbClr val="0157A3"/>
                </a:solidFill>
                <a:latin typeface="Arial"/>
                <a:ea typeface="Arial"/>
                <a:cs typeface="Arial"/>
                <a:sym typeface="Arial"/>
              </a:rPr>
              <a:t>Inter-granular bubble evolution, separate-effect validation</a:t>
            </a:r>
            <a:endParaRPr dirty="0"/>
          </a:p>
        </p:txBody>
      </p:sp>
      <p:sp>
        <p:nvSpPr>
          <p:cNvPr id="1758" name="Google Shape;1758;p19"/>
          <p:cNvSpPr/>
          <p:nvPr/>
        </p:nvSpPr>
        <p:spPr>
          <a:xfrm>
            <a:off x="757151" y="4367052"/>
            <a:ext cx="33287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chemeClr val="dk1"/>
                </a:solidFill>
                <a:latin typeface="Quattrocento Sans"/>
                <a:ea typeface="Quattrocento Sans"/>
                <a:cs typeface="Quattrocento Sans"/>
                <a:sym typeface="Quattrocento Sans"/>
              </a:rPr>
              <a:t>Data from White, 2004.</a:t>
            </a:r>
            <a:endParaRPr/>
          </a:p>
          <a:p>
            <a:pPr marL="0" marR="0" lvl="0" indent="0" algn="l" rtl="0">
              <a:spcBef>
                <a:spcPts val="0"/>
              </a:spcBef>
              <a:spcAft>
                <a:spcPts val="0"/>
              </a:spcAft>
              <a:buNone/>
            </a:pPr>
            <a:r>
              <a:rPr lang="en-GB" sz="1200">
                <a:solidFill>
                  <a:schemeClr val="dk1"/>
                </a:solidFill>
                <a:latin typeface="Quattrocento Sans"/>
                <a:ea typeface="Quattrocento Sans"/>
                <a:cs typeface="Quattrocento Sans"/>
                <a:sym typeface="Quattrocento Sans"/>
              </a:rPr>
              <a:t>Calculation from G. Zullo,  PhD Thesis, 2024.</a:t>
            </a:r>
            <a:endParaRPr sz="1200">
              <a:solidFill>
                <a:schemeClr val="dk1"/>
              </a:solidFill>
              <a:latin typeface="Quattrocento Sans"/>
              <a:ea typeface="Quattrocento Sans"/>
              <a:cs typeface="Quattrocento Sans"/>
              <a:sym typeface="Quattrocento Sans"/>
            </a:endParaRPr>
          </a:p>
        </p:txBody>
      </p:sp>
      <p:sp>
        <p:nvSpPr>
          <p:cNvPr id="1759" name="Google Shape;1759;p19"/>
          <p:cNvSpPr/>
          <p:nvPr/>
        </p:nvSpPr>
        <p:spPr>
          <a:xfrm>
            <a:off x="4980872" y="1140589"/>
            <a:ext cx="3777300"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u="sng">
                <a:solidFill>
                  <a:schemeClr val="dk1"/>
                </a:solidFill>
                <a:latin typeface="Calibri"/>
                <a:ea typeface="Calibri"/>
                <a:cs typeface="Calibri"/>
                <a:sym typeface="Calibri"/>
              </a:rPr>
              <a:t>Figure of merit</a:t>
            </a:r>
            <a:r>
              <a:rPr lang="en-GB" sz="1800">
                <a:solidFill>
                  <a:schemeClr val="dk1"/>
                </a:solidFill>
                <a:latin typeface="Calibri"/>
                <a:ea typeface="Calibri"/>
                <a:cs typeface="Calibri"/>
                <a:sym typeface="Calibri"/>
              </a:rPr>
              <a:t>: Inter-granular gaseous swelling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1800">
                <a:solidFill>
                  <a:schemeClr val="dk1"/>
                </a:solidFill>
                <a:latin typeface="Calibri"/>
                <a:ea typeface="Calibri"/>
                <a:cs typeface="Calibri"/>
                <a:sym typeface="Calibri"/>
              </a:rPr>
              <a:t>Separate-effect </a:t>
            </a:r>
            <a:r>
              <a:rPr lang="en-GB" sz="1800" b="1">
                <a:solidFill>
                  <a:schemeClr val="dk1"/>
                </a:solidFill>
                <a:latin typeface="Calibri"/>
                <a:ea typeface="Calibri"/>
                <a:cs typeface="Calibri"/>
                <a:sym typeface="Calibri"/>
              </a:rPr>
              <a:t>validation performed in SCIANTIX</a:t>
            </a:r>
            <a:r>
              <a:rPr lang="en-GB" sz="1800">
                <a:solidFill>
                  <a:schemeClr val="dk1"/>
                </a:solidFill>
                <a:latin typeface="Calibri"/>
                <a:ea typeface="Calibri"/>
                <a:cs typeface="Calibri"/>
                <a:sym typeface="Calibri"/>
              </a:rPr>
              <a:t>: agreement with experimental data</a:t>
            </a:r>
            <a:endParaRPr/>
          </a:p>
        </p:txBody>
      </p:sp>
      <p:pic>
        <p:nvPicPr>
          <p:cNvPr id="1760" name="Google Shape;1760;p19"/>
          <p:cNvPicPr preferRelativeResize="0"/>
          <p:nvPr/>
        </p:nvPicPr>
        <p:blipFill rotWithShape="1">
          <a:blip r:embed="rId3">
            <a:alphaModFix/>
          </a:blip>
          <a:srcRect/>
          <a:stretch/>
        </p:blipFill>
        <p:spPr>
          <a:xfrm>
            <a:off x="117209" y="941901"/>
            <a:ext cx="4571485" cy="34486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pic>
        <p:nvPicPr>
          <p:cNvPr id="1772" name="Google Shape;1772;p21"/>
          <p:cNvPicPr preferRelativeResize="0"/>
          <p:nvPr/>
        </p:nvPicPr>
        <p:blipFill rotWithShape="1">
          <a:blip r:embed="rId3">
            <a:alphaModFix/>
          </a:blip>
          <a:srcRect/>
          <a:stretch/>
        </p:blipFill>
        <p:spPr>
          <a:xfrm>
            <a:off x="196559" y="980150"/>
            <a:ext cx="4709950" cy="3403636"/>
          </a:xfrm>
          <a:prstGeom prst="rect">
            <a:avLst/>
          </a:prstGeom>
          <a:noFill/>
          <a:ln>
            <a:noFill/>
          </a:ln>
        </p:spPr>
      </p:pic>
      <p:sp>
        <p:nvSpPr>
          <p:cNvPr id="1773" name="Google Shape;1773;p21"/>
          <p:cNvSpPr txBox="1">
            <a:spLocks noGrp="1"/>
          </p:cNvSpPr>
          <p:nvPr>
            <p:ph type="title" idx="4294967295"/>
          </p:nvPr>
        </p:nvSpPr>
        <p:spPr>
          <a:xfrm>
            <a:off x="2062557" y="178945"/>
            <a:ext cx="6884884" cy="51447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flowchart</a:t>
            </a:r>
            <a:endParaRPr/>
          </a:p>
        </p:txBody>
      </p:sp>
      <p:sp>
        <p:nvSpPr>
          <p:cNvPr id="1774" name="Google Shape;1774;p21"/>
          <p:cNvSpPr txBox="1"/>
          <p:nvPr/>
        </p:nvSpPr>
        <p:spPr>
          <a:xfrm>
            <a:off x="5013960" y="896851"/>
            <a:ext cx="3933600" cy="381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External shell (right) representing the coupling with fuel performance codes (TRANSURANUS, OFFBEAT, …)</a:t>
            </a:r>
            <a:endParaRPr/>
          </a:p>
          <a:p>
            <a:pPr marL="0" marR="0" lvl="0" indent="0" algn="l" rtl="0">
              <a:spcBef>
                <a:spcPts val="1200"/>
              </a:spcBef>
              <a:spcAft>
                <a:spcPts val="0"/>
              </a:spcAft>
              <a:buNone/>
            </a:pPr>
            <a:r>
              <a:rPr lang="en-GB" sz="1600">
                <a:solidFill>
                  <a:schemeClr val="dk1"/>
                </a:solidFill>
                <a:latin typeface="Arial"/>
                <a:ea typeface="Arial"/>
                <a:cs typeface="Arial"/>
                <a:sym typeface="Arial"/>
              </a:rPr>
              <a:t>Meso-scale module (left) containing physical / behavioural models </a:t>
            </a:r>
            <a:endParaRPr/>
          </a:p>
          <a:p>
            <a:pPr marL="285750" marR="0" lvl="0" indent="-285750" algn="l" rtl="0">
              <a:spcBef>
                <a:spcPts val="1200"/>
              </a:spcBef>
              <a:spcAft>
                <a:spcPts val="0"/>
              </a:spcAft>
              <a:buClr>
                <a:schemeClr val="dk1"/>
              </a:buClr>
              <a:buSzPts val="1600"/>
              <a:buFont typeface="Calibri"/>
              <a:buChar char="-"/>
            </a:pPr>
            <a:r>
              <a:rPr lang="en-GB" sz="1600">
                <a:solidFill>
                  <a:schemeClr val="dk1"/>
                </a:solidFill>
              </a:rPr>
              <a:t>C</a:t>
            </a:r>
            <a:r>
              <a:rPr lang="en-GB" sz="1600">
                <a:solidFill>
                  <a:schemeClr val="dk1"/>
                </a:solidFill>
                <a:latin typeface="Arial"/>
                <a:ea typeface="Arial"/>
                <a:cs typeface="Arial"/>
                <a:sym typeface="Arial"/>
              </a:rPr>
              <a:t>onstruction of specific objects for </a:t>
            </a:r>
            <a:r>
              <a:rPr lang="en-GB" sz="1600">
                <a:solidFill>
                  <a:schemeClr val="dk1"/>
                </a:solidFill>
              </a:rPr>
              <a:t>fission gas behaviour</a:t>
            </a:r>
            <a:r>
              <a:rPr lang="en-GB" sz="1600">
                <a:solidFill>
                  <a:schemeClr val="dk1"/>
                </a:solidFill>
                <a:latin typeface="Arial"/>
                <a:ea typeface="Arial"/>
                <a:cs typeface="Arial"/>
                <a:sym typeface="Arial"/>
              </a:rPr>
              <a:t> modelling</a:t>
            </a:r>
            <a:endParaRPr/>
          </a:p>
          <a:p>
            <a:pPr marL="285750" marR="0" lvl="0" indent="-285750" algn="l" rtl="0">
              <a:spcBef>
                <a:spcPts val="1200"/>
              </a:spcBef>
              <a:spcAft>
                <a:spcPts val="0"/>
              </a:spcAft>
              <a:buClr>
                <a:schemeClr val="dk1"/>
              </a:buClr>
              <a:buSzPts val="1600"/>
              <a:buFont typeface="Calibri"/>
              <a:buChar char="-"/>
            </a:pPr>
            <a:r>
              <a:rPr lang="en-GB" sz="1600">
                <a:solidFill>
                  <a:schemeClr val="dk1"/>
                </a:solidFill>
              </a:rPr>
              <a:t>D</a:t>
            </a:r>
            <a:r>
              <a:rPr lang="en-GB" sz="1600">
                <a:solidFill>
                  <a:schemeClr val="dk1"/>
                </a:solidFill>
                <a:latin typeface="Arial"/>
                <a:ea typeface="Arial"/>
                <a:cs typeface="Arial"/>
                <a:sym typeface="Arial"/>
              </a:rPr>
              <a:t>efinition of solvers (robust numerics)</a:t>
            </a:r>
            <a:endParaRPr/>
          </a:p>
          <a:p>
            <a:pPr marL="285750" marR="0" lvl="0" indent="-285750" algn="l" rtl="0">
              <a:spcBef>
                <a:spcPts val="1200"/>
              </a:spcBef>
              <a:spcAft>
                <a:spcPts val="0"/>
              </a:spcAft>
              <a:buClr>
                <a:schemeClr val="dk1"/>
              </a:buClr>
              <a:buSzPts val="1600"/>
              <a:buFont typeface="Calibri"/>
              <a:buChar char="-"/>
            </a:pPr>
            <a:r>
              <a:rPr lang="en-GB" sz="1600">
                <a:solidFill>
                  <a:schemeClr val="dk1"/>
                </a:solidFill>
              </a:rPr>
              <a:t>S</a:t>
            </a:r>
            <a:r>
              <a:rPr lang="en-GB" sz="1600">
                <a:solidFill>
                  <a:schemeClr val="dk1"/>
                </a:solidFill>
                <a:latin typeface="Arial"/>
                <a:ea typeface="Arial"/>
                <a:cs typeface="Arial"/>
                <a:sym typeface="Arial"/>
              </a:rPr>
              <a:t>imulation = models + solvers</a:t>
            </a:r>
            <a:endParaRPr/>
          </a:p>
          <a:p>
            <a:pPr marL="0" marR="0" lvl="1" indent="0" algn="l" rtl="0">
              <a:spcBef>
                <a:spcPts val="1200"/>
              </a:spcBef>
              <a:spcAft>
                <a:spcPts val="0"/>
              </a:spcAft>
              <a:buNone/>
            </a:pPr>
            <a:r>
              <a:rPr lang="en-GB" sz="1600">
                <a:solidFill>
                  <a:schemeClr val="dk1"/>
                </a:solidFill>
              </a:rPr>
              <a:t>Verification and validation,</a:t>
            </a:r>
            <a:r>
              <a:rPr lang="en-GB" sz="1600" b="0" i="0" u="none" strike="noStrike" cap="none">
                <a:solidFill>
                  <a:schemeClr val="dk1"/>
                </a:solidFill>
                <a:latin typeface="Arial"/>
                <a:ea typeface="Arial"/>
                <a:cs typeface="Arial"/>
                <a:sym typeface="Arial"/>
              </a:rPr>
              <a:t> continuous activities, matrix of cases for non-regression tests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74">
                                            <p:txEl>
                                              <p:pRg st="0" end="0"/>
                                            </p:txEl>
                                          </p:spTgt>
                                        </p:tgtEl>
                                        <p:attrNameLst>
                                          <p:attrName>style.visibility</p:attrName>
                                        </p:attrNameLst>
                                      </p:cBhvr>
                                      <p:to>
                                        <p:strVal val="visible"/>
                                      </p:to>
                                    </p:set>
                                    <p:animEffect transition="in" filter="fade">
                                      <p:cBhvr>
                                        <p:cTn id="7" dur="500"/>
                                        <p:tgtEl>
                                          <p:spTgt spid="177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74">
                                            <p:txEl>
                                              <p:pRg st="1" end="1"/>
                                            </p:txEl>
                                          </p:spTgt>
                                        </p:tgtEl>
                                        <p:attrNameLst>
                                          <p:attrName>style.visibility</p:attrName>
                                        </p:attrNameLst>
                                      </p:cBhvr>
                                      <p:to>
                                        <p:strVal val="visible"/>
                                      </p:to>
                                    </p:set>
                                    <p:animEffect transition="in" filter="fade">
                                      <p:cBhvr>
                                        <p:cTn id="10" dur="500"/>
                                        <p:tgtEl>
                                          <p:spTgt spid="177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74">
                                            <p:txEl>
                                              <p:pRg st="2" end="2"/>
                                            </p:txEl>
                                          </p:spTgt>
                                        </p:tgtEl>
                                        <p:attrNameLst>
                                          <p:attrName>style.visibility</p:attrName>
                                        </p:attrNameLst>
                                      </p:cBhvr>
                                      <p:to>
                                        <p:strVal val="visible"/>
                                      </p:to>
                                    </p:set>
                                    <p:animEffect transition="in" filter="fade">
                                      <p:cBhvr>
                                        <p:cTn id="13" dur="500"/>
                                        <p:tgtEl>
                                          <p:spTgt spid="177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74">
                                            <p:txEl>
                                              <p:pRg st="3" end="3"/>
                                            </p:txEl>
                                          </p:spTgt>
                                        </p:tgtEl>
                                        <p:attrNameLst>
                                          <p:attrName>style.visibility</p:attrName>
                                        </p:attrNameLst>
                                      </p:cBhvr>
                                      <p:to>
                                        <p:strVal val="visible"/>
                                      </p:to>
                                    </p:set>
                                    <p:animEffect transition="in" filter="fade">
                                      <p:cBhvr>
                                        <p:cTn id="16" dur="500"/>
                                        <p:tgtEl>
                                          <p:spTgt spid="1774">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74">
                                            <p:txEl>
                                              <p:pRg st="4" end="4"/>
                                            </p:txEl>
                                          </p:spTgt>
                                        </p:tgtEl>
                                        <p:attrNameLst>
                                          <p:attrName>style.visibility</p:attrName>
                                        </p:attrNameLst>
                                      </p:cBhvr>
                                      <p:to>
                                        <p:strVal val="visible"/>
                                      </p:to>
                                    </p:set>
                                    <p:animEffect transition="in" filter="fade">
                                      <p:cBhvr>
                                        <p:cTn id="19" dur="500"/>
                                        <p:tgtEl>
                                          <p:spTgt spid="1774">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74">
                                            <p:txEl>
                                              <p:pRg st="5" end="5"/>
                                            </p:txEl>
                                          </p:spTgt>
                                        </p:tgtEl>
                                        <p:attrNameLst>
                                          <p:attrName>style.visibility</p:attrName>
                                        </p:attrNameLst>
                                      </p:cBhvr>
                                      <p:to>
                                        <p:strVal val="visible"/>
                                      </p:to>
                                    </p:set>
                                    <p:animEffect transition="in" filter="fade">
                                      <p:cBhvr>
                                        <p:cTn id="22" dur="500"/>
                                        <p:tgtEl>
                                          <p:spTgt spid="177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0"/>
        <p:cNvGrpSpPr/>
        <p:nvPr/>
      </p:nvGrpSpPr>
      <p:grpSpPr>
        <a:xfrm>
          <a:off x="0" y="0"/>
          <a:ext cx="0" cy="0"/>
          <a:chOff x="0" y="0"/>
          <a:chExt cx="0" cy="0"/>
        </a:xfrm>
      </p:grpSpPr>
      <p:sp>
        <p:nvSpPr>
          <p:cNvPr id="1781" name="Google Shape;1781;p22"/>
          <p:cNvSpPr txBox="1">
            <a:spLocks noGrp="1"/>
          </p:cNvSpPr>
          <p:nvPr>
            <p:ph type="title" idx="4294967295"/>
          </p:nvPr>
        </p:nvSpPr>
        <p:spPr>
          <a:xfrm>
            <a:off x="4358639" y="178945"/>
            <a:ext cx="4588801" cy="46875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inheritance diagram</a:t>
            </a:r>
            <a:endParaRPr/>
          </a:p>
        </p:txBody>
      </p:sp>
      <p:sp>
        <p:nvSpPr>
          <p:cNvPr id="1782" name="Google Shape;1782;p22"/>
          <p:cNvSpPr/>
          <p:nvPr/>
        </p:nvSpPr>
        <p:spPr>
          <a:xfrm>
            <a:off x="2119719" y="4102400"/>
            <a:ext cx="1190100" cy="28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Simulation</a:t>
            </a:r>
            <a:endParaRPr sz="1100"/>
          </a:p>
        </p:txBody>
      </p:sp>
      <p:sp>
        <p:nvSpPr>
          <p:cNvPr id="1783" name="Google Shape;1783;p22"/>
          <p:cNvSpPr/>
          <p:nvPr/>
        </p:nvSpPr>
        <p:spPr>
          <a:xfrm>
            <a:off x="347575" y="3225899"/>
            <a:ext cx="1190100" cy="28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Solver</a:t>
            </a:r>
            <a:endParaRPr sz="1100"/>
          </a:p>
        </p:txBody>
      </p:sp>
      <p:sp>
        <p:nvSpPr>
          <p:cNvPr id="1784" name="Google Shape;1784;p22"/>
          <p:cNvSpPr/>
          <p:nvPr/>
        </p:nvSpPr>
        <p:spPr>
          <a:xfrm>
            <a:off x="4106265" y="3225899"/>
            <a:ext cx="1190100" cy="288000"/>
          </a:xfrm>
          <a:prstGeom prst="rect">
            <a:avLst/>
          </a:prstGeom>
          <a:solidFill>
            <a:srgbClr val="D0E0E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Model</a:t>
            </a:r>
            <a:endParaRPr sz="1100"/>
          </a:p>
        </p:txBody>
      </p:sp>
      <p:sp>
        <p:nvSpPr>
          <p:cNvPr id="1785" name="Google Shape;1785;p22"/>
          <p:cNvSpPr/>
          <p:nvPr/>
        </p:nvSpPr>
        <p:spPr>
          <a:xfrm>
            <a:off x="347575" y="23963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786" name="Google Shape;1786;p22"/>
          <p:cNvSpPr/>
          <p:nvPr/>
        </p:nvSpPr>
        <p:spPr>
          <a:xfrm>
            <a:off x="347575" y="18842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787" name="Google Shape;1787;p22"/>
          <p:cNvSpPr/>
          <p:nvPr/>
        </p:nvSpPr>
        <p:spPr>
          <a:xfrm>
            <a:off x="1823933"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t>PhysicsVariable</a:t>
            </a:r>
            <a:endParaRPr sz="1100">
              <a:solidFill>
                <a:srgbClr val="000000"/>
              </a:solidFill>
              <a:latin typeface="Arial"/>
              <a:ea typeface="Arial"/>
              <a:cs typeface="Arial"/>
              <a:sym typeface="Arial"/>
            </a:endParaRPr>
          </a:p>
        </p:txBody>
      </p:sp>
      <p:sp>
        <p:nvSpPr>
          <p:cNvPr id="1788" name="Google Shape;1788;p22"/>
          <p:cNvSpPr/>
          <p:nvPr/>
        </p:nvSpPr>
        <p:spPr>
          <a:xfrm>
            <a:off x="1823933"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789" name="Google Shape;1789;p22"/>
          <p:cNvSpPr/>
          <p:nvPr/>
        </p:nvSpPr>
        <p:spPr>
          <a:xfrm>
            <a:off x="1823933" y="2396300"/>
            <a:ext cx="1190100" cy="288000"/>
          </a:xfrm>
          <a:prstGeom prst="rect">
            <a:avLst/>
          </a:prstGeom>
          <a:solidFill>
            <a:srgbClr val="FCE5C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HistoryVariable</a:t>
            </a:r>
            <a:endParaRPr sz="1100">
              <a:solidFill>
                <a:srgbClr val="000000"/>
              </a:solidFill>
              <a:latin typeface="Arial"/>
              <a:ea typeface="Arial"/>
              <a:cs typeface="Arial"/>
              <a:sym typeface="Arial"/>
            </a:endParaRPr>
          </a:p>
        </p:txBody>
      </p:sp>
      <p:sp>
        <p:nvSpPr>
          <p:cNvPr id="1790" name="Google Shape;1790;p22"/>
          <p:cNvSpPr/>
          <p:nvPr/>
        </p:nvSpPr>
        <p:spPr>
          <a:xfrm>
            <a:off x="3309619"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791" name="Google Shape;1791;p22"/>
          <p:cNvSpPr/>
          <p:nvPr/>
        </p:nvSpPr>
        <p:spPr>
          <a:xfrm>
            <a:off x="3309619"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792" name="Google Shape;1792;p22"/>
          <p:cNvSpPr/>
          <p:nvPr/>
        </p:nvSpPr>
        <p:spPr>
          <a:xfrm>
            <a:off x="3309619" y="2382275"/>
            <a:ext cx="1190100" cy="28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SciantixVariable</a:t>
            </a:r>
            <a:endParaRPr sz="1100">
              <a:solidFill>
                <a:srgbClr val="000000"/>
              </a:solidFill>
              <a:latin typeface="Arial"/>
              <a:ea typeface="Arial"/>
              <a:cs typeface="Arial"/>
              <a:sym typeface="Arial"/>
            </a:endParaRPr>
          </a:p>
        </p:txBody>
      </p:sp>
      <p:sp>
        <p:nvSpPr>
          <p:cNvPr id="1793" name="Google Shape;1793;p22"/>
          <p:cNvSpPr/>
          <p:nvPr/>
        </p:nvSpPr>
        <p:spPr>
          <a:xfrm>
            <a:off x="4795305" y="2396291"/>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794" name="Google Shape;1794;p22"/>
          <p:cNvSpPr/>
          <p:nvPr/>
        </p:nvSpPr>
        <p:spPr>
          <a:xfrm>
            <a:off x="4795305" y="18886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795" name="Google Shape;1795;p22"/>
          <p:cNvSpPr/>
          <p:nvPr/>
        </p:nvSpPr>
        <p:spPr>
          <a:xfrm>
            <a:off x="6271663" y="129980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796" name="Google Shape;1796;p22"/>
          <p:cNvSpPr/>
          <p:nvPr/>
        </p:nvSpPr>
        <p:spPr>
          <a:xfrm>
            <a:off x="6271663" y="1811900"/>
            <a:ext cx="1190100" cy="288000"/>
          </a:xfrm>
          <a:prstGeom prst="rect">
            <a:avLst/>
          </a:prstGeom>
          <a:solidFill>
            <a:srgbClr val="B4A7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Gas</a:t>
            </a:r>
            <a:endParaRPr sz="1100"/>
          </a:p>
        </p:txBody>
      </p:sp>
      <p:sp>
        <p:nvSpPr>
          <p:cNvPr id="1797" name="Google Shape;1797;p22"/>
          <p:cNvSpPr/>
          <p:nvPr/>
        </p:nvSpPr>
        <p:spPr>
          <a:xfrm>
            <a:off x="7757349" y="1820800"/>
            <a:ext cx="1190100" cy="2880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Matrix</a:t>
            </a:r>
            <a:endParaRPr sz="1100"/>
          </a:p>
        </p:txBody>
      </p:sp>
      <p:sp>
        <p:nvSpPr>
          <p:cNvPr id="1798" name="Google Shape;1798;p22"/>
          <p:cNvSpPr/>
          <p:nvPr/>
        </p:nvSpPr>
        <p:spPr>
          <a:xfrm>
            <a:off x="7757349" y="130425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799" name="Google Shape;1799;p22"/>
          <p:cNvSpPr/>
          <p:nvPr/>
        </p:nvSpPr>
        <p:spPr>
          <a:xfrm>
            <a:off x="6978699" y="2396300"/>
            <a:ext cx="1190100" cy="288000"/>
          </a:xfrm>
          <a:prstGeom prst="rect">
            <a:avLst/>
          </a:prstGeom>
          <a:solidFill>
            <a:srgbClr val="DD7E6B"/>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System</a:t>
            </a:r>
            <a:endParaRPr sz="1100"/>
          </a:p>
        </p:txBody>
      </p:sp>
      <p:cxnSp>
        <p:nvCxnSpPr>
          <p:cNvPr id="1800" name="Google Shape;1800;p22"/>
          <p:cNvCxnSpPr>
            <a:stCxn id="1785" idx="0"/>
            <a:endCxn id="1786" idx="2"/>
          </p:cNvCxnSpPr>
          <p:nvPr/>
        </p:nvCxnSpPr>
        <p:spPr>
          <a:xfrm rot="10800000">
            <a:off x="942625"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1" name="Google Shape;1801;p22"/>
          <p:cNvCxnSpPr>
            <a:stCxn id="1783" idx="0"/>
            <a:endCxn id="1785" idx="2"/>
          </p:cNvCxnSpPr>
          <p:nvPr/>
        </p:nvCxnSpPr>
        <p:spPr>
          <a:xfrm rot="10800000">
            <a:off x="942625" y="2684399"/>
            <a:ext cx="0" cy="541500"/>
          </a:xfrm>
          <a:prstGeom prst="straightConnector1">
            <a:avLst/>
          </a:prstGeom>
          <a:noFill/>
          <a:ln w="19050" cap="flat" cmpd="sng">
            <a:solidFill>
              <a:schemeClr val="dk1"/>
            </a:solidFill>
            <a:prstDash val="solid"/>
            <a:miter lim="800000"/>
            <a:headEnd type="none" w="sm" len="sm"/>
            <a:tailEnd type="triangle" w="med" len="med"/>
          </a:ln>
        </p:spPr>
      </p:cxnSp>
      <p:cxnSp>
        <p:nvCxnSpPr>
          <p:cNvPr id="1802" name="Google Shape;1802;p22"/>
          <p:cNvCxnSpPr>
            <a:stCxn id="1787" idx="0"/>
            <a:endCxn id="1788" idx="2"/>
          </p:cNvCxnSpPr>
          <p:nvPr/>
        </p:nvCxnSpPr>
        <p:spPr>
          <a:xfrm rot="10800000">
            <a:off x="2418983"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3" name="Google Shape;1803;p22"/>
          <p:cNvCxnSpPr>
            <a:stCxn id="1789" idx="0"/>
            <a:endCxn id="1787" idx="2"/>
          </p:cNvCxnSpPr>
          <p:nvPr/>
        </p:nvCxnSpPr>
        <p:spPr>
          <a:xfrm rot="10800000">
            <a:off x="2418983"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4" name="Google Shape;1804;p22"/>
          <p:cNvCxnSpPr>
            <a:stCxn id="1790" idx="0"/>
            <a:endCxn id="1791" idx="2"/>
          </p:cNvCxnSpPr>
          <p:nvPr/>
        </p:nvCxnSpPr>
        <p:spPr>
          <a:xfrm rot="10800000">
            <a:off x="3904669"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5" name="Google Shape;1805;p22"/>
          <p:cNvCxnSpPr>
            <a:stCxn id="1792" idx="0"/>
            <a:endCxn id="1790" idx="2"/>
          </p:cNvCxnSpPr>
          <p:nvPr/>
        </p:nvCxnSpPr>
        <p:spPr>
          <a:xfrm rot="10800000">
            <a:off x="3904669" y="2172275"/>
            <a:ext cx="0" cy="210000"/>
          </a:xfrm>
          <a:prstGeom prst="straightConnector1">
            <a:avLst/>
          </a:prstGeom>
          <a:noFill/>
          <a:ln w="19050" cap="flat" cmpd="sng">
            <a:solidFill>
              <a:schemeClr val="dk1"/>
            </a:solidFill>
            <a:prstDash val="solid"/>
            <a:miter lim="800000"/>
            <a:headEnd type="none" w="sm" len="sm"/>
            <a:tailEnd type="triangle" w="med" len="med"/>
          </a:ln>
        </p:spPr>
      </p:cxnSp>
      <p:cxnSp>
        <p:nvCxnSpPr>
          <p:cNvPr id="1806" name="Google Shape;1806;p22"/>
          <p:cNvCxnSpPr>
            <a:stCxn id="1793" idx="0"/>
            <a:endCxn id="1794" idx="2"/>
          </p:cNvCxnSpPr>
          <p:nvPr/>
        </p:nvCxnSpPr>
        <p:spPr>
          <a:xfrm rot="10800000">
            <a:off x="5390355" y="2176691"/>
            <a:ext cx="0" cy="219600"/>
          </a:xfrm>
          <a:prstGeom prst="straightConnector1">
            <a:avLst/>
          </a:prstGeom>
          <a:noFill/>
          <a:ln w="19050" cap="flat" cmpd="sng">
            <a:solidFill>
              <a:schemeClr val="dk1"/>
            </a:solidFill>
            <a:prstDash val="solid"/>
            <a:miter lim="800000"/>
            <a:headEnd type="none" w="sm" len="sm"/>
            <a:tailEnd type="triangle" w="med" len="med"/>
          </a:ln>
        </p:spPr>
      </p:cxnSp>
      <p:cxnSp>
        <p:nvCxnSpPr>
          <p:cNvPr id="1807" name="Google Shape;1807;p22"/>
          <p:cNvCxnSpPr>
            <a:stCxn id="1797" idx="0"/>
            <a:endCxn id="1798" idx="2"/>
          </p:cNvCxnSpPr>
          <p:nvPr/>
        </p:nvCxnSpPr>
        <p:spPr>
          <a:xfrm rot="10800000">
            <a:off x="8352399" y="1592200"/>
            <a:ext cx="0" cy="228600"/>
          </a:xfrm>
          <a:prstGeom prst="straightConnector1">
            <a:avLst/>
          </a:prstGeom>
          <a:noFill/>
          <a:ln w="19050" cap="flat" cmpd="sng">
            <a:solidFill>
              <a:schemeClr val="dk1"/>
            </a:solidFill>
            <a:prstDash val="solid"/>
            <a:miter lim="800000"/>
            <a:headEnd type="none" w="sm" len="sm"/>
            <a:tailEnd type="triangle" w="med" len="med"/>
          </a:ln>
        </p:spPr>
      </p:cxnSp>
      <p:cxnSp>
        <p:nvCxnSpPr>
          <p:cNvPr id="1808" name="Google Shape;1808;p22"/>
          <p:cNvCxnSpPr>
            <a:stCxn id="1796" idx="0"/>
            <a:endCxn id="1795" idx="2"/>
          </p:cNvCxnSpPr>
          <p:nvPr/>
        </p:nvCxnSpPr>
        <p:spPr>
          <a:xfrm rot="10800000">
            <a:off x="6866713" y="15878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9" name="Google Shape;1809;p22"/>
          <p:cNvCxnSpPr>
            <a:stCxn id="1783" idx="2"/>
            <a:endCxn id="1784" idx="2"/>
          </p:cNvCxnSpPr>
          <p:nvPr/>
        </p:nvCxnSpPr>
        <p:spPr>
          <a:xfrm rot="-5400000" flipH="1">
            <a:off x="2821675" y="1634849"/>
            <a:ext cx="600" cy="3758700"/>
          </a:xfrm>
          <a:prstGeom prst="bentConnector3">
            <a:avLst>
              <a:gd name="adj1" fmla="val 39687500"/>
            </a:avLst>
          </a:prstGeom>
          <a:noFill/>
          <a:ln w="19050" cap="flat" cmpd="sng">
            <a:solidFill>
              <a:schemeClr val="dk1"/>
            </a:solidFill>
            <a:prstDash val="solid"/>
            <a:miter lim="800000"/>
            <a:headEnd type="none" w="sm" len="sm"/>
            <a:tailEnd type="none" w="sm" len="sm"/>
          </a:ln>
        </p:spPr>
      </p:cxnSp>
      <p:cxnSp>
        <p:nvCxnSpPr>
          <p:cNvPr id="1810" name="Google Shape;1810;p22"/>
          <p:cNvCxnSpPr>
            <a:stCxn id="1789" idx="2"/>
            <a:endCxn id="1792" idx="2"/>
          </p:cNvCxnSpPr>
          <p:nvPr/>
        </p:nvCxnSpPr>
        <p:spPr>
          <a:xfrm rot="-5400000">
            <a:off x="3154733" y="1934450"/>
            <a:ext cx="14100" cy="1485600"/>
          </a:xfrm>
          <a:prstGeom prst="bentConnector3">
            <a:avLst>
              <a:gd name="adj1" fmla="val -1688830"/>
            </a:avLst>
          </a:prstGeom>
          <a:noFill/>
          <a:ln w="19050" cap="flat" cmpd="sng">
            <a:solidFill>
              <a:schemeClr val="dk1"/>
            </a:solidFill>
            <a:prstDash val="solid"/>
            <a:miter lim="800000"/>
            <a:headEnd type="triangle" w="med" len="med"/>
            <a:tailEnd type="triangle" w="med" len="med"/>
          </a:ln>
        </p:spPr>
      </p:cxnSp>
      <p:cxnSp>
        <p:nvCxnSpPr>
          <p:cNvPr id="1811" name="Google Shape;1811;p22"/>
          <p:cNvCxnSpPr>
            <a:stCxn id="1792" idx="2"/>
            <a:endCxn id="1793" idx="2"/>
          </p:cNvCxnSpPr>
          <p:nvPr/>
        </p:nvCxnSpPr>
        <p:spPr>
          <a:xfrm rot="-5400000" flipH="1">
            <a:off x="4640419" y="1934525"/>
            <a:ext cx="14100" cy="1485600"/>
          </a:xfrm>
          <a:prstGeom prst="bentConnector3">
            <a:avLst>
              <a:gd name="adj1" fmla="val 1788234"/>
            </a:avLst>
          </a:prstGeom>
          <a:noFill/>
          <a:ln w="19050" cap="flat" cmpd="sng">
            <a:solidFill>
              <a:schemeClr val="dk1"/>
            </a:solidFill>
            <a:prstDash val="solid"/>
            <a:miter lim="800000"/>
            <a:headEnd type="triangle" w="med" len="med"/>
            <a:tailEnd type="triangle" w="med" len="med"/>
          </a:ln>
        </p:spPr>
      </p:cxnSp>
      <p:cxnSp>
        <p:nvCxnSpPr>
          <p:cNvPr id="1812" name="Google Shape;1812;p22"/>
          <p:cNvCxnSpPr>
            <a:stCxn id="1793" idx="2"/>
            <a:endCxn id="1799" idx="2"/>
          </p:cNvCxnSpPr>
          <p:nvPr/>
        </p:nvCxnSpPr>
        <p:spPr>
          <a:xfrm rot="-5400000" flipH="1">
            <a:off x="6481755" y="1592891"/>
            <a:ext cx="600" cy="2183400"/>
          </a:xfrm>
          <a:prstGeom prst="bentConnector3">
            <a:avLst>
              <a:gd name="adj1" fmla="val 39689000"/>
            </a:avLst>
          </a:prstGeom>
          <a:noFill/>
          <a:ln w="19050" cap="flat" cmpd="sng">
            <a:solidFill>
              <a:schemeClr val="dk1"/>
            </a:solidFill>
            <a:prstDash val="solid"/>
            <a:miter lim="800000"/>
            <a:headEnd type="triangle" w="med" len="med"/>
            <a:tailEnd type="triangle" w="med" len="med"/>
          </a:ln>
        </p:spPr>
      </p:cxnSp>
      <p:cxnSp>
        <p:nvCxnSpPr>
          <p:cNvPr id="1813" name="Google Shape;1813;p22"/>
          <p:cNvCxnSpPr>
            <a:stCxn id="1796" idx="2"/>
            <a:endCxn id="1797" idx="2"/>
          </p:cNvCxnSpPr>
          <p:nvPr/>
        </p:nvCxnSpPr>
        <p:spPr>
          <a:xfrm rot="-5400000" flipH="1">
            <a:off x="7605013" y="1361600"/>
            <a:ext cx="9000" cy="1485600"/>
          </a:xfrm>
          <a:prstGeom prst="bentConnector3">
            <a:avLst>
              <a:gd name="adj1" fmla="val 2421948"/>
            </a:avLst>
          </a:prstGeom>
          <a:noFill/>
          <a:ln w="19050" cap="flat" cmpd="sng">
            <a:solidFill>
              <a:schemeClr val="dk1"/>
            </a:solidFill>
            <a:prstDash val="solid"/>
            <a:miter lim="800000"/>
            <a:headEnd type="triangle" w="med" len="med"/>
            <a:tailEnd type="triangle" w="med" len="med"/>
          </a:ln>
        </p:spPr>
      </p:cxnSp>
      <p:cxnSp>
        <p:nvCxnSpPr>
          <p:cNvPr id="1814" name="Google Shape;1814;p22"/>
          <p:cNvCxnSpPr/>
          <p:nvPr/>
        </p:nvCxnSpPr>
        <p:spPr>
          <a:xfrm rot="10800000">
            <a:off x="7573649" y="2322200"/>
            <a:ext cx="0" cy="74100"/>
          </a:xfrm>
          <a:prstGeom prst="straightConnector1">
            <a:avLst/>
          </a:prstGeom>
          <a:noFill/>
          <a:ln w="19050" cap="flat" cmpd="sng">
            <a:solidFill>
              <a:schemeClr val="dk1"/>
            </a:solidFill>
            <a:prstDash val="solid"/>
            <a:miter lim="800000"/>
            <a:headEnd type="none" w="sm" len="sm"/>
            <a:tailEnd type="none" w="sm" len="sm"/>
          </a:ln>
        </p:spPr>
      </p:cxnSp>
      <p:cxnSp>
        <p:nvCxnSpPr>
          <p:cNvPr id="1815" name="Google Shape;1815;p22"/>
          <p:cNvCxnSpPr>
            <a:endCxn id="1784" idx="0"/>
          </p:cNvCxnSpPr>
          <p:nvPr/>
        </p:nvCxnSpPr>
        <p:spPr>
          <a:xfrm>
            <a:off x="4701315" y="2910599"/>
            <a:ext cx="0" cy="315300"/>
          </a:xfrm>
          <a:prstGeom prst="straightConnector1">
            <a:avLst/>
          </a:prstGeom>
          <a:noFill/>
          <a:ln w="19050" cap="flat" cmpd="sng">
            <a:solidFill>
              <a:schemeClr val="dk1"/>
            </a:solidFill>
            <a:prstDash val="solid"/>
            <a:miter lim="800000"/>
            <a:headEnd type="none" w="sm" len="sm"/>
            <a:tailEnd type="none" w="sm" len="sm"/>
          </a:ln>
        </p:spPr>
      </p:cxnSp>
      <p:cxnSp>
        <p:nvCxnSpPr>
          <p:cNvPr id="1816" name="Google Shape;1816;p22"/>
          <p:cNvCxnSpPr>
            <a:stCxn id="1782" idx="0"/>
          </p:cNvCxnSpPr>
          <p:nvPr/>
        </p:nvCxnSpPr>
        <p:spPr>
          <a:xfrm rot="10800000">
            <a:off x="2714769" y="3739100"/>
            <a:ext cx="0" cy="363300"/>
          </a:xfrm>
          <a:prstGeom prst="straightConnector1">
            <a:avLst/>
          </a:prstGeom>
          <a:noFill/>
          <a:ln w="19050" cap="flat" cmpd="sng">
            <a:solidFill>
              <a:schemeClr val="dk1"/>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23"/>
          <p:cNvSpPr txBox="1">
            <a:spLocks noGrp="1"/>
          </p:cNvSpPr>
          <p:nvPr>
            <p:ph type="title" idx="4294967295"/>
          </p:nvPr>
        </p:nvSpPr>
        <p:spPr>
          <a:xfrm>
            <a:off x="4358639" y="178945"/>
            <a:ext cx="4588801" cy="46875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inheritance diagram</a:t>
            </a:r>
            <a:endParaRPr/>
          </a:p>
        </p:txBody>
      </p:sp>
      <p:sp>
        <p:nvSpPr>
          <p:cNvPr id="1823" name="Google Shape;1823;p23"/>
          <p:cNvSpPr txBox="1"/>
          <p:nvPr/>
        </p:nvSpPr>
        <p:spPr>
          <a:xfrm>
            <a:off x="6535525" y="3031925"/>
            <a:ext cx="2505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rgbClr val="984A9C"/>
                </a:solidFill>
                <a:latin typeface="Arial"/>
                <a:ea typeface="Arial"/>
                <a:cs typeface="Arial"/>
                <a:sym typeface="Arial"/>
              </a:rPr>
              <a:t>Helium</a:t>
            </a:r>
            <a:r>
              <a:rPr lang="en-GB"/>
              <a:t> </a:t>
            </a:r>
            <a:r>
              <a:rPr lang="en-GB" sz="1800">
                <a:solidFill>
                  <a:srgbClr val="984A9C"/>
                </a:solidFill>
                <a:latin typeface="Arial"/>
                <a:ea typeface="Arial"/>
                <a:cs typeface="Arial"/>
                <a:sym typeface="Arial"/>
              </a:rPr>
              <a:t>in UO</a:t>
            </a:r>
            <a:r>
              <a:rPr lang="en-GB" sz="1800" baseline="-25000">
                <a:solidFill>
                  <a:srgbClr val="984A9C"/>
                </a:solidFill>
                <a:latin typeface="Arial"/>
                <a:ea typeface="Arial"/>
                <a:cs typeface="Arial"/>
                <a:sym typeface="Arial"/>
              </a:rPr>
              <a:t>2</a:t>
            </a:r>
            <a:r>
              <a:rPr lang="en-GB" sz="1800">
                <a:solidFill>
                  <a:srgbClr val="984A9C"/>
                </a:solidFill>
                <a:latin typeface="Arial"/>
                <a:ea typeface="Arial"/>
                <a:cs typeface="Arial"/>
                <a:sym typeface="Arial"/>
              </a:rPr>
              <a:t> / MOX </a:t>
            </a:r>
            <a:endParaRPr/>
          </a:p>
        </p:txBody>
      </p:sp>
      <p:pic>
        <p:nvPicPr>
          <p:cNvPr id="1824" name="Google Shape;1824;p23"/>
          <p:cNvPicPr preferRelativeResize="0"/>
          <p:nvPr/>
        </p:nvPicPr>
        <p:blipFill rotWithShape="1">
          <a:blip r:embed="rId3">
            <a:alphaModFix/>
          </a:blip>
          <a:srcRect/>
          <a:stretch/>
        </p:blipFill>
        <p:spPr>
          <a:xfrm>
            <a:off x="182213" y="4272148"/>
            <a:ext cx="1066808" cy="371478"/>
          </a:xfrm>
          <a:prstGeom prst="rect">
            <a:avLst/>
          </a:prstGeom>
          <a:noFill/>
          <a:ln>
            <a:noFill/>
          </a:ln>
        </p:spPr>
      </p:pic>
      <p:sp>
        <p:nvSpPr>
          <p:cNvPr id="1825" name="Google Shape;1825;p23"/>
          <p:cNvSpPr txBox="1"/>
          <p:nvPr/>
        </p:nvSpPr>
        <p:spPr>
          <a:xfrm>
            <a:off x="4927600" y="3668700"/>
            <a:ext cx="34509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rgbClr val="984A9C"/>
                </a:solidFill>
                <a:latin typeface="Arial"/>
                <a:ea typeface="Arial"/>
                <a:cs typeface="Arial"/>
                <a:sym typeface="Arial"/>
              </a:rPr>
              <a:t>Helium behaviour</a:t>
            </a:r>
            <a:endParaRPr sz="1200"/>
          </a:p>
          <a:p>
            <a:pPr marL="285750" marR="0" lvl="0" indent="-247650" algn="l" rtl="0">
              <a:spcBef>
                <a:spcPts val="0"/>
              </a:spcBef>
              <a:spcAft>
                <a:spcPts val="0"/>
              </a:spcAft>
              <a:buClr>
                <a:srgbClr val="984A9C"/>
              </a:buClr>
              <a:buSzPts val="1200"/>
              <a:buFont typeface="Arial"/>
              <a:buChar char="-"/>
            </a:pPr>
            <a:r>
              <a:rPr lang="en-GB" sz="1200">
                <a:solidFill>
                  <a:srgbClr val="984A9C"/>
                </a:solidFill>
                <a:latin typeface="Arial"/>
                <a:ea typeface="Arial"/>
                <a:cs typeface="Arial"/>
                <a:sym typeface="Arial"/>
              </a:rPr>
              <a:t>Production</a:t>
            </a:r>
            <a:endParaRPr sz="1200"/>
          </a:p>
          <a:p>
            <a:pPr marL="285750" marR="0" lvl="0" indent="-247650" algn="l" rtl="0">
              <a:spcBef>
                <a:spcPts val="0"/>
              </a:spcBef>
              <a:spcAft>
                <a:spcPts val="0"/>
              </a:spcAft>
              <a:buClr>
                <a:srgbClr val="984A9C"/>
              </a:buClr>
              <a:buSzPts val="1200"/>
              <a:buFont typeface="Arial"/>
              <a:buChar char="-"/>
            </a:pPr>
            <a:r>
              <a:rPr lang="en-GB" sz="1200">
                <a:solidFill>
                  <a:srgbClr val="984A9C"/>
                </a:solidFill>
                <a:latin typeface="Arial"/>
                <a:ea typeface="Arial"/>
                <a:cs typeface="Arial"/>
                <a:sym typeface="Arial"/>
              </a:rPr>
              <a:t>Diffusion </a:t>
            </a:r>
            <a:endParaRPr sz="1200"/>
          </a:p>
          <a:p>
            <a:pPr marL="285750" marR="0" lvl="0" indent="-247650" algn="l" rtl="0">
              <a:spcBef>
                <a:spcPts val="0"/>
              </a:spcBef>
              <a:spcAft>
                <a:spcPts val="0"/>
              </a:spcAft>
              <a:buClr>
                <a:srgbClr val="984A9C"/>
              </a:buClr>
              <a:buSzPts val="1200"/>
              <a:buFont typeface="Arial"/>
              <a:buChar char="-"/>
            </a:pPr>
            <a:r>
              <a:rPr lang="en-GB" sz="1200">
                <a:solidFill>
                  <a:srgbClr val="984A9C"/>
                </a:solidFill>
                <a:latin typeface="Arial"/>
                <a:ea typeface="Arial"/>
                <a:cs typeface="Arial"/>
                <a:sym typeface="Arial"/>
              </a:rPr>
              <a:t>Solubility</a:t>
            </a:r>
            <a:endParaRPr sz="1200"/>
          </a:p>
          <a:p>
            <a:pPr marL="285750" marR="0" lvl="0" indent="-247650" algn="l" rtl="0">
              <a:spcBef>
                <a:spcPts val="0"/>
              </a:spcBef>
              <a:spcAft>
                <a:spcPts val="0"/>
              </a:spcAft>
              <a:buClr>
                <a:srgbClr val="984A9C"/>
              </a:buClr>
              <a:buSzPts val="1200"/>
              <a:buFont typeface="Arial"/>
              <a:buChar char="-"/>
            </a:pPr>
            <a:r>
              <a:rPr lang="en-GB" sz="1200">
                <a:solidFill>
                  <a:srgbClr val="984A9C"/>
                </a:solidFill>
                <a:latin typeface="Arial"/>
                <a:ea typeface="Arial"/>
                <a:cs typeface="Arial"/>
                <a:sym typeface="Arial"/>
              </a:rPr>
              <a:t>Interaction with fission gases 🡪 bubbles </a:t>
            </a:r>
            <a:endParaRPr sz="1200"/>
          </a:p>
        </p:txBody>
      </p:sp>
      <p:sp>
        <p:nvSpPr>
          <p:cNvPr id="1826" name="Google Shape;1826;p23"/>
          <p:cNvSpPr/>
          <p:nvPr/>
        </p:nvSpPr>
        <p:spPr>
          <a:xfrm>
            <a:off x="2119719" y="4102400"/>
            <a:ext cx="1190100" cy="28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Simulation</a:t>
            </a:r>
            <a:endParaRPr sz="1100"/>
          </a:p>
        </p:txBody>
      </p:sp>
      <p:sp>
        <p:nvSpPr>
          <p:cNvPr id="1827" name="Google Shape;1827;p23"/>
          <p:cNvSpPr/>
          <p:nvPr/>
        </p:nvSpPr>
        <p:spPr>
          <a:xfrm>
            <a:off x="347575" y="3225899"/>
            <a:ext cx="1190100" cy="28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Solver</a:t>
            </a:r>
            <a:endParaRPr sz="1100"/>
          </a:p>
        </p:txBody>
      </p:sp>
      <p:sp>
        <p:nvSpPr>
          <p:cNvPr id="1828" name="Google Shape;1828;p23"/>
          <p:cNvSpPr/>
          <p:nvPr/>
        </p:nvSpPr>
        <p:spPr>
          <a:xfrm>
            <a:off x="4106265" y="3225899"/>
            <a:ext cx="1190100" cy="288000"/>
          </a:xfrm>
          <a:prstGeom prst="rect">
            <a:avLst/>
          </a:prstGeom>
          <a:solidFill>
            <a:srgbClr val="D0E0E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Model</a:t>
            </a:r>
            <a:endParaRPr sz="1100"/>
          </a:p>
        </p:txBody>
      </p:sp>
      <p:sp>
        <p:nvSpPr>
          <p:cNvPr id="1829" name="Google Shape;1829;p23"/>
          <p:cNvSpPr/>
          <p:nvPr/>
        </p:nvSpPr>
        <p:spPr>
          <a:xfrm>
            <a:off x="347575" y="23963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830" name="Google Shape;1830;p23"/>
          <p:cNvSpPr/>
          <p:nvPr/>
        </p:nvSpPr>
        <p:spPr>
          <a:xfrm>
            <a:off x="347575" y="18842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31" name="Google Shape;1831;p23"/>
          <p:cNvSpPr/>
          <p:nvPr/>
        </p:nvSpPr>
        <p:spPr>
          <a:xfrm>
            <a:off x="1823933"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832" name="Google Shape;1832;p23"/>
          <p:cNvSpPr/>
          <p:nvPr/>
        </p:nvSpPr>
        <p:spPr>
          <a:xfrm>
            <a:off x="1823933"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33" name="Google Shape;1833;p23"/>
          <p:cNvSpPr/>
          <p:nvPr/>
        </p:nvSpPr>
        <p:spPr>
          <a:xfrm>
            <a:off x="1823933" y="2396300"/>
            <a:ext cx="1190100" cy="288000"/>
          </a:xfrm>
          <a:prstGeom prst="rect">
            <a:avLst/>
          </a:prstGeom>
          <a:solidFill>
            <a:srgbClr val="FCE5C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HistoryVariable</a:t>
            </a:r>
            <a:endParaRPr sz="1100">
              <a:solidFill>
                <a:srgbClr val="000000"/>
              </a:solidFill>
              <a:latin typeface="Arial"/>
              <a:ea typeface="Arial"/>
              <a:cs typeface="Arial"/>
              <a:sym typeface="Arial"/>
            </a:endParaRPr>
          </a:p>
        </p:txBody>
      </p:sp>
      <p:sp>
        <p:nvSpPr>
          <p:cNvPr id="1834" name="Google Shape;1834;p23"/>
          <p:cNvSpPr/>
          <p:nvPr/>
        </p:nvSpPr>
        <p:spPr>
          <a:xfrm>
            <a:off x="3309619"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835" name="Google Shape;1835;p23"/>
          <p:cNvSpPr/>
          <p:nvPr/>
        </p:nvSpPr>
        <p:spPr>
          <a:xfrm>
            <a:off x="3309619"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36" name="Google Shape;1836;p23"/>
          <p:cNvSpPr/>
          <p:nvPr/>
        </p:nvSpPr>
        <p:spPr>
          <a:xfrm>
            <a:off x="3309619" y="2382275"/>
            <a:ext cx="1190100" cy="28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SciantixVariable</a:t>
            </a:r>
            <a:endParaRPr sz="1100">
              <a:solidFill>
                <a:srgbClr val="000000"/>
              </a:solidFill>
              <a:latin typeface="Arial"/>
              <a:ea typeface="Arial"/>
              <a:cs typeface="Arial"/>
              <a:sym typeface="Arial"/>
            </a:endParaRPr>
          </a:p>
        </p:txBody>
      </p:sp>
      <p:sp>
        <p:nvSpPr>
          <p:cNvPr id="1837" name="Google Shape;1837;p23"/>
          <p:cNvSpPr/>
          <p:nvPr/>
        </p:nvSpPr>
        <p:spPr>
          <a:xfrm>
            <a:off x="4795305" y="2396291"/>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838" name="Google Shape;1838;p23"/>
          <p:cNvSpPr/>
          <p:nvPr/>
        </p:nvSpPr>
        <p:spPr>
          <a:xfrm>
            <a:off x="4795305" y="18886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39" name="Google Shape;1839;p23"/>
          <p:cNvSpPr/>
          <p:nvPr/>
        </p:nvSpPr>
        <p:spPr>
          <a:xfrm>
            <a:off x="6271663" y="129980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840" name="Google Shape;1840;p23"/>
          <p:cNvSpPr/>
          <p:nvPr/>
        </p:nvSpPr>
        <p:spPr>
          <a:xfrm>
            <a:off x="6271663" y="1811900"/>
            <a:ext cx="1190100" cy="288000"/>
          </a:xfrm>
          <a:prstGeom prst="rect">
            <a:avLst/>
          </a:prstGeom>
          <a:solidFill>
            <a:srgbClr val="B4A7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Gas</a:t>
            </a:r>
            <a:endParaRPr sz="1100"/>
          </a:p>
        </p:txBody>
      </p:sp>
      <p:sp>
        <p:nvSpPr>
          <p:cNvPr id="1841" name="Google Shape;1841;p23"/>
          <p:cNvSpPr/>
          <p:nvPr/>
        </p:nvSpPr>
        <p:spPr>
          <a:xfrm>
            <a:off x="7757349" y="1820800"/>
            <a:ext cx="1190100" cy="2880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Matrix</a:t>
            </a:r>
            <a:endParaRPr sz="1100"/>
          </a:p>
        </p:txBody>
      </p:sp>
      <p:sp>
        <p:nvSpPr>
          <p:cNvPr id="1842" name="Google Shape;1842;p23"/>
          <p:cNvSpPr/>
          <p:nvPr/>
        </p:nvSpPr>
        <p:spPr>
          <a:xfrm>
            <a:off x="7757349" y="130425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843" name="Google Shape;1843;p23"/>
          <p:cNvSpPr/>
          <p:nvPr/>
        </p:nvSpPr>
        <p:spPr>
          <a:xfrm>
            <a:off x="6978699" y="2396300"/>
            <a:ext cx="1190100" cy="288000"/>
          </a:xfrm>
          <a:prstGeom prst="rect">
            <a:avLst/>
          </a:prstGeom>
          <a:solidFill>
            <a:srgbClr val="DD7E6B"/>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System</a:t>
            </a:r>
            <a:endParaRPr sz="1100"/>
          </a:p>
        </p:txBody>
      </p:sp>
      <p:cxnSp>
        <p:nvCxnSpPr>
          <p:cNvPr id="1844" name="Google Shape;1844;p23"/>
          <p:cNvCxnSpPr>
            <a:stCxn id="1829" idx="0"/>
            <a:endCxn id="1830" idx="2"/>
          </p:cNvCxnSpPr>
          <p:nvPr/>
        </p:nvCxnSpPr>
        <p:spPr>
          <a:xfrm rot="10800000">
            <a:off x="942625"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45" name="Google Shape;1845;p23"/>
          <p:cNvCxnSpPr>
            <a:stCxn id="1827" idx="0"/>
            <a:endCxn id="1829" idx="2"/>
          </p:cNvCxnSpPr>
          <p:nvPr/>
        </p:nvCxnSpPr>
        <p:spPr>
          <a:xfrm rot="10800000">
            <a:off x="942625" y="2684399"/>
            <a:ext cx="0" cy="541500"/>
          </a:xfrm>
          <a:prstGeom prst="straightConnector1">
            <a:avLst/>
          </a:prstGeom>
          <a:noFill/>
          <a:ln w="19050" cap="flat" cmpd="sng">
            <a:solidFill>
              <a:schemeClr val="dk1"/>
            </a:solidFill>
            <a:prstDash val="solid"/>
            <a:miter lim="800000"/>
            <a:headEnd type="none" w="sm" len="sm"/>
            <a:tailEnd type="triangle" w="med" len="med"/>
          </a:ln>
        </p:spPr>
      </p:cxnSp>
      <p:cxnSp>
        <p:nvCxnSpPr>
          <p:cNvPr id="1846" name="Google Shape;1846;p23"/>
          <p:cNvCxnSpPr>
            <a:stCxn id="1831" idx="0"/>
            <a:endCxn id="1832" idx="2"/>
          </p:cNvCxnSpPr>
          <p:nvPr/>
        </p:nvCxnSpPr>
        <p:spPr>
          <a:xfrm rot="10800000">
            <a:off x="2418983"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47" name="Google Shape;1847;p23"/>
          <p:cNvCxnSpPr>
            <a:stCxn id="1833" idx="0"/>
            <a:endCxn id="1831" idx="2"/>
          </p:cNvCxnSpPr>
          <p:nvPr/>
        </p:nvCxnSpPr>
        <p:spPr>
          <a:xfrm rot="10800000">
            <a:off x="2418983"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48" name="Google Shape;1848;p23"/>
          <p:cNvCxnSpPr>
            <a:stCxn id="1834" idx="0"/>
            <a:endCxn id="1835" idx="2"/>
          </p:cNvCxnSpPr>
          <p:nvPr/>
        </p:nvCxnSpPr>
        <p:spPr>
          <a:xfrm rot="10800000">
            <a:off x="3904669"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49" name="Google Shape;1849;p23"/>
          <p:cNvCxnSpPr>
            <a:stCxn id="1836" idx="0"/>
            <a:endCxn id="1834" idx="2"/>
          </p:cNvCxnSpPr>
          <p:nvPr/>
        </p:nvCxnSpPr>
        <p:spPr>
          <a:xfrm rot="10800000">
            <a:off x="3904669" y="2172275"/>
            <a:ext cx="0" cy="210000"/>
          </a:xfrm>
          <a:prstGeom prst="straightConnector1">
            <a:avLst/>
          </a:prstGeom>
          <a:noFill/>
          <a:ln w="19050" cap="flat" cmpd="sng">
            <a:solidFill>
              <a:schemeClr val="dk1"/>
            </a:solidFill>
            <a:prstDash val="solid"/>
            <a:miter lim="800000"/>
            <a:headEnd type="none" w="sm" len="sm"/>
            <a:tailEnd type="triangle" w="med" len="med"/>
          </a:ln>
        </p:spPr>
      </p:cxnSp>
      <p:cxnSp>
        <p:nvCxnSpPr>
          <p:cNvPr id="1850" name="Google Shape;1850;p23"/>
          <p:cNvCxnSpPr>
            <a:stCxn id="1837" idx="0"/>
            <a:endCxn id="1838" idx="2"/>
          </p:cNvCxnSpPr>
          <p:nvPr/>
        </p:nvCxnSpPr>
        <p:spPr>
          <a:xfrm rot="10800000">
            <a:off x="5390355" y="2176691"/>
            <a:ext cx="0" cy="219600"/>
          </a:xfrm>
          <a:prstGeom prst="straightConnector1">
            <a:avLst/>
          </a:prstGeom>
          <a:noFill/>
          <a:ln w="19050" cap="flat" cmpd="sng">
            <a:solidFill>
              <a:schemeClr val="dk1"/>
            </a:solidFill>
            <a:prstDash val="solid"/>
            <a:miter lim="800000"/>
            <a:headEnd type="none" w="sm" len="sm"/>
            <a:tailEnd type="triangle" w="med" len="med"/>
          </a:ln>
        </p:spPr>
      </p:cxnSp>
      <p:cxnSp>
        <p:nvCxnSpPr>
          <p:cNvPr id="1851" name="Google Shape;1851;p23"/>
          <p:cNvCxnSpPr>
            <a:stCxn id="1841" idx="0"/>
            <a:endCxn id="1842" idx="2"/>
          </p:cNvCxnSpPr>
          <p:nvPr/>
        </p:nvCxnSpPr>
        <p:spPr>
          <a:xfrm rot="10800000">
            <a:off x="8352399" y="1592200"/>
            <a:ext cx="0" cy="228600"/>
          </a:xfrm>
          <a:prstGeom prst="straightConnector1">
            <a:avLst/>
          </a:prstGeom>
          <a:noFill/>
          <a:ln w="19050" cap="flat" cmpd="sng">
            <a:solidFill>
              <a:schemeClr val="dk1"/>
            </a:solidFill>
            <a:prstDash val="solid"/>
            <a:miter lim="800000"/>
            <a:headEnd type="none" w="sm" len="sm"/>
            <a:tailEnd type="triangle" w="med" len="med"/>
          </a:ln>
        </p:spPr>
      </p:cxnSp>
      <p:cxnSp>
        <p:nvCxnSpPr>
          <p:cNvPr id="1852" name="Google Shape;1852;p23"/>
          <p:cNvCxnSpPr>
            <a:stCxn id="1840" idx="0"/>
            <a:endCxn id="1839" idx="2"/>
          </p:cNvCxnSpPr>
          <p:nvPr/>
        </p:nvCxnSpPr>
        <p:spPr>
          <a:xfrm rot="10800000">
            <a:off x="6866713" y="15878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53" name="Google Shape;1853;p23"/>
          <p:cNvCxnSpPr>
            <a:stCxn id="1827" idx="2"/>
            <a:endCxn id="1828" idx="2"/>
          </p:cNvCxnSpPr>
          <p:nvPr/>
        </p:nvCxnSpPr>
        <p:spPr>
          <a:xfrm rot="-5400000" flipH="1">
            <a:off x="2821675" y="1634849"/>
            <a:ext cx="600" cy="3758700"/>
          </a:xfrm>
          <a:prstGeom prst="bentConnector3">
            <a:avLst>
              <a:gd name="adj1" fmla="val 39687500"/>
            </a:avLst>
          </a:prstGeom>
          <a:noFill/>
          <a:ln w="19050" cap="flat" cmpd="sng">
            <a:solidFill>
              <a:schemeClr val="dk1"/>
            </a:solidFill>
            <a:prstDash val="solid"/>
            <a:miter lim="800000"/>
            <a:headEnd type="none" w="sm" len="sm"/>
            <a:tailEnd type="none" w="sm" len="sm"/>
          </a:ln>
        </p:spPr>
      </p:cxnSp>
      <p:cxnSp>
        <p:nvCxnSpPr>
          <p:cNvPr id="1854" name="Google Shape;1854;p23"/>
          <p:cNvCxnSpPr>
            <a:stCxn id="1833" idx="2"/>
            <a:endCxn id="1836" idx="2"/>
          </p:cNvCxnSpPr>
          <p:nvPr/>
        </p:nvCxnSpPr>
        <p:spPr>
          <a:xfrm rot="-5400000">
            <a:off x="3154733" y="1934450"/>
            <a:ext cx="14100" cy="1485600"/>
          </a:xfrm>
          <a:prstGeom prst="bentConnector3">
            <a:avLst>
              <a:gd name="adj1" fmla="val -1688830"/>
            </a:avLst>
          </a:prstGeom>
          <a:noFill/>
          <a:ln w="19050" cap="flat" cmpd="sng">
            <a:solidFill>
              <a:schemeClr val="dk1"/>
            </a:solidFill>
            <a:prstDash val="solid"/>
            <a:miter lim="800000"/>
            <a:headEnd type="triangle" w="med" len="med"/>
            <a:tailEnd type="triangle" w="med" len="med"/>
          </a:ln>
        </p:spPr>
      </p:cxnSp>
      <p:cxnSp>
        <p:nvCxnSpPr>
          <p:cNvPr id="1855" name="Google Shape;1855;p23"/>
          <p:cNvCxnSpPr>
            <a:stCxn id="1836" idx="2"/>
            <a:endCxn id="1837" idx="2"/>
          </p:cNvCxnSpPr>
          <p:nvPr/>
        </p:nvCxnSpPr>
        <p:spPr>
          <a:xfrm rot="-5400000" flipH="1">
            <a:off x="4640419" y="1934525"/>
            <a:ext cx="14100" cy="1485600"/>
          </a:xfrm>
          <a:prstGeom prst="bentConnector3">
            <a:avLst>
              <a:gd name="adj1" fmla="val 1788234"/>
            </a:avLst>
          </a:prstGeom>
          <a:noFill/>
          <a:ln w="19050" cap="flat" cmpd="sng">
            <a:solidFill>
              <a:schemeClr val="dk1"/>
            </a:solidFill>
            <a:prstDash val="solid"/>
            <a:miter lim="800000"/>
            <a:headEnd type="triangle" w="med" len="med"/>
            <a:tailEnd type="triangle" w="med" len="med"/>
          </a:ln>
        </p:spPr>
      </p:cxnSp>
      <p:cxnSp>
        <p:nvCxnSpPr>
          <p:cNvPr id="1856" name="Google Shape;1856;p23"/>
          <p:cNvCxnSpPr>
            <a:stCxn id="1837" idx="2"/>
            <a:endCxn id="1843" idx="2"/>
          </p:cNvCxnSpPr>
          <p:nvPr/>
        </p:nvCxnSpPr>
        <p:spPr>
          <a:xfrm rot="-5400000" flipH="1">
            <a:off x="6481755" y="1592891"/>
            <a:ext cx="600" cy="2183400"/>
          </a:xfrm>
          <a:prstGeom prst="bentConnector3">
            <a:avLst>
              <a:gd name="adj1" fmla="val 39689000"/>
            </a:avLst>
          </a:prstGeom>
          <a:noFill/>
          <a:ln w="19050" cap="flat" cmpd="sng">
            <a:solidFill>
              <a:schemeClr val="dk1"/>
            </a:solidFill>
            <a:prstDash val="solid"/>
            <a:miter lim="800000"/>
            <a:headEnd type="triangle" w="med" len="med"/>
            <a:tailEnd type="triangle" w="med" len="med"/>
          </a:ln>
        </p:spPr>
      </p:cxnSp>
      <p:cxnSp>
        <p:nvCxnSpPr>
          <p:cNvPr id="1857" name="Google Shape;1857;p23"/>
          <p:cNvCxnSpPr>
            <a:stCxn id="1840" idx="2"/>
            <a:endCxn id="1841" idx="2"/>
          </p:cNvCxnSpPr>
          <p:nvPr/>
        </p:nvCxnSpPr>
        <p:spPr>
          <a:xfrm rot="-5400000" flipH="1">
            <a:off x="7605013" y="1361600"/>
            <a:ext cx="9000" cy="1485600"/>
          </a:xfrm>
          <a:prstGeom prst="bentConnector3">
            <a:avLst>
              <a:gd name="adj1" fmla="val 2744722"/>
            </a:avLst>
          </a:prstGeom>
          <a:noFill/>
          <a:ln w="19050" cap="flat" cmpd="sng">
            <a:solidFill>
              <a:schemeClr val="dk1"/>
            </a:solidFill>
            <a:prstDash val="solid"/>
            <a:miter lim="800000"/>
            <a:headEnd type="triangle" w="med" len="med"/>
            <a:tailEnd type="triangle" w="med" len="med"/>
          </a:ln>
        </p:spPr>
      </p:cxnSp>
      <p:cxnSp>
        <p:nvCxnSpPr>
          <p:cNvPr id="1858" name="Google Shape;1858;p23"/>
          <p:cNvCxnSpPr/>
          <p:nvPr/>
        </p:nvCxnSpPr>
        <p:spPr>
          <a:xfrm rot="10800000">
            <a:off x="7573649" y="2322200"/>
            <a:ext cx="0" cy="74100"/>
          </a:xfrm>
          <a:prstGeom prst="straightConnector1">
            <a:avLst/>
          </a:prstGeom>
          <a:noFill/>
          <a:ln w="19050" cap="flat" cmpd="sng">
            <a:solidFill>
              <a:schemeClr val="dk1"/>
            </a:solidFill>
            <a:prstDash val="solid"/>
            <a:miter lim="800000"/>
            <a:headEnd type="none" w="sm" len="sm"/>
            <a:tailEnd type="none" w="sm" len="sm"/>
          </a:ln>
        </p:spPr>
      </p:cxnSp>
      <p:cxnSp>
        <p:nvCxnSpPr>
          <p:cNvPr id="1859" name="Google Shape;1859;p23"/>
          <p:cNvCxnSpPr>
            <a:endCxn id="1828" idx="0"/>
          </p:cNvCxnSpPr>
          <p:nvPr/>
        </p:nvCxnSpPr>
        <p:spPr>
          <a:xfrm>
            <a:off x="4701315" y="2910599"/>
            <a:ext cx="0" cy="315300"/>
          </a:xfrm>
          <a:prstGeom prst="straightConnector1">
            <a:avLst/>
          </a:prstGeom>
          <a:noFill/>
          <a:ln w="19050" cap="flat" cmpd="sng">
            <a:solidFill>
              <a:schemeClr val="dk1"/>
            </a:solidFill>
            <a:prstDash val="solid"/>
            <a:miter lim="800000"/>
            <a:headEnd type="none" w="sm" len="sm"/>
            <a:tailEnd type="none" w="sm" len="sm"/>
          </a:ln>
        </p:spPr>
      </p:cxnSp>
      <p:cxnSp>
        <p:nvCxnSpPr>
          <p:cNvPr id="1860" name="Google Shape;1860;p23"/>
          <p:cNvCxnSpPr>
            <a:stCxn id="1826" idx="0"/>
          </p:cNvCxnSpPr>
          <p:nvPr/>
        </p:nvCxnSpPr>
        <p:spPr>
          <a:xfrm rot="10800000">
            <a:off x="2714769" y="3739100"/>
            <a:ext cx="0" cy="363300"/>
          </a:xfrm>
          <a:prstGeom prst="straightConnector1">
            <a:avLst/>
          </a:prstGeom>
          <a:noFill/>
          <a:ln w="19050" cap="flat" cmpd="sng">
            <a:solidFill>
              <a:schemeClr val="dk1"/>
            </a:solidFill>
            <a:prstDash val="solid"/>
            <a:miter lim="800000"/>
            <a:headEnd type="none" w="sm" len="sm"/>
            <a:tailEnd type="none" w="sm" len="sm"/>
          </a:ln>
        </p:spPr>
      </p:cxnSp>
      <p:sp>
        <p:nvSpPr>
          <p:cNvPr id="1861" name="Google Shape;1861;p23"/>
          <p:cNvSpPr/>
          <p:nvPr/>
        </p:nvSpPr>
        <p:spPr>
          <a:xfrm>
            <a:off x="3958525" y="3099150"/>
            <a:ext cx="1485600" cy="541500"/>
          </a:xfrm>
          <a:prstGeom prst="roundRect">
            <a:avLst>
              <a:gd name="adj" fmla="val 0"/>
            </a:avLst>
          </a:prstGeom>
          <a:noFill/>
          <a:ln w="28575" cap="flat" cmpd="sng">
            <a:solidFill>
              <a:srgbClr val="984A9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rPr>
              <a:t> </a:t>
            </a:r>
            <a:endParaRPr sz="1800">
              <a:solidFill>
                <a:schemeClr val="lt1"/>
              </a:solidFill>
              <a:latin typeface="Arial"/>
              <a:ea typeface="Arial"/>
              <a:cs typeface="Arial"/>
              <a:sym typeface="Arial"/>
            </a:endParaRPr>
          </a:p>
        </p:txBody>
      </p:sp>
      <p:sp>
        <p:nvSpPr>
          <p:cNvPr id="1862" name="Google Shape;1862;p23"/>
          <p:cNvSpPr/>
          <p:nvPr/>
        </p:nvSpPr>
        <p:spPr>
          <a:xfrm>
            <a:off x="6178221" y="1682362"/>
            <a:ext cx="2862600" cy="1082100"/>
          </a:xfrm>
          <a:prstGeom prst="roundRect">
            <a:avLst>
              <a:gd name="adj" fmla="val 0"/>
            </a:avLst>
          </a:prstGeom>
          <a:noFill/>
          <a:ln w="28575" cap="flat" cmpd="sng">
            <a:solidFill>
              <a:srgbClr val="984A9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67"/>
        <p:cNvGrpSpPr/>
        <p:nvPr/>
      </p:nvGrpSpPr>
      <p:grpSpPr>
        <a:xfrm>
          <a:off x="0" y="0"/>
          <a:ext cx="0" cy="0"/>
          <a:chOff x="0" y="0"/>
          <a:chExt cx="0" cy="0"/>
        </a:xfrm>
      </p:grpSpPr>
      <p:sp>
        <p:nvSpPr>
          <p:cNvPr id="1868" name="Google Shape;1868;p24"/>
          <p:cNvSpPr txBox="1">
            <a:spLocks noGrp="1"/>
          </p:cNvSpPr>
          <p:nvPr>
            <p:ph type="title" idx="4294967295"/>
          </p:nvPr>
        </p:nvSpPr>
        <p:spPr>
          <a:xfrm>
            <a:off x="4358639" y="178945"/>
            <a:ext cx="4588801" cy="46875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inheritance diagram</a:t>
            </a:r>
            <a:endParaRPr/>
          </a:p>
        </p:txBody>
      </p:sp>
      <p:sp>
        <p:nvSpPr>
          <p:cNvPr id="1869" name="Google Shape;1869;p24"/>
          <p:cNvSpPr txBox="1"/>
          <p:nvPr/>
        </p:nvSpPr>
        <p:spPr>
          <a:xfrm>
            <a:off x="6598423" y="2971800"/>
            <a:ext cx="23490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a:solidFill>
                  <a:schemeClr val="accent1"/>
                </a:solidFill>
              </a:rPr>
              <a:t>Cesium (Cs)</a:t>
            </a:r>
            <a:r>
              <a:rPr lang="en-GB">
                <a:solidFill>
                  <a:schemeClr val="accent1"/>
                </a:solidFill>
                <a:latin typeface="Arial"/>
                <a:ea typeface="Arial"/>
                <a:cs typeface="Arial"/>
                <a:sym typeface="Arial"/>
              </a:rPr>
              <a:t>, I</a:t>
            </a:r>
            <a:r>
              <a:rPr lang="en-GB">
                <a:solidFill>
                  <a:schemeClr val="accent1"/>
                </a:solidFill>
              </a:rPr>
              <a:t>odine (I)</a:t>
            </a:r>
            <a:r>
              <a:rPr lang="en-GB">
                <a:solidFill>
                  <a:schemeClr val="accent1"/>
                </a:solidFill>
                <a:latin typeface="Arial"/>
                <a:ea typeface="Arial"/>
                <a:cs typeface="Arial"/>
                <a:sym typeface="Arial"/>
              </a:rPr>
              <a:t>, Tellurium (Te),</a:t>
            </a:r>
            <a:r>
              <a:rPr lang="en-GB">
                <a:solidFill>
                  <a:schemeClr val="accent1"/>
                </a:solidFill>
              </a:rPr>
              <a:t> </a:t>
            </a:r>
            <a:endParaRPr/>
          </a:p>
          <a:p>
            <a:pPr marL="0" marR="0" lvl="0" indent="0" algn="l" rtl="0">
              <a:spcBef>
                <a:spcPts val="0"/>
              </a:spcBef>
              <a:spcAft>
                <a:spcPts val="0"/>
              </a:spcAft>
              <a:buNone/>
            </a:pPr>
            <a:r>
              <a:rPr lang="en-GB">
                <a:solidFill>
                  <a:schemeClr val="accent1"/>
                </a:solidFill>
                <a:latin typeface="Arial"/>
                <a:ea typeface="Arial"/>
                <a:cs typeface="Arial"/>
                <a:sym typeface="Arial"/>
              </a:rPr>
              <a:t>CsI, … in … UO</a:t>
            </a:r>
            <a:r>
              <a:rPr lang="en-GB" baseline="-25000">
                <a:solidFill>
                  <a:schemeClr val="accent1"/>
                </a:solidFill>
                <a:latin typeface="Arial"/>
                <a:ea typeface="Arial"/>
                <a:cs typeface="Arial"/>
                <a:sym typeface="Arial"/>
              </a:rPr>
              <a:t>2</a:t>
            </a:r>
            <a:r>
              <a:rPr lang="en-GB">
                <a:solidFill>
                  <a:schemeClr val="accent1"/>
                </a:solidFill>
                <a:latin typeface="Arial"/>
                <a:ea typeface="Arial"/>
                <a:cs typeface="Arial"/>
                <a:sym typeface="Arial"/>
              </a:rPr>
              <a:t>/MOX</a:t>
            </a:r>
            <a:endParaRPr/>
          </a:p>
        </p:txBody>
      </p:sp>
      <p:sp>
        <p:nvSpPr>
          <p:cNvPr id="1870" name="Google Shape;1870;p24"/>
          <p:cNvSpPr txBox="1"/>
          <p:nvPr/>
        </p:nvSpPr>
        <p:spPr>
          <a:xfrm>
            <a:off x="4178022" y="3817373"/>
            <a:ext cx="3739500" cy="831000"/>
          </a:xfrm>
          <a:prstGeom prst="rect">
            <a:avLst/>
          </a:prstGeom>
          <a:noFill/>
          <a:ln>
            <a:noFill/>
          </a:ln>
        </p:spPr>
        <p:txBody>
          <a:bodyPr spcFirstLastPara="1" wrap="square" lIns="91425" tIns="45700" rIns="91425" bIns="45700" anchor="t" anchorCtr="0">
            <a:spAutoFit/>
          </a:bodyPr>
          <a:lstStyle/>
          <a:p>
            <a:pPr marL="285750" marR="0" lvl="0" indent="-247650" algn="l" rtl="0">
              <a:spcBef>
                <a:spcPts val="0"/>
              </a:spcBef>
              <a:spcAft>
                <a:spcPts val="0"/>
              </a:spcAft>
              <a:buClr>
                <a:schemeClr val="accent1"/>
              </a:buClr>
              <a:buSzPts val="1200"/>
              <a:buFont typeface="Arial"/>
              <a:buChar char="-"/>
            </a:pPr>
            <a:r>
              <a:rPr lang="en-GB" sz="1200">
                <a:solidFill>
                  <a:schemeClr val="accent1"/>
                </a:solidFill>
                <a:latin typeface="Arial"/>
                <a:ea typeface="Arial"/>
                <a:cs typeface="Arial"/>
                <a:sym typeface="Arial"/>
              </a:rPr>
              <a:t>Interaction with thermochemistry module</a:t>
            </a:r>
            <a:endParaRPr sz="1200"/>
          </a:p>
          <a:p>
            <a:pPr marL="285750" marR="0" lvl="0" indent="-247650" algn="l" rtl="0">
              <a:spcBef>
                <a:spcPts val="0"/>
              </a:spcBef>
              <a:spcAft>
                <a:spcPts val="0"/>
              </a:spcAft>
              <a:buClr>
                <a:schemeClr val="accent1"/>
              </a:buClr>
              <a:buSzPts val="1200"/>
              <a:buFont typeface="Arial"/>
              <a:buChar char="-"/>
            </a:pPr>
            <a:r>
              <a:rPr lang="en-GB" sz="1200">
                <a:solidFill>
                  <a:schemeClr val="accent1"/>
                </a:solidFill>
                <a:latin typeface="Arial"/>
                <a:ea typeface="Arial"/>
                <a:cs typeface="Arial"/>
                <a:sym typeface="Arial"/>
              </a:rPr>
              <a:t>Useful for experimental design (source term estimation)</a:t>
            </a:r>
            <a:endParaRPr sz="1200"/>
          </a:p>
          <a:p>
            <a:pPr marL="285750" marR="0" lvl="0" indent="-247650" algn="l" rtl="0">
              <a:spcBef>
                <a:spcPts val="0"/>
              </a:spcBef>
              <a:spcAft>
                <a:spcPts val="0"/>
              </a:spcAft>
              <a:buClr>
                <a:schemeClr val="accent1"/>
              </a:buClr>
              <a:buSzPts val="1200"/>
              <a:buFont typeface="Arial"/>
              <a:buChar char="-"/>
            </a:pPr>
            <a:r>
              <a:rPr lang="en-GB" sz="1200">
                <a:solidFill>
                  <a:schemeClr val="accent1"/>
                </a:solidFill>
                <a:latin typeface="Arial"/>
                <a:ea typeface="Arial"/>
                <a:cs typeface="Arial"/>
                <a:sym typeface="Arial"/>
              </a:rPr>
              <a:t>Step towards </a:t>
            </a:r>
            <a:r>
              <a:rPr lang="en-GB" sz="1200" i="1">
                <a:solidFill>
                  <a:schemeClr val="accent1"/>
                </a:solidFill>
                <a:latin typeface="Arial"/>
                <a:ea typeface="Arial"/>
                <a:cs typeface="Arial"/>
                <a:sym typeface="Arial"/>
              </a:rPr>
              <a:t>Joint Oxyde-Gaine</a:t>
            </a:r>
            <a:r>
              <a:rPr lang="en-GB" sz="1200">
                <a:solidFill>
                  <a:schemeClr val="accent1"/>
                </a:solidFill>
                <a:latin typeface="Arial"/>
                <a:ea typeface="Arial"/>
                <a:cs typeface="Arial"/>
                <a:sym typeface="Arial"/>
              </a:rPr>
              <a:t> models </a:t>
            </a:r>
            <a:endParaRPr sz="1200"/>
          </a:p>
        </p:txBody>
      </p:sp>
      <p:pic>
        <p:nvPicPr>
          <p:cNvPr id="1871" name="Google Shape;1871;p24"/>
          <p:cNvPicPr preferRelativeResize="0"/>
          <p:nvPr/>
        </p:nvPicPr>
        <p:blipFill rotWithShape="1">
          <a:blip r:embed="rId3">
            <a:alphaModFix/>
          </a:blip>
          <a:srcRect/>
          <a:stretch/>
        </p:blipFill>
        <p:spPr>
          <a:xfrm>
            <a:off x="70980" y="4018698"/>
            <a:ext cx="1815921" cy="631341"/>
          </a:xfrm>
          <a:prstGeom prst="rect">
            <a:avLst/>
          </a:prstGeom>
          <a:noFill/>
          <a:ln>
            <a:noFill/>
          </a:ln>
        </p:spPr>
      </p:pic>
      <p:sp>
        <p:nvSpPr>
          <p:cNvPr id="1872" name="Google Shape;1872;p24"/>
          <p:cNvSpPr/>
          <p:nvPr/>
        </p:nvSpPr>
        <p:spPr>
          <a:xfrm>
            <a:off x="2119719" y="4102400"/>
            <a:ext cx="1190100" cy="28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Simulation</a:t>
            </a:r>
            <a:endParaRPr sz="1100"/>
          </a:p>
        </p:txBody>
      </p:sp>
      <p:sp>
        <p:nvSpPr>
          <p:cNvPr id="1873" name="Google Shape;1873;p24"/>
          <p:cNvSpPr/>
          <p:nvPr/>
        </p:nvSpPr>
        <p:spPr>
          <a:xfrm>
            <a:off x="347575" y="3225899"/>
            <a:ext cx="1190100" cy="28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Solver</a:t>
            </a:r>
            <a:endParaRPr sz="1100"/>
          </a:p>
        </p:txBody>
      </p:sp>
      <p:sp>
        <p:nvSpPr>
          <p:cNvPr id="1874" name="Google Shape;1874;p24"/>
          <p:cNvSpPr/>
          <p:nvPr/>
        </p:nvSpPr>
        <p:spPr>
          <a:xfrm>
            <a:off x="4106265" y="3225899"/>
            <a:ext cx="1190100" cy="288000"/>
          </a:xfrm>
          <a:prstGeom prst="rect">
            <a:avLst/>
          </a:prstGeom>
          <a:solidFill>
            <a:srgbClr val="D0E0E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Model</a:t>
            </a:r>
            <a:endParaRPr sz="1100"/>
          </a:p>
        </p:txBody>
      </p:sp>
      <p:sp>
        <p:nvSpPr>
          <p:cNvPr id="1875" name="Google Shape;1875;p24"/>
          <p:cNvSpPr/>
          <p:nvPr/>
        </p:nvSpPr>
        <p:spPr>
          <a:xfrm>
            <a:off x="347575" y="23963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876" name="Google Shape;1876;p24"/>
          <p:cNvSpPr/>
          <p:nvPr/>
        </p:nvSpPr>
        <p:spPr>
          <a:xfrm>
            <a:off x="347575" y="18842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77" name="Google Shape;1877;p24"/>
          <p:cNvSpPr/>
          <p:nvPr/>
        </p:nvSpPr>
        <p:spPr>
          <a:xfrm>
            <a:off x="1823933"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878" name="Google Shape;1878;p24"/>
          <p:cNvSpPr/>
          <p:nvPr/>
        </p:nvSpPr>
        <p:spPr>
          <a:xfrm>
            <a:off x="1823933"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79" name="Google Shape;1879;p24"/>
          <p:cNvSpPr/>
          <p:nvPr/>
        </p:nvSpPr>
        <p:spPr>
          <a:xfrm>
            <a:off x="1823933" y="2396300"/>
            <a:ext cx="1190100" cy="288000"/>
          </a:xfrm>
          <a:prstGeom prst="rect">
            <a:avLst/>
          </a:prstGeom>
          <a:solidFill>
            <a:srgbClr val="FCE5C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HistoryVariable</a:t>
            </a:r>
            <a:endParaRPr sz="1100">
              <a:solidFill>
                <a:srgbClr val="000000"/>
              </a:solidFill>
              <a:latin typeface="Arial"/>
              <a:ea typeface="Arial"/>
              <a:cs typeface="Arial"/>
              <a:sym typeface="Arial"/>
            </a:endParaRPr>
          </a:p>
        </p:txBody>
      </p:sp>
      <p:sp>
        <p:nvSpPr>
          <p:cNvPr id="1880" name="Google Shape;1880;p24"/>
          <p:cNvSpPr/>
          <p:nvPr/>
        </p:nvSpPr>
        <p:spPr>
          <a:xfrm>
            <a:off x="3309619"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GB" sz="1100">
                <a:solidFill>
                  <a:schemeClr val="dk1"/>
                </a:solidFill>
              </a:rPr>
              <a:t>PhysicsVariable</a:t>
            </a:r>
            <a:endParaRPr sz="1100">
              <a:solidFill>
                <a:srgbClr val="000000"/>
              </a:solidFill>
              <a:latin typeface="Arial"/>
              <a:ea typeface="Arial"/>
              <a:cs typeface="Arial"/>
              <a:sym typeface="Arial"/>
            </a:endParaRPr>
          </a:p>
        </p:txBody>
      </p:sp>
      <p:sp>
        <p:nvSpPr>
          <p:cNvPr id="1881" name="Google Shape;1881;p24"/>
          <p:cNvSpPr/>
          <p:nvPr/>
        </p:nvSpPr>
        <p:spPr>
          <a:xfrm>
            <a:off x="3309619"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82" name="Google Shape;1882;p24"/>
          <p:cNvSpPr/>
          <p:nvPr/>
        </p:nvSpPr>
        <p:spPr>
          <a:xfrm>
            <a:off x="3309619" y="2382275"/>
            <a:ext cx="1190100" cy="28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SciantixVariable</a:t>
            </a:r>
            <a:endParaRPr sz="1100">
              <a:solidFill>
                <a:srgbClr val="000000"/>
              </a:solidFill>
              <a:latin typeface="Arial"/>
              <a:ea typeface="Arial"/>
              <a:cs typeface="Arial"/>
              <a:sym typeface="Arial"/>
            </a:endParaRPr>
          </a:p>
        </p:txBody>
      </p:sp>
      <p:sp>
        <p:nvSpPr>
          <p:cNvPr id="1883" name="Google Shape;1883;p24"/>
          <p:cNvSpPr/>
          <p:nvPr/>
        </p:nvSpPr>
        <p:spPr>
          <a:xfrm>
            <a:off x="4795305" y="2396291"/>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884" name="Google Shape;1884;p24"/>
          <p:cNvSpPr/>
          <p:nvPr/>
        </p:nvSpPr>
        <p:spPr>
          <a:xfrm>
            <a:off x="4795305" y="18886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85" name="Google Shape;1885;p24"/>
          <p:cNvSpPr/>
          <p:nvPr/>
        </p:nvSpPr>
        <p:spPr>
          <a:xfrm>
            <a:off x="6271663" y="129980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886" name="Google Shape;1886;p24"/>
          <p:cNvSpPr/>
          <p:nvPr/>
        </p:nvSpPr>
        <p:spPr>
          <a:xfrm>
            <a:off x="6271663" y="1811900"/>
            <a:ext cx="1190100" cy="288000"/>
          </a:xfrm>
          <a:prstGeom prst="rect">
            <a:avLst/>
          </a:prstGeom>
          <a:solidFill>
            <a:srgbClr val="B4A7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Gas</a:t>
            </a:r>
            <a:endParaRPr sz="1100"/>
          </a:p>
        </p:txBody>
      </p:sp>
      <p:sp>
        <p:nvSpPr>
          <p:cNvPr id="1887" name="Google Shape;1887;p24"/>
          <p:cNvSpPr/>
          <p:nvPr/>
        </p:nvSpPr>
        <p:spPr>
          <a:xfrm>
            <a:off x="7757349" y="1820800"/>
            <a:ext cx="1190100" cy="2880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Matrix</a:t>
            </a:r>
            <a:endParaRPr sz="1100"/>
          </a:p>
        </p:txBody>
      </p:sp>
      <p:sp>
        <p:nvSpPr>
          <p:cNvPr id="1888" name="Google Shape;1888;p24"/>
          <p:cNvSpPr/>
          <p:nvPr/>
        </p:nvSpPr>
        <p:spPr>
          <a:xfrm>
            <a:off x="7757349" y="130425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889" name="Google Shape;1889;p24"/>
          <p:cNvSpPr/>
          <p:nvPr/>
        </p:nvSpPr>
        <p:spPr>
          <a:xfrm>
            <a:off x="6978699" y="2396300"/>
            <a:ext cx="1190100" cy="288000"/>
          </a:xfrm>
          <a:prstGeom prst="rect">
            <a:avLst/>
          </a:prstGeom>
          <a:solidFill>
            <a:srgbClr val="DD7E6B"/>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System</a:t>
            </a:r>
            <a:endParaRPr sz="1100"/>
          </a:p>
        </p:txBody>
      </p:sp>
      <p:cxnSp>
        <p:nvCxnSpPr>
          <p:cNvPr id="1890" name="Google Shape;1890;p24"/>
          <p:cNvCxnSpPr>
            <a:stCxn id="1875" idx="0"/>
            <a:endCxn id="1876" idx="2"/>
          </p:cNvCxnSpPr>
          <p:nvPr/>
        </p:nvCxnSpPr>
        <p:spPr>
          <a:xfrm rot="10800000">
            <a:off x="942625"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1" name="Google Shape;1891;p24"/>
          <p:cNvCxnSpPr>
            <a:stCxn id="1873" idx="0"/>
            <a:endCxn id="1875" idx="2"/>
          </p:cNvCxnSpPr>
          <p:nvPr/>
        </p:nvCxnSpPr>
        <p:spPr>
          <a:xfrm rot="10800000">
            <a:off x="942625" y="2684399"/>
            <a:ext cx="0" cy="541500"/>
          </a:xfrm>
          <a:prstGeom prst="straightConnector1">
            <a:avLst/>
          </a:prstGeom>
          <a:noFill/>
          <a:ln w="19050" cap="flat" cmpd="sng">
            <a:solidFill>
              <a:schemeClr val="dk1"/>
            </a:solidFill>
            <a:prstDash val="solid"/>
            <a:miter lim="800000"/>
            <a:headEnd type="none" w="sm" len="sm"/>
            <a:tailEnd type="triangle" w="med" len="med"/>
          </a:ln>
        </p:spPr>
      </p:cxnSp>
      <p:cxnSp>
        <p:nvCxnSpPr>
          <p:cNvPr id="1892" name="Google Shape;1892;p24"/>
          <p:cNvCxnSpPr>
            <a:stCxn id="1877" idx="0"/>
            <a:endCxn id="1878" idx="2"/>
          </p:cNvCxnSpPr>
          <p:nvPr/>
        </p:nvCxnSpPr>
        <p:spPr>
          <a:xfrm rot="10800000">
            <a:off x="2418983"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3" name="Google Shape;1893;p24"/>
          <p:cNvCxnSpPr>
            <a:stCxn id="1879" idx="0"/>
            <a:endCxn id="1877" idx="2"/>
          </p:cNvCxnSpPr>
          <p:nvPr/>
        </p:nvCxnSpPr>
        <p:spPr>
          <a:xfrm rot="10800000">
            <a:off x="2418983"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4" name="Google Shape;1894;p24"/>
          <p:cNvCxnSpPr>
            <a:stCxn id="1880" idx="0"/>
            <a:endCxn id="1881" idx="2"/>
          </p:cNvCxnSpPr>
          <p:nvPr/>
        </p:nvCxnSpPr>
        <p:spPr>
          <a:xfrm rot="10800000">
            <a:off x="3904669"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5" name="Google Shape;1895;p24"/>
          <p:cNvCxnSpPr>
            <a:stCxn id="1882" idx="0"/>
            <a:endCxn id="1880" idx="2"/>
          </p:cNvCxnSpPr>
          <p:nvPr/>
        </p:nvCxnSpPr>
        <p:spPr>
          <a:xfrm rot="10800000">
            <a:off x="3904669" y="2172275"/>
            <a:ext cx="0" cy="210000"/>
          </a:xfrm>
          <a:prstGeom prst="straightConnector1">
            <a:avLst/>
          </a:prstGeom>
          <a:noFill/>
          <a:ln w="19050" cap="flat" cmpd="sng">
            <a:solidFill>
              <a:schemeClr val="dk1"/>
            </a:solidFill>
            <a:prstDash val="solid"/>
            <a:miter lim="800000"/>
            <a:headEnd type="none" w="sm" len="sm"/>
            <a:tailEnd type="triangle" w="med" len="med"/>
          </a:ln>
        </p:spPr>
      </p:cxnSp>
      <p:cxnSp>
        <p:nvCxnSpPr>
          <p:cNvPr id="1896" name="Google Shape;1896;p24"/>
          <p:cNvCxnSpPr>
            <a:stCxn id="1883" idx="0"/>
            <a:endCxn id="1884" idx="2"/>
          </p:cNvCxnSpPr>
          <p:nvPr/>
        </p:nvCxnSpPr>
        <p:spPr>
          <a:xfrm rot="10800000">
            <a:off x="5390355" y="2176691"/>
            <a:ext cx="0" cy="219600"/>
          </a:xfrm>
          <a:prstGeom prst="straightConnector1">
            <a:avLst/>
          </a:prstGeom>
          <a:noFill/>
          <a:ln w="19050" cap="flat" cmpd="sng">
            <a:solidFill>
              <a:schemeClr val="dk1"/>
            </a:solidFill>
            <a:prstDash val="solid"/>
            <a:miter lim="800000"/>
            <a:headEnd type="none" w="sm" len="sm"/>
            <a:tailEnd type="triangle" w="med" len="med"/>
          </a:ln>
        </p:spPr>
      </p:cxnSp>
      <p:cxnSp>
        <p:nvCxnSpPr>
          <p:cNvPr id="1897" name="Google Shape;1897;p24"/>
          <p:cNvCxnSpPr>
            <a:stCxn id="1887" idx="0"/>
            <a:endCxn id="1888" idx="2"/>
          </p:cNvCxnSpPr>
          <p:nvPr/>
        </p:nvCxnSpPr>
        <p:spPr>
          <a:xfrm rot="10800000">
            <a:off x="8352399" y="1592200"/>
            <a:ext cx="0" cy="228600"/>
          </a:xfrm>
          <a:prstGeom prst="straightConnector1">
            <a:avLst/>
          </a:prstGeom>
          <a:noFill/>
          <a:ln w="19050" cap="flat" cmpd="sng">
            <a:solidFill>
              <a:schemeClr val="dk1"/>
            </a:solidFill>
            <a:prstDash val="solid"/>
            <a:miter lim="800000"/>
            <a:headEnd type="none" w="sm" len="sm"/>
            <a:tailEnd type="triangle" w="med" len="med"/>
          </a:ln>
        </p:spPr>
      </p:cxnSp>
      <p:cxnSp>
        <p:nvCxnSpPr>
          <p:cNvPr id="1898" name="Google Shape;1898;p24"/>
          <p:cNvCxnSpPr>
            <a:stCxn id="1886" idx="0"/>
            <a:endCxn id="1885" idx="2"/>
          </p:cNvCxnSpPr>
          <p:nvPr/>
        </p:nvCxnSpPr>
        <p:spPr>
          <a:xfrm rot="10800000">
            <a:off x="6866713" y="15878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9" name="Google Shape;1899;p24"/>
          <p:cNvCxnSpPr>
            <a:stCxn id="1873" idx="2"/>
            <a:endCxn id="1874" idx="2"/>
          </p:cNvCxnSpPr>
          <p:nvPr/>
        </p:nvCxnSpPr>
        <p:spPr>
          <a:xfrm rot="-5400000" flipH="1">
            <a:off x="2821675" y="1634849"/>
            <a:ext cx="600" cy="3758700"/>
          </a:xfrm>
          <a:prstGeom prst="bentConnector3">
            <a:avLst>
              <a:gd name="adj1" fmla="val 39687500"/>
            </a:avLst>
          </a:prstGeom>
          <a:noFill/>
          <a:ln w="19050" cap="flat" cmpd="sng">
            <a:solidFill>
              <a:schemeClr val="dk1"/>
            </a:solidFill>
            <a:prstDash val="solid"/>
            <a:miter lim="800000"/>
            <a:headEnd type="none" w="sm" len="sm"/>
            <a:tailEnd type="none" w="sm" len="sm"/>
          </a:ln>
        </p:spPr>
      </p:cxnSp>
      <p:cxnSp>
        <p:nvCxnSpPr>
          <p:cNvPr id="1900" name="Google Shape;1900;p24"/>
          <p:cNvCxnSpPr>
            <a:stCxn id="1879" idx="2"/>
            <a:endCxn id="1882" idx="2"/>
          </p:cNvCxnSpPr>
          <p:nvPr/>
        </p:nvCxnSpPr>
        <p:spPr>
          <a:xfrm rot="-5400000">
            <a:off x="3154733" y="1934450"/>
            <a:ext cx="14100" cy="1485600"/>
          </a:xfrm>
          <a:prstGeom prst="bentConnector3">
            <a:avLst>
              <a:gd name="adj1" fmla="val -1688830"/>
            </a:avLst>
          </a:prstGeom>
          <a:noFill/>
          <a:ln w="19050" cap="flat" cmpd="sng">
            <a:solidFill>
              <a:schemeClr val="dk1"/>
            </a:solidFill>
            <a:prstDash val="solid"/>
            <a:miter lim="800000"/>
            <a:headEnd type="triangle" w="med" len="med"/>
            <a:tailEnd type="triangle" w="med" len="med"/>
          </a:ln>
        </p:spPr>
      </p:cxnSp>
      <p:cxnSp>
        <p:nvCxnSpPr>
          <p:cNvPr id="1901" name="Google Shape;1901;p24"/>
          <p:cNvCxnSpPr>
            <a:stCxn id="1882" idx="2"/>
            <a:endCxn id="1883" idx="2"/>
          </p:cNvCxnSpPr>
          <p:nvPr/>
        </p:nvCxnSpPr>
        <p:spPr>
          <a:xfrm rot="-5400000" flipH="1">
            <a:off x="4640419" y="1934525"/>
            <a:ext cx="14100" cy="1485600"/>
          </a:xfrm>
          <a:prstGeom prst="bentConnector3">
            <a:avLst>
              <a:gd name="adj1" fmla="val 1788234"/>
            </a:avLst>
          </a:prstGeom>
          <a:noFill/>
          <a:ln w="19050" cap="flat" cmpd="sng">
            <a:solidFill>
              <a:schemeClr val="dk1"/>
            </a:solidFill>
            <a:prstDash val="solid"/>
            <a:miter lim="800000"/>
            <a:headEnd type="triangle" w="med" len="med"/>
            <a:tailEnd type="triangle" w="med" len="med"/>
          </a:ln>
        </p:spPr>
      </p:cxnSp>
      <p:cxnSp>
        <p:nvCxnSpPr>
          <p:cNvPr id="1902" name="Google Shape;1902;p24"/>
          <p:cNvCxnSpPr>
            <a:stCxn id="1883" idx="2"/>
            <a:endCxn id="1889" idx="2"/>
          </p:cNvCxnSpPr>
          <p:nvPr/>
        </p:nvCxnSpPr>
        <p:spPr>
          <a:xfrm rot="-5400000" flipH="1">
            <a:off x="6481755" y="1592891"/>
            <a:ext cx="600" cy="2183400"/>
          </a:xfrm>
          <a:prstGeom prst="bentConnector3">
            <a:avLst>
              <a:gd name="adj1" fmla="val 39689000"/>
            </a:avLst>
          </a:prstGeom>
          <a:noFill/>
          <a:ln w="19050" cap="flat" cmpd="sng">
            <a:solidFill>
              <a:schemeClr val="dk1"/>
            </a:solidFill>
            <a:prstDash val="solid"/>
            <a:miter lim="800000"/>
            <a:headEnd type="triangle" w="med" len="med"/>
            <a:tailEnd type="triangle" w="med" len="med"/>
          </a:ln>
        </p:spPr>
      </p:cxnSp>
      <p:cxnSp>
        <p:nvCxnSpPr>
          <p:cNvPr id="1903" name="Google Shape;1903;p24"/>
          <p:cNvCxnSpPr>
            <a:stCxn id="1886" idx="2"/>
            <a:endCxn id="1887" idx="2"/>
          </p:cNvCxnSpPr>
          <p:nvPr/>
        </p:nvCxnSpPr>
        <p:spPr>
          <a:xfrm rot="-5400000" flipH="1">
            <a:off x="7605013" y="1361600"/>
            <a:ext cx="9000" cy="1485600"/>
          </a:xfrm>
          <a:prstGeom prst="bentConnector3">
            <a:avLst>
              <a:gd name="adj1" fmla="val 2744722"/>
            </a:avLst>
          </a:prstGeom>
          <a:noFill/>
          <a:ln w="19050" cap="flat" cmpd="sng">
            <a:solidFill>
              <a:schemeClr val="dk1"/>
            </a:solidFill>
            <a:prstDash val="solid"/>
            <a:miter lim="800000"/>
            <a:headEnd type="triangle" w="med" len="med"/>
            <a:tailEnd type="triangle" w="med" len="med"/>
          </a:ln>
        </p:spPr>
      </p:cxnSp>
      <p:cxnSp>
        <p:nvCxnSpPr>
          <p:cNvPr id="1904" name="Google Shape;1904;p24"/>
          <p:cNvCxnSpPr/>
          <p:nvPr/>
        </p:nvCxnSpPr>
        <p:spPr>
          <a:xfrm rot="10800000">
            <a:off x="7573649" y="2322200"/>
            <a:ext cx="0" cy="74100"/>
          </a:xfrm>
          <a:prstGeom prst="straightConnector1">
            <a:avLst/>
          </a:prstGeom>
          <a:noFill/>
          <a:ln w="19050" cap="flat" cmpd="sng">
            <a:solidFill>
              <a:schemeClr val="dk1"/>
            </a:solidFill>
            <a:prstDash val="solid"/>
            <a:miter lim="800000"/>
            <a:headEnd type="none" w="sm" len="sm"/>
            <a:tailEnd type="none" w="sm" len="sm"/>
          </a:ln>
        </p:spPr>
      </p:cxnSp>
      <p:cxnSp>
        <p:nvCxnSpPr>
          <p:cNvPr id="1905" name="Google Shape;1905;p24"/>
          <p:cNvCxnSpPr>
            <a:endCxn id="1874" idx="0"/>
          </p:cNvCxnSpPr>
          <p:nvPr/>
        </p:nvCxnSpPr>
        <p:spPr>
          <a:xfrm>
            <a:off x="4701315" y="2910599"/>
            <a:ext cx="0" cy="315300"/>
          </a:xfrm>
          <a:prstGeom prst="straightConnector1">
            <a:avLst/>
          </a:prstGeom>
          <a:noFill/>
          <a:ln w="19050" cap="flat" cmpd="sng">
            <a:solidFill>
              <a:schemeClr val="dk1"/>
            </a:solidFill>
            <a:prstDash val="solid"/>
            <a:miter lim="800000"/>
            <a:headEnd type="none" w="sm" len="sm"/>
            <a:tailEnd type="none" w="sm" len="sm"/>
          </a:ln>
        </p:spPr>
      </p:cxnSp>
      <p:cxnSp>
        <p:nvCxnSpPr>
          <p:cNvPr id="1906" name="Google Shape;1906;p24"/>
          <p:cNvCxnSpPr>
            <a:stCxn id="1872" idx="0"/>
          </p:cNvCxnSpPr>
          <p:nvPr/>
        </p:nvCxnSpPr>
        <p:spPr>
          <a:xfrm rot="10800000">
            <a:off x="2714769" y="3739100"/>
            <a:ext cx="0" cy="363300"/>
          </a:xfrm>
          <a:prstGeom prst="straightConnector1">
            <a:avLst/>
          </a:prstGeom>
          <a:noFill/>
          <a:ln w="19050" cap="flat" cmpd="sng">
            <a:solidFill>
              <a:schemeClr val="dk1"/>
            </a:solidFill>
            <a:prstDash val="solid"/>
            <a:miter lim="800000"/>
            <a:headEnd type="none" w="sm" len="sm"/>
            <a:tailEnd type="none" w="sm" len="sm"/>
          </a:ln>
        </p:spPr>
      </p:cxnSp>
      <p:sp>
        <p:nvSpPr>
          <p:cNvPr id="1907" name="Google Shape;1907;p24"/>
          <p:cNvSpPr/>
          <p:nvPr/>
        </p:nvSpPr>
        <p:spPr>
          <a:xfrm>
            <a:off x="6214375" y="1744450"/>
            <a:ext cx="2790300" cy="1070700"/>
          </a:xfrm>
          <a:prstGeom prst="roundRect">
            <a:avLst>
              <a:gd name="adj" fmla="val 0"/>
            </a:avLst>
          </a:prstGeom>
          <a:noFill/>
          <a:ln w="2857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08" name="Google Shape;1908;p24"/>
          <p:cNvSpPr/>
          <p:nvPr/>
        </p:nvSpPr>
        <p:spPr>
          <a:xfrm>
            <a:off x="3958525" y="3077700"/>
            <a:ext cx="1485600" cy="584400"/>
          </a:xfrm>
          <a:prstGeom prst="roundRect">
            <a:avLst>
              <a:gd name="adj" fmla="val 0"/>
            </a:avLst>
          </a:prstGeom>
          <a:noFill/>
          <a:ln w="2857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3"/>
        <p:cNvGrpSpPr/>
        <p:nvPr/>
      </p:nvGrpSpPr>
      <p:grpSpPr>
        <a:xfrm>
          <a:off x="0" y="0"/>
          <a:ext cx="0" cy="0"/>
          <a:chOff x="0" y="0"/>
          <a:chExt cx="0" cy="0"/>
        </a:xfrm>
      </p:grpSpPr>
      <p:sp>
        <p:nvSpPr>
          <p:cNvPr id="1914" name="Google Shape;1914;p25"/>
          <p:cNvSpPr txBox="1">
            <a:spLocks noGrp="1"/>
          </p:cNvSpPr>
          <p:nvPr>
            <p:ph type="title" idx="4294967295"/>
          </p:nvPr>
        </p:nvSpPr>
        <p:spPr>
          <a:xfrm>
            <a:off x="4358639" y="178945"/>
            <a:ext cx="4588801" cy="46875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inheritance diagram</a:t>
            </a:r>
            <a:endParaRPr/>
          </a:p>
        </p:txBody>
      </p:sp>
      <p:sp>
        <p:nvSpPr>
          <p:cNvPr id="1915" name="Google Shape;1915;p25"/>
          <p:cNvSpPr/>
          <p:nvPr/>
        </p:nvSpPr>
        <p:spPr>
          <a:xfrm>
            <a:off x="6170050" y="1284377"/>
            <a:ext cx="2897700" cy="1092900"/>
          </a:xfrm>
          <a:prstGeom prst="roundRect">
            <a:avLst>
              <a:gd name="adj" fmla="val 0"/>
            </a:avLst>
          </a:prstGeom>
          <a:noFill/>
          <a:ln w="28575" cap="flat" cmpd="sng">
            <a:solidFill>
              <a:srgbClr val="5F497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6" name="Google Shape;1916;p25"/>
          <p:cNvSpPr/>
          <p:nvPr/>
        </p:nvSpPr>
        <p:spPr>
          <a:xfrm>
            <a:off x="4056300" y="2687200"/>
            <a:ext cx="1455000" cy="468900"/>
          </a:xfrm>
          <a:prstGeom prst="roundRect">
            <a:avLst>
              <a:gd name="adj" fmla="val 0"/>
            </a:avLst>
          </a:prstGeom>
          <a:noFill/>
          <a:ln w="28575" cap="flat" cmpd="sng">
            <a:solidFill>
              <a:srgbClr val="5F497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7" name="Google Shape;1917;p25"/>
          <p:cNvSpPr txBox="1"/>
          <p:nvPr/>
        </p:nvSpPr>
        <p:spPr>
          <a:xfrm>
            <a:off x="5511300" y="3210425"/>
            <a:ext cx="3632700" cy="1092900"/>
          </a:xfrm>
          <a:prstGeom prst="rect">
            <a:avLst/>
          </a:prstGeom>
          <a:noFill/>
          <a:ln>
            <a:noFill/>
          </a:ln>
        </p:spPr>
        <p:txBody>
          <a:bodyPr spcFirstLastPara="1" wrap="square" lIns="91425" tIns="45700" rIns="91425" bIns="45700" anchor="t" anchorCtr="0">
            <a:spAutoFit/>
          </a:bodyPr>
          <a:lstStyle/>
          <a:p>
            <a:pPr marL="285750" marR="0" lvl="0" indent="-254000" algn="l" rtl="0">
              <a:spcBef>
                <a:spcPts val="0"/>
              </a:spcBef>
              <a:spcAft>
                <a:spcPts val="0"/>
              </a:spcAft>
              <a:buClr>
                <a:srgbClr val="5F497A"/>
              </a:buClr>
              <a:buSzPts val="1300"/>
              <a:buFont typeface="Arial"/>
              <a:buChar char="-"/>
            </a:pPr>
            <a:r>
              <a:rPr lang="en-GB" sz="1300">
                <a:solidFill>
                  <a:srgbClr val="5F497A"/>
                </a:solidFill>
                <a:latin typeface="Arial"/>
                <a:ea typeface="Arial"/>
                <a:cs typeface="Arial"/>
                <a:sym typeface="Arial"/>
              </a:rPr>
              <a:t>Connected to fuel microstructure (e.g., </a:t>
            </a:r>
            <a:r>
              <a:rPr lang="en-GB" sz="1300">
                <a:solidFill>
                  <a:srgbClr val="5F497A"/>
                </a:solidFill>
              </a:rPr>
              <a:t>h</a:t>
            </a:r>
            <a:r>
              <a:rPr lang="en-GB" sz="1300">
                <a:solidFill>
                  <a:srgbClr val="5F497A"/>
                </a:solidFill>
                <a:latin typeface="Arial"/>
                <a:ea typeface="Arial"/>
                <a:cs typeface="Arial"/>
                <a:sym typeface="Arial"/>
              </a:rPr>
              <a:t>igh</a:t>
            </a:r>
            <a:r>
              <a:rPr lang="en-GB" sz="1300">
                <a:solidFill>
                  <a:srgbClr val="5F497A"/>
                </a:solidFill>
              </a:rPr>
              <a:t>-b</a:t>
            </a:r>
            <a:r>
              <a:rPr lang="en-GB" sz="1300">
                <a:solidFill>
                  <a:srgbClr val="5F497A"/>
                </a:solidFill>
                <a:latin typeface="Arial"/>
                <a:ea typeface="Arial"/>
                <a:cs typeface="Arial"/>
                <a:sym typeface="Arial"/>
              </a:rPr>
              <a:t>urnup </a:t>
            </a:r>
            <a:r>
              <a:rPr lang="en-GB" sz="1300">
                <a:solidFill>
                  <a:srgbClr val="5F497A"/>
                </a:solidFill>
              </a:rPr>
              <a:t>s</a:t>
            </a:r>
            <a:r>
              <a:rPr lang="en-GB" sz="1300">
                <a:solidFill>
                  <a:srgbClr val="5F497A"/>
                </a:solidFill>
                <a:latin typeface="Arial"/>
                <a:ea typeface="Arial"/>
                <a:cs typeface="Arial"/>
                <a:sym typeface="Arial"/>
              </a:rPr>
              <a:t>tructure)</a:t>
            </a:r>
            <a:endParaRPr sz="1300"/>
          </a:p>
          <a:p>
            <a:pPr marL="285750" marR="0" lvl="0" indent="-254000" algn="l" rtl="0">
              <a:spcBef>
                <a:spcPts val="0"/>
              </a:spcBef>
              <a:spcAft>
                <a:spcPts val="0"/>
              </a:spcAft>
              <a:buClr>
                <a:srgbClr val="5F497A"/>
              </a:buClr>
              <a:buSzPts val="1300"/>
              <a:buFont typeface="Arial"/>
              <a:buChar char="-"/>
            </a:pPr>
            <a:r>
              <a:rPr lang="en-GB" sz="1300">
                <a:solidFill>
                  <a:srgbClr val="5F497A"/>
                </a:solidFill>
                <a:latin typeface="Arial"/>
                <a:ea typeface="Arial"/>
                <a:cs typeface="Arial"/>
                <a:sym typeface="Arial"/>
              </a:rPr>
              <a:t>Connection to material properties</a:t>
            </a:r>
            <a:endParaRPr sz="1300"/>
          </a:p>
          <a:p>
            <a:pPr marL="285750" marR="0" lvl="0" indent="-254000" algn="l" rtl="0">
              <a:spcBef>
                <a:spcPts val="0"/>
              </a:spcBef>
              <a:spcAft>
                <a:spcPts val="0"/>
              </a:spcAft>
              <a:buClr>
                <a:srgbClr val="5F497A"/>
              </a:buClr>
              <a:buSzPts val="1300"/>
              <a:buFont typeface="Arial"/>
              <a:buChar char="-"/>
            </a:pPr>
            <a:r>
              <a:rPr lang="en-GB" sz="1300">
                <a:solidFill>
                  <a:srgbClr val="5F497A"/>
                </a:solidFill>
                <a:latin typeface="Arial"/>
                <a:ea typeface="Arial"/>
                <a:cs typeface="Arial"/>
                <a:sym typeface="Arial"/>
              </a:rPr>
              <a:t>Use of advanced modelling techniques (surrogate modelling)</a:t>
            </a:r>
            <a:endParaRPr sz="1300"/>
          </a:p>
        </p:txBody>
      </p:sp>
      <p:pic>
        <p:nvPicPr>
          <p:cNvPr id="1918" name="Google Shape;1918;p25"/>
          <p:cNvPicPr preferRelativeResize="0"/>
          <p:nvPr/>
        </p:nvPicPr>
        <p:blipFill rotWithShape="1">
          <a:blip r:embed="rId3">
            <a:alphaModFix/>
          </a:blip>
          <a:srcRect/>
          <a:stretch/>
        </p:blipFill>
        <p:spPr>
          <a:xfrm>
            <a:off x="288280" y="3861719"/>
            <a:ext cx="1076872" cy="878582"/>
          </a:xfrm>
          <a:prstGeom prst="rect">
            <a:avLst/>
          </a:prstGeom>
          <a:noFill/>
          <a:ln>
            <a:noFill/>
          </a:ln>
        </p:spPr>
      </p:pic>
      <p:sp>
        <p:nvSpPr>
          <p:cNvPr id="1919" name="Google Shape;1919;p25"/>
          <p:cNvSpPr/>
          <p:nvPr/>
        </p:nvSpPr>
        <p:spPr>
          <a:xfrm>
            <a:off x="2170494" y="3654150"/>
            <a:ext cx="1190100" cy="28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Simulation</a:t>
            </a:r>
            <a:endParaRPr sz="1100"/>
          </a:p>
        </p:txBody>
      </p:sp>
      <p:sp>
        <p:nvSpPr>
          <p:cNvPr id="1920" name="Google Shape;1920;p25"/>
          <p:cNvSpPr/>
          <p:nvPr/>
        </p:nvSpPr>
        <p:spPr>
          <a:xfrm>
            <a:off x="398350" y="2777649"/>
            <a:ext cx="1190100" cy="28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Solver</a:t>
            </a:r>
            <a:endParaRPr sz="1100"/>
          </a:p>
        </p:txBody>
      </p:sp>
      <p:sp>
        <p:nvSpPr>
          <p:cNvPr id="1921" name="Google Shape;1921;p25"/>
          <p:cNvSpPr/>
          <p:nvPr/>
        </p:nvSpPr>
        <p:spPr>
          <a:xfrm>
            <a:off x="4157040" y="2777649"/>
            <a:ext cx="1190100" cy="288000"/>
          </a:xfrm>
          <a:prstGeom prst="rect">
            <a:avLst/>
          </a:prstGeom>
          <a:solidFill>
            <a:srgbClr val="D0E0E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Model</a:t>
            </a:r>
            <a:endParaRPr sz="1100"/>
          </a:p>
        </p:txBody>
      </p:sp>
      <p:sp>
        <p:nvSpPr>
          <p:cNvPr id="1922" name="Google Shape;1922;p25"/>
          <p:cNvSpPr/>
          <p:nvPr/>
        </p:nvSpPr>
        <p:spPr>
          <a:xfrm>
            <a:off x="398350" y="194805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923" name="Google Shape;1923;p25"/>
          <p:cNvSpPr/>
          <p:nvPr/>
        </p:nvSpPr>
        <p:spPr>
          <a:xfrm>
            <a:off x="398350" y="14359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924" name="Google Shape;1924;p25"/>
          <p:cNvSpPr/>
          <p:nvPr/>
        </p:nvSpPr>
        <p:spPr>
          <a:xfrm>
            <a:off x="1874708" y="143595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t>PhysicsVariable</a:t>
            </a:r>
            <a:endParaRPr sz="1100">
              <a:solidFill>
                <a:srgbClr val="000000"/>
              </a:solidFill>
              <a:latin typeface="Arial"/>
              <a:ea typeface="Arial"/>
              <a:cs typeface="Arial"/>
              <a:sym typeface="Arial"/>
            </a:endParaRPr>
          </a:p>
        </p:txBody>
      </p:sp>
      <p:sp>
        <p:nvSpPr>
          <p:cNvPr id="1925" name="Google Shape;1925;p25"/>
          <p:cNvSpPr/>
          <p:nvPr/>
        </p:nvSpPr>
        <p:spPr>
          <a:xfrm>
            <a:off x="1874708" y="9238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926" name="Google Shape;1926;p25"/>
          <p:cNvSpPr/>
          <p:nvPr/>
        </p:nvSpPr>
        <p:spPr>
          <a:xfrm>
            <a:off x="1874708" y="1948050"/>
            <a:ext cx="1190100" cy="288000"/>
          </a:xfrm>
          <a:prstGeom prst="rect">
            <a:avLst/>
          </a:prstGeom>
          <a:solidFill>
            <a:srgbClr val="FCE5C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HistoryVariable</a:t>
            </a:r>
            <a:endParaRPr sz="1100">
              <a:solidFill>
                <a:srgbClr val="000000"/>
              </a:solidFill>
              <a:latin typeface="Arial"/>
              <a:ea typeface="Arial"/>
              <a:cs typeface="Arial"/>
              <a:sym typeface="Arial"/>
            </a:endParaRPr>
          </a:p>
        </p:txBody>
      </p:sp>
      <p:sp>
        <p:nvSpPr>
          <p:cNvPr id="1927" name="Google Shape;1927;p25"/>
          <p:cNvSpPr/>
          <p:nvPr/>
        </p:nvSpPr>
        <p:spPr>
          <a:xfrm>
            <a:off x="3360394" y="143595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928" name="Google Shape;1928;p25"/>
          <p:cNvSpPr/>
          <p:nvPr/>
        </p:nvSpPr>
        <p:spPr>
          <a:xfrm>
            <a:off x="3360394" y="9238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929" name="Google Shape;1929;p25"/>
          <p:cNvSpPr/>
          <p:nvPr/>
        </p:nvSpPr>
        <p:spPr>
          <a:xfrm>
            <a:off x="3360394" y="1934025"/>
            <a:ext cx="1190100" cy="28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SciantixVariable</a:t>
            </a:r>
            <a:endParaRPr sz="1100">
              <a:solidFill>
                <a:srgbClr val="000000"/>
              </a:solidFill>
              <a:latin typeface="Arial"/>
              <a:ea typeface="Arial"/>
              <a:cs typeface="Arial"/>
              <a:sym typeface="Arial"/>
            </a:endParaRPr>
          </a:p>
        </p:txBody>
      </p:sp>
      <p:sp>
        <p:nvSpPr>
          <p:cNvPr id="1930" name="Google Shape;1930;p25"/>
          <p:cNvSpPr/>
          <p:nvPr/>
        </p:nvSpPr>
        <p:spPr>
          <a:xfrm>
            <a:off x="4846080" y="1948041"/>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931" name="Google Shape;1931;p25"/>
          <p:cNvSpPr/>
          <p:nvPr/>
        </p:nvSpPr>
        <p:spPr>
          <a:xfrm>
            <a:off x="4846080" y="14404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932" name="Google Shape;1932;p25"/>
          <p:cNvSpPr/>
          <p:nvPr/>
        </p:nvSpPr>
        <p:spPr>
          <a:xfrm>
            <a:off x="6322438" y="85155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933" name="Google Shape;1933;p25"/>
          <p:cNvSpPr/>
          <p:nvPr/>
        </p:nvSpPr>
        <p:spPr>
          <a:xfrm>
            <a:off x="6322438" y="1363650"/>
            <a:ext cx="1190100" cy="288000"/>
          </a:xfrm>
          <a:prstGeom prst="rect">
            <a:avLst/>
          </a:prstGeom>
          <a:solidFill>
            <a:srgbClr val="B4A7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Gas</a:t>
            </a:r>
            <a:endParaRPr sz="1100"/>
          </a:p>
        </p:txBody>
      </p:sp>
      <p:sp>
        <p:nvSpPr>
          <p:cNvPr id="1934" name="Google Shape;1934;p25"/>
          <p:cNvSpPr/>
          <p:nvPr/>
        </p:nvSpPr>
        <p:spPr>
          <a:xfrm>
            <a:off x="7808124" y="1372550"/>
            <a:ext cx="1190100" cy="2880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Matrix</a:t>
            </a:r>
            <a:endParaRPr sz="1100"/>
          </a:p>
        </p:txBody>
      </p:sp>
      <p:sp>
        <p:nvSpPr>
          <p:cNvPr id="1935" name="Google Shape;1935;p25"/>
          <p:cNvSpPr/>
          <p:nvPr/>
        </p:nvSpPr>
        <p:spPr>
          <a:xfrm>
            <a:off x="7808124" y="85600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936" name="Google Shape;1936;p25"/>
          <p:cNvSpPr/>
          <p:nvPr/>
        </p:nvSpPr>
        <p:spPr>
          <a:xfrm>
            <a:off x="7029474" y="1948050"/>
            <a:ext cx="1190100" cy="288000"/>
          </a:xfrm>
          <a:prstGeom prst="rect">
            <a:avLst/>
          </a:prstGeom>
          <a:solidFill>
            <a:srgbClr val="DD7E6B"/>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System</a:t>
            </a:r>
            <a:endParaRPr sz="1100"/>
          </a:p>
        </p:txBody>
      </p:sp>
      <p:cxnSp>
        <p:nvCxnSpPr>
          <p:cNvPr id="1937" name="Google Shape;1937;p25"/>
          <p:cNvCxnSpPr>
            <a:stCxn id="1922" idx="0"/>
            <a:endCxn id="1923" idx="2"/>
          </p:cNvCxnSpPr>
          <p:nvPr/>
        </p:nvCxnSpPr>
        <p:spPr>
          <a:xfrm rot="10800000">
            <a:off x="993400" y="17239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38" name="Google Shape;1938;p25"/>
          <p:cNvCxnSpPr>
            <a:stCxn id="1920" idx="0"/>
            <a:endCxn id="1922" idx="2"/>
          </p:cNvCxnSpPr>
          <p:nvPr/>
        </p:nvCxnSpPr>
        <p:spPr>
          <a:xfrm rot="10800000">
            <a:off x="993400" y="2236149"/>
            <a:ext cx="0" cy="541500"/>
          </a:xfrm>
          <a:prstGeom prst="straightConnector1">
            <a:avLst/>
          </a:prstGeom>
          <a:noFill/>
          <a:ln w="19050" cap="flat" cmpd="sng">
            <a:solidFill>
              <a:schemeClr val="dk1"/>
            </a:solidFill>
            <a:prstDash val="solid"/>
            <a:miter lim="800000"/>
            <a:headEnd type="none" w="sm" len="sm"/>
            <a:tailEnd type="triangle" w="med" len="med"/>
          </a:ln>
        </p:spPr>
      </p:cxnSp>
      <p:cxnSp>
        <p:nvCxnSpPr>
          <p:cNvPr id="1939" name="Google Shape;1939;p25"/>
          <p:cNvCxnSpPr>
            <a:stCxn id="1924" idx="0"/>
            <a:endCxn id="1925" idx="2"/>
          </p:cNvCxnSpPr>
          <p:nvPr/>
        </p:nvCxnSpPr>
        <p:spPr>
          <a:xfrm rot="10800000">
            <a:off x="2469758" y="12118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40" name="Google Shape;1940;p25"/>
          <p:cNvCxnSpPr>
            <a:stCxn id="1926" idx="0"/>
            <a:endCxn id="1924" idx="2"/>
          </p:cNvCxnSpPr>
          <p:nvPr/>
        </p:nvCxnSpPr>
        <p:spPr>
          <a:xfrm rot="10800000">
            <a:off x="2469758" y="17239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41" name="Google Shape;1941;p25"/>
          <p:cNvCxnSpPr>
            <a:stCxn id="1927" idx="0"/>
            <a:endCxn id="1928" idx="2"/>
          </p:cNvCxnSpPr>
          <p:nvPr/>
        </p:nvCxnSpPr>
        <p:spPr>
          <a:xfrm rot="10800000">
            <a:off x="3955444" y="12118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42" name="Google Shape;1942;p25"/>
          <p:cNvCxnSpPr>
            <a:stCxn id="1929" idx="0"/>
            <a:endCxn id="1927" idx="2"/>
          </p:cNvCxnSpPr>
          <p:nvPr/>
        </p:nvCxnSpPr>
        <p:spPr>
          <a:xfrm rot="10800000">
            <a:off x="3955444" y="1724025"/>
            <a:ext cx="0" cy="210000"/>
          </a:xfrm>
          <a:prstGeom prst="straightConnector1">
            <a:avLst/>
          </a:prstGeom>
          <a:noFill/>
          <a:ln w="19050" cap="flat" cmpd="sng">
            <a:solidFill>
              <a:schemeClr val="dk1"/>
            </a:solidFill>
            <a:prstDash val="solid"/>
            <a:miter lim="800000"/>
            <a:headEnd type="none" w="sm" len="sm"/>
            <a:tailEnd type="triangle" w="med" len="med"/>
          </a:ln>
        </p:spPr>
      </p:cxnSp>
      <p:cxnSp>
        <p:nvCxnSpPr>
          <p:cNvPr id="1943" name="Google Shape;1943;p25"/>
          <p:cNvCxnSpPr>
            <a:stCxn id="1930" idx="0"/>
            <a:endCxn id="1931" idx="2"/>
          </p:cNvCxnSpPr>
          <p:nvPr/>
        </p:nvCxnSpPr>
        <p:spPr>
          <a:xfrm rot="10800000">
            <a:off x="5441130" y="1728441"/>
            <a:ext cx="0" cy="219600"/>
          </a:xfrm>
          <a:prstGeom prst="straightConnector1">
            <a:avLst/>
          </a:prstGeom>
          <a:noFill/>
          <a:ln w="19050" cap="flat" cmpd="sng">
            <a:solidFill>
              <a:schemeClr val="dk1"/>
            </a:solidFill>
            <a:prstDash val="solid"/>
            <a:miter lim="800000"/>
            <a:headEnd type="none" w="sm" len="sm"/>
            <a:tailEnd type="triangle" w="med" len="med"/>
          </a:ln>
        </p:spPr>
      </p:cxnSp>
      <p:cxnSp>
        <p:nvCxnSpPr>
          <p:cNvPr id="1944" name="Google Shape;1944;p25"/>
          <p:cNvCxnSpPr>
            <a:stCxn id="1934" idx="0"/>
            <a:endCxn id="1935" idx="2"/>
          </p:cNvCxnSpPr>
          <p:nvPr/>
        </p:nvCxnSpPr>
        <p:spPr>
          <a:xfrm rot="10800000">
            <a:off x="8403174" y="1143950"/>
            <a:ext cx="0" cy="228600"/>
          </a:xfrm>
          <a:prstGeom prst="straightConnector1">
            <a:avLst/>
          </a:prstGeom>
          <a:noFill/>
          <a:ln w="19050" cap="flat" cmpd="sng">
            <a:solidFill>
              <a:schemeClr val="dk1"/>
            </a:solidFill>
            <a:prstDash val="solid"/>
            <a:miter lim="800000"/>
            <a:headEnd type="none" w="sm" len="sm"/>
            <a:tailEnd type="triangle" w="med" len="med"/>
          </a:ln>
        </p:spPr>
      </p:cxnSp>
      <p:cxnSp>
        <p:nvCxnSpPr>
          <p:cNvPr id="1945" name="Google Shape;1945;p25"/>
          <p:cNvCxnSpPr>
            <a:stCxn id="1933" idx="0"/>
            <a:endCxn id="1932" idx="2"/>
          </p:cNvCxnSpPr>
          <p:nvPr/>
        </p:nvCxnSpPr>
        <p:spPr>
          <a:xfrm rot="10800000">
            <a:off x="6917488" y="11395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46" name="Google Shape;1946;p25"/>
          <p:cNvCxnSpPr>
            <a:stCxn id="1920" idx="2"/>
            <a:endCxn id="1921" idx="2"/>
          </p:cNvCxnSpPr>
          <p:nvPr/>
        </p:nvCxnSpPr>
        <p:spPr>
          <a:xfrm rot="-5400000" flipH="1">
            <a:off x="2872450" y="1186599"/>
            <a:ext cx="600" cy="3758700"/>
          </a:xfrm>
          <a:prstGeom prst="bentConnector3">
            <a:avLst>
              <a:gd name="adj1" fmla="val 39687500"/>
            </a:avLst>
          </a:prstGeom>
          <a:noFill/>
          <a:ln w="19050" cap="flat" cmpd="sng">
            <a:solidFill>
              <a:schemeClr val="dk1"/>
            </a:solidFill>
            <a:prstDash val="solid"/>
            <a:miter lim="800000"/>
            <a:headEnd type="none" w="sm" len="sm"/>
            <a:tailEnd type="none" w="sm" len="sm"/>
          </a:ln>
        </p:spPr>
      </p:cxnSp>
      <p:cxnSp>
        <p:nvCxnSpPr>
          <p:cNvPr id="1947" name="Google Shape;1947;p25"/>
          <p:cNvCxnSpPr>
            <a:stCxn id="1926" idx="2"/>
            <a:endCxn id="1929" idx="2"/>
          </p:cNvCxnSpPr>
          <p:nvPr/>
        </p:nvCxnSpPr>
        <p:spPr>
          <a:xfrm rot="-5400000">
            <a:off x="3205508" y="1486200"/>
            <a:ext cx="14100" cy="1485600"/>
          </a:xfrm>
          <a:prstGeom prst="bentConnector3">
            <a:avLst>
              <a:gd name="adj1" fmla="val -1688830"/>
            </a:avLst>
          </a:prstGeom>
          <a:noFill/>
          <a:ln w="19050" cap="flat" cmpd="sng">
            <a:solidFill>
              <a:schemeClr val="dk1"/>
            </a:solidFill>
            <a:prstDash val="solid"/>
            <a:miter lim="800000"/>
            <a:headEnd type="triangle" w="med" len="med"/>
            <a:tailEnd type="triangle" w="med" len="med"/>
          </a:ln>
        </p:spPr>
      </p:cxnSp>
      <p:cxnSp>
        <p:nvCxnSpPr>
          <p:cNvPr id="1948" name="Google Shape;1948;p25"/>
          <p:cNvCxnSpPr>
            <a:stCxn id="1929" idx="2"/>
            <a:endCxn id="1930" idx="2"/>
          </p:cNvCxnSpPr>
          <p:nvPr/>
        </p:nvCxnSpPr>
        <p:spPr>
          <a:xfrm rot="-5400000" flipH="1">
            <a:off x="4691194" y="1486275"/>
            <a:ext cx="14100" cy="1485600"/>
          </a:xfrm>
          <a:prstGeom prst="bentConnector3">
            <a:avLst>
              <a:gd name="adj1" fmla="val 1788234"/>
            </a:avLst>
          </a:prstGeom>
          <a:noFill/>
          <a:ln w="19050" cap="flat" cmpd="sng">
            <a:solidFill>
              <a:schemeClr val="dk1"/>
            </a:solidFill>
            <a:prstDash val="solid"/>
            <a:miter lim="800000"/>
            <a:headEnd type="triangle" w="med" len="med"/>
            <a:tailEnd type="triangle" w="med" len="med"/>
          </a:ln>
        </p:spPr>
      </p:cxnSp>
      <p:cxnSp>
        <p:nvCxnSpPr>
          <p:cNvPr id="1949" name="Google Shape;1949;p25"/>
          <p:cNvCxnSpPr>
            <a:stCxn id="1930" idx="2"/>
            <a:endCxn id="1936" idx="2"/>
          </p:cNvCxnSpPr>
          <p:nvPr/>
        </p:nvCxnSpPr>
        <p:spPr>
          <a:xfrm rot="-5400000" flipH="1">
            <a:off x="6532530" y="1144641"/>
            <a:ext cx="600" cy="2183400"/>
          </a:xfrm>
          <a:prstGeom prst="bentConnector3">
            <a:avLst>
              <a:gd name="adj1" fmla="val 39689000"/>
            </a:avLst>
          </a:prstGeom>
          <a:noFill/>
          <a:ln w="19050" cap="flat" cmpd="sng">
            <a:solidFill>
              <a:schemeClr val="dk1"/>
            </a:solidFill>
            <a:prstDash val="solid"/>
            <a:miter lim="800000"/>
            <a:headEnd type="triangle" w="med" len="med"/>
            <a:tailEnd type="triangle" w="med" len="med"/>
          </a:ln>
        </p:spPr>
      </p:cxnSp>
      <p:cxnSp>
        <p:nvCxnSpPr>
          <p:cNvPr id="1950" name="Google Shape;1950;p25"/>
          <p:cNvCxnSpPr>
            <a:stCxn id="1933" idx="2"/>
            <a:endCxn id="1934" idx="2"/>
          </p:cNvCxnSpPr>
          <p:nvPr/>
        </p:nvCxnSpPr>
        <p:spPr>
          <a:xfrm rot="-5400000" flipH="1">
            <a:off x="7655788" y="913350"/>
            <a:ext cx="9000" cy="1485600"/>
          </a:xfrm>
          <a:prstGeom prst="bentConnector3">
            <a:avLst>
              <a:gd name="adj1" fmla="val 2744722"/>
            </a:avLst>
          </a:prstGeom>
          <a:noFill/>
          <a:ln w="19050" cap="flat" cmpd="sng">
            <a:solidFill>
              <a:schemeClr val="dk1"/>
            </a:solidFill>
            <a:prstDash val="solid"/>
            <a:miter lim="800000"/>
            <a:headEnd type="triangle" w="med" len="med"/>
            <a:tailEnd type="triangle" w="med" len="med"/>
          </a:ln>
        </p:spPr>
      </p:cxnSp>
      <p:cxnSp>
        <p:nvCxnSpPr>
          <p:cNvPr id="1951" name="Google Shape;1951;p25"/>
          <p:cNvCxnSpPr/>
          <p:nvPr/>
        </p:nvCxnSpPr>
        <p:spPr>
          <a:xfrm rot="10800000">
            <a:off x="7624424" y="1873950"/>
            <a:ext cx="0" cy="74100"/>
          </a:xfrm>
          <a:prstGeom prst="straightConnector1">
            <a:avLst/>
          </a:prstGeom>
          <a:noFill/>
          <a:ln w="19050" cap="flat" cmpd="sng">
            <a:solidFill>
              <a:schemeClr val="dk1"/>
            </a:solidFill>
            <a:prstDash val="solid"/>
            <a:miter lim="800000"/>
            <a:headEnd type="none" w="sm" len="sm"/>
            <a:tailEnd type="none" w="sm" len="sm"/>
          </a:ln>
        </p:spPr>
      </p:cxnSp>
      <p:cxnSp>
        <p:nvCxnSpPr>
          <p:cNvPr id="1952" name="Google Shape;1952;p25"/>
          <p:cNvCxnSpPr>
            <a:endCxn id="1921" idx="0"/>
          </p:cNvCxnSpPr>
          <p:nvPr/>
        </p:nvCxnSpPr>
        <p:spPr>
          <a:xfrm>
            <a:off x="4752090" y="2462349"/>
            <a:ext cx="0" cy="315300"/>
          </a:xfrm>
          <a:prstGeom prst="straightConnector1">
            <a:avLst/>
          </a:prstGeom>
          <a:noFill/>
          <a:ln w="19050" cap="flat" cmpd="sng">
            <a:solidFill>
              <a:schemeClr val="dk1"/>
            </a:solidFill>
            <a:prstDash val="solid"/>
            <a:miter lim="800000"/>
            <a:headEnd type="none" w="sm" len="sm"/>
            <a:tailEnd type="none" w="sm" len="sm"/>
          </a:ln>
        </p:spPr>
      </p:cxnSp>
      <p:cxnSp>
        <p:nvCxnSpPr>
          <p:cNvPr id="1953" name="Google Shape;1953;p25"/>
          <p:cNvCxnSpPr>
            <a:stCxn id="1919" idx="0"/>
          </p:cNvCxnSpPr>
          <p:nvPr/>
        </p:nvCxnSpPr>
        <p:spPr>
          <a:xfrm rot="10800000">
            <a:off x="2765544" y="3290850"/>
            <a:ext cx="0" cy="363300"/>
          </a:xfrm>
          <a:prstGeom prst="straightConnector1">
            <a:avLst/>
          </a:prstGeom>
          <a:noFill/>
          <a:ln w="19050" cap="flat" cmpd="sng">
            <a:solidFill>
              <a:schemeClr val="dk1"/>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58"/>
        <p:cNvGrpSpPr/>
        <p:nvPr/>
      </p:nvGrpSpPr>
      <p:grpSpPr>
        <a:xfrm>
          <a:off x="0" y="0"/>
          <a:ext cx="0" cy="0"/>
          <a:chOff x="0" y="0"/>
          <a:chExt cx="0" cy="0"/>
        </a:xfrm>
      </p:grpSpPr>
      <p:sp>
        <p:nvSpPr>
          <p:cNvPr id="1959" name="Google Shape;1959;p26"/>
          <p:cNvSpPr txBox="1">
            <a:spLocks noGrp="1"/>
          </p:cNvSpPr>
          <p:nvPr>
            <p:ph type="body" idx="4294967295"/>
          </p:nvPr>
        </p:nvSpPr>
        <p:spPr>
          <a:xfrm>
            <a:off x="1045480" y="1923120"/>
            <a:ext cx="7053040" cy="1697904"/>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3200" b="0" i="0" u="none" strike="noStrike" cap="none" dirty="0">
                <a:solidFill>
                  <a:srgbClr val="FFFFFF"/>
                </a:solidFill>
                <a:latin typeface="Arial"/>
                <a:ea typeface="Arial"/>
                <a:cs typeface="Arial"/>
                <a:sym typeface="Arial"/>
              </a:rPr>
              <a:t>Exercises on fission gas behaviour with SCIANTIX</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28"/>
          <p:cNvSpPr txBox="1">
            <a:spLocks noGrp="1"/>
          </p:cNvSpPr>
          <p:nvPr>
            <p:ph type="title" idx="4294967295"/>
          </p:nvPr>
        </p:nvSpPr>
        <p:spPr>
          <a:xfrm>
            <a:off x="5986272" y="178944"/>
            <a:ext cx="296116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code</a:t>
            </a:r>
            <a:endParaRPr sz="2000" b="0" i="0" u="none" strike="noStrike" cap="none">
              <a:solidFill>
                <a:srgbClr val="0157A3"/>
              </a:solidFill>
              <a:latin typeface="Arial"/>
              <a:ea typeface="Arial"/>
              <a:cs typeface="Arial"/>
              <a:sym typeface="Arial"/>
            </a:endParaRPr>
          </a:p>
        </p:txBody>
      </p:sp>
      <p:sp>
        <p:nvSpPr>
          <p:cNvPr id="1972" name="Google Shape;1972;p28"/>
          <p:cNvSpPr txBox="1"/>
          <p:nvPr/>
        </p:nvSpPr>
        <p:spPr>
          <a:xfrm>
            <a:off x="505775" y="939151"/>
            <a:ext cx="5315400" cy="3140100"/>
          </a:xfrm>
          <a:prstGeom prst="rect">
            <a:avLst/>
          </a:prstGeom>
          <a:noFill/>
          <a:ln>
            <a:noFill/>
          </a:ln>
        </p:spPr>
        <p:txBody>
          <a:bodyPr spcFirstLastPara="1" wrap="square" lIns="91425" tIns="45700" rIns="91425" bIns="45700" anchor="t" anchorCtr="0">
            <a:spAutoFit/>
          </a:bodyPr>
          <a:lstStyle/>
          <a:p>
            <a:pPr marL="214313" marR="0" lvl="0" indent="-214313" algn="l" rtl="0">
              <a:lnSpc>
                <a:spcPct val="100000"/>
              </a:lnSpc>
              <a:spcBef>
                <a:spcPts val="0"/>
              </a:spcBef>
              <a:spcAft>
                <a:spcPts val="0"/>
              </a:spcAft>
              <a:buClr>
                <a:srgbClr val="000000"/>
              </a:buClr>
              <a:buSzPts val="1800"/>
              <a:buFont typeface="Arial"/>
              <a:buChar char="-"/>
            </a:pPr>
            <a:r>
              <a:rPr lang="en-GB" sz="1800" b="1" i="0" u="none" strike="noStrike" cap="none">
                <a:solidFill>
                  <a:srgbClr val="000000"/>
                </a:solidFill>
                <a:latin typeface="Arial"/>
                <a:ea typeface="Arial"/>
                <a:cs typeface="Arial"/>
                <a:sym typeface="Arial"/>
              </a:rPr>
              <a:t>SCIANTIX GitHub repository</a:t>
            </a:r>
            <a:r>
              <a:rPr lang="en-GB" sz="1800" b="0" i="0" u="none" strike="noStrike" cap="none">
                <a:solidFill>
                  <a:srgbClr val="000000"/>
                </a:solidFill>
                <a:latin typeface="Arial"/>
                <a:ea typeface="Arial"/>
                <a:cs typeface="Arial"/>
                <a:sym typeface="Arial"/>
              </a:rPr>
              <a:t>: </a:t>
            </a:r>
            <a:r>
              <a:rPr lang="en-GB" sz="1800" b="0" i="0" u="sng" strike="noStrike" cap="none">
                <a:solidFill>
                  <a:srgbClr val="4F81BD"/>
                </a:solidFill>
                <a:latin typeface="Arial"/>
                <a:ea typeface="Arial"/>
                <a:cs typeface="Arial"/>
                <a:sym typeface="Arial"/>
                <a:hlinkClick r:id="rId3">
                  <a:extLst>
                    <a:ext uri="{A12FA001-AC4F-418D-AE19-62706E023703}">
                      <ahyp:hlinkClr xmlns:ahyp="http://schemas.microsoft.com/office/drawing/2018/hyperlinkcolor" val="tx"/>
                    </a:ext>
                  </a:extLst>
                </a:hlinkClick>
              </a:rPr>
              <a:t>https://github.com/sciantix/sciantix-official</a:t>
            </a:r>
            <a:endParaRPr sz="1800" b="0" i="0" u="none" strike="noStrike" cap="none">
              <a:solidFill>
                <a:srgbClr val="4F81BD"/>
              </a:solidFill>
              <a:latin typeface="Arial"/>
              <a:ea typeface="Arial"/>
              <a:cs typeface="Arial"/>
              <a:sym typeface="Arial"/>
            </a:endParaRPr>
          </a:p>
          <a:p>
            <a:pPr marL="600075" marR="0" lvl="1" indent="-257175" algn="l" rtl="0">
              <a:lnSpc>
                <a:spcPct val="100000"/>
              </a:lnSpc>
              <a:spcBef>
                <a:spcPts val="0"/>
              </a:spcBef>
              <a:spcAft>
                <a:spcPts val="0"/>
              </a:spcAft>
              <a:buClr>
                <a:srgbClr val="262626"/>
              </a:buClr>
              <a:buSzPts val="1800"/>
              <a:buFont typeface="Noto Sans Symbols"/>
              <a:buChar char="⮚"/>
            </a:pPr>
            <a:r>
              <a:rPr lang="en-GB" sz="1800">
                <a:solidFill>
                  <a:srgbClr val="262626"/>
                </a:solidFill>
              </a:rPr>
              <a:t>I</a:t>
            </a:r>
            <a:r>
              <a:rPr lang="en-GB" sz="1800" b="0" i="0" u="none" strike="noStrike" cap="none">
                <a:solidFill>
                  <a:srgbClr val="262626"/>
                </a:solidFill>
                <a:latin typeface="Arial"/>
                <a:ea typeface="Arial"/>
                <a:cs typeface="Arial"/>
                <a:sym typeface="Arial"/>
              </a:rPr>
              <a:t>ncludes "training" branch with tutorials and code executable</a:t>
            </a:r>
            <a:endParaRPr sz="1800" b="0" i="0" u="none" strike="noStrike" cap="none">
              <a:solidFill>
                <a:srgbClr val="26262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rgbClr val="000000"/>
              </a:buClr>
              <a:buSzPts val="1800"/>
              <a:buFont typeface="Arial"/>
              <a:buChar char="-"/>
            </a:pPr>
            <a:r>
              <a:rPr lang="en-GB" sz="1800" b="1" i="0" u="none" strike="noStrike" cap="none">
                <a:solidFill>
                  <a:srgbClr val="000000"/>
                </a:solidFill>
                <a:latin typeface="Arial"/>
                <a:ea typeface="Arial"/>
                <a:cs typeface="Arial"/>
                <a:sym typeface="Arial"/>
              </a:rPr>
              <a:t>Input files</a:t>
            </a:r>
            <a:r>
              <a:rPr lang="en-GB" sz="1800" b="0" i="0" u="none" strike="noStrike" cap="none">
                <a:solidFill>
                  <a:srgbClr val="000000"/>
                </a:solidFill>
                <a:latin typeface="Arial"/>
                <a:ea typeface="Arial"/>
                <a:cs typeface="Arial"/>
                <a:sym typeface="Arial"/>
              </a:rPr>
              <a:t>: history, settings, initial conditions, scaling factors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rgbClr val="000000"/>
              </a:buClr>
              <a:buSzPts val="1800"/>
              <a:buFont typeface="Arial"/>
              <a:buChar char="-"/>
            </a:pPr>
            <a:r>
              <a:rPr lang="en-GB" sz="1800" b="1" i="0" u="none" strike="noStrike" cap="none">
                <a:solidFill>
                  <a:srgbClr val="000000"/>
                </a:solidFill>
                <a:latin typeface="Arial"/>
                <a:ea typeface="Arial"/>
                <a:cs typeface="Arial"/>
                <a:sym typeface="Arial"/>
              </a:rPr>
              <a:t>Simulation cases</a:t>
            </a:r>
            <a:r>
              <a:rPr lang="en-GB" sz="1800" b="0" i="0" u="none" strike="noStrike" cap="none">
                <a:solidFill>
                  <a:srgbClr val="000000"/>
                </a:solidFill>
                <a:latin typeface="Arial"/>
                <a:ea typeface="Arial"/>
                <a:cs typeface="Arial"/>
                <a:sym typeface="Arial"/>
              </a:rPr>
              <a:t>:</a:t>
            </a:r>
            <a:endParaRPr/>
          </a:p>
          <a:p>
            <a:pPr marL="600075" marR="0" lvl="1" indent="-257175" algn="l" rtl="0">
              <a:lnSpc>
                <a:spcPct val="100000"/>
              </a:lnSpc>
              <a:spcBef>
                <a:spcPts val="0"/>
              </a:spcBef>
              <a:spcAft>
                <a:spcPts val="0"/>
              </a:spcAft>
              <a:buClr>
                <a:srgbClr val="000000"/>
              </a:buClr>
              <a:buSzPts val="1800"/>
              <a:buFont typeface="Noto Sans Symbols"/>
              <a:buChar char="⮚"/>
            </a:pPr>
            <a:r>
              <a:rPr lang="en-GB" sz="1800" b="0" i="0" u="none" strike="noStrike" cap="none">
                <a:solidFill>
                  <a:srgbClr val="000000"/>
                </a:solidFill>
                <a:latin typeface="Arial"/>
                <a:ea typeface="Arial"/>
                <a:cs typeface="Arial"/>
                <a:sym typeface="Arial"/>
              </a:rPr>
              <a:t>Constant irradiation condition</a:t>
            </a:r>
            <a:endParaRPr sz="1800" b="0" i="0" u="none" strike="noStrike" cap="none">
              <a:solidFill>
                <a:srgbClr val="000000"/>
              </a:solidFill>
              <a:latin typeface="Arial"/>
              <a:ea typeface="Arial"/>
              <a:cs typeface="Arial"/>
              <a:sym typeface="Arial"/>
            </a:endParaRPr>
          </a:p>
          <a:p>
            <a:pPr marL="600075" marR="0" lvl="1" indent="-257175" algn="l" rtl="0">
              <a:lnSpc>
                <a:spcPct val="100000"/>
              </a:lnSpc>
              <a:spcBef>
                <a:spcPts val="0"/>
              </a:spcBef>
              <a:spcAft>
                <a:spcPts val="0"/>
              </a:spcAft>
              <a:buClr>
                <a:srgbClr val="000000"/>
              </a:buClr>
              <a:buSzPts val="1800"/>
              <a:buFont typeface="Noto Sans Symbols"/>
              <a:buChar char="⮚"/>
            </a:pPr>
            <a:r>
              <a:rPr lang="en-GB" sz="1800" b="0" i="0" u="none" strike="noStrike" cap="none">
                <a:solidFill>
                  <a:srgbClr val="000000"/>
                </a:solidFill>
                <a:latin typeface="Arial"/>
                <a:ea typeface="Arial"/>
                <a:cs typeface="Arial"/>
                <a:sym typeface="Arial"/>
              </a:rPr>
              <a:t>Transient irradiation condition</a:t>
            </a:r>
            <a:endParaRPr sz="1800" b="0" i="0" u="none" strike="noStrike" cap="none">
              <a:solidFill>
                <a:srgbClr val="000000"/>
              </a:solidFill>
              <a:latin typeface="Arial"/>
              <a:ea typeface="Arial"/>
              <a:cs typeface="Arial"/>
              <a:sym typeface="Arial"/>
            </a:endParaRPr>
          </a:p>
        </p:txBody>
      </p:sp>
      <p:pic>
        <p:nvPicPr>
          <p:cNvPr id="1973" name="Google Shape;1973;p28"/>
          <p:cNvPicPr preferRelativeResize="0"/>
          <p:nvPr/>
        </p:nvPicPr>
        <p:blipFill rotWithShape="1">
          <a:blip r:embed="rId4">
            <a:alphaModFix/>
          </a:blip>
          <a:srcRect/>
          <a:stretch/>
        </p:blipFill>
        <p:spPr>
          <a:xfrm>
            <a:off x="6027062" y="759201"/>
            <a:ext cx="2920378" cy="221757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78"/>
        <p:cNvGrpSpPr/>
        <p:nvPr/>
      </p:nvGrpSpPr>
      <p:grpSpPr>
        <a:xfrm>
          <a:off x="0" y="0"/>
          <a:ext cx="0" cy="0"/>
          <a:chOff x="0" y="0"/>
          <a:chExt cx="0" cy="0"/>
        </a:xfrm>
      </p:grpSpPr>
      <p:sp>
        <p:nvSpPr>
          <p:cNvPr id="1979" name="Google Shape;1979;p29"/>
          <p:cNvSpPr txBox="1">
            <a:spLocks noGrp="1"/>
          </p:cNvSpPr>
          <p:nvPr>
            <p:ph type="title" idx="4294967295"/>
          </p:nvPr>
        </p:nvSpPr>
        <p:spPr>
          <a:xfrm>
            <a:off x="2235201" y="178944"/>
            <a:ext cx="671224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code, intra-granular fission gas behaviour</a:t>
            </a:r>
            <a:endParaRPr sz="2000" b="0" i="0" u="none" strike="noStrike" cap="none">
              <a:solidFill>
                <a:srgbClr val="0157A3"/>
              </a:solidFill>
              <a:latin typeface="Arial"/>
              <a:ea typeface="Arial"/>
              <a:cs typeface="Arial"/>
              <a:sym typeface="Arial"/>
            </a:endParaRPr>
          </a:p>
        </p:txBody>
      </p:sp>
      <p:pic>
        <p:nvPicPr>
          <p:cNvPr id="1981" name="Google Shape;1981;p29" descr="Immagine che contiene testo, calligrafia, Carattere, linea&#10;&#10;Descrizione generata automaticamente"/>
          <p:cNvPicPr preferRelativeResize="0"/>
          <p:nvPr/>
        </p:nvPicPr>
        <p:blipFill rotWithShape="1">
          <a:blip r:embed="rId3">
            <a:alphaModFix/>
          </a:blip>
          <a:srcRect/>
          <a:stretch/>
        </p:blipFill>
        <p:spPr>
          <a:xfrm>
            <a:off x="6394250" y="2159050"/>
            <a:ext cx="2692900" cy="1535000"/>
          </a:xfrm>
          <a:prstGeom prst="rect">
            <a:avLst/>
          </a:prstGeom>
          <a:noFill/>
          <a:ln>
            <a:noFill/>
          </a:ln>
        </p:spPr>
      </p:pic>
      <p:cxnSp>
        <p:nvCxnSpPr>
          <p:cNvPr id="1982" name="Google Shape;1982;p29"/>
          <p:cNvCxnSpPr/>
          <p:nvPr/>
        </p:nvCxnSpPr>
        <p:spPr>
          <a:xfrm>
            <a:off x="3359317" y="2982448"/>
            <a:ext cx="590700" cy="0"/>
          </a:xfrm>
          <a:prstGeom prst="straightConnector1">
            <a:avLst/>
          </a:prstGeom>
          <a:noFill/>
          <a:ln w="28575" cap="flat" cmpd="sng">
            <a:solidFill>
              <a:srgbClr val="FF0000"/>
            </a:solidFill>
            <a:prstDash val="solid"/>
            <a:miter lim="8000"/>
            <a:headEnd type="none" w="sm" len="sm"/>
            <a:tailEnd type="triangle" w="med" len="med"/>
          </a:ln>
        </p:spPr>
      </p:cxnSp>
      <p:grpSp>
        <p:nvGrpSpPr>
          <p:cNvPr id="1983" name="Google Shape;1983;p29"/>
          <p:cNvGrpSpPr/>
          <p:nvPr/>
        </p:nvGrpSpPr>
        <p:grpSpPr>
          <a:xfrm>
            <a:off x="4017694" y="1944185"/>
            <a:ext cx="2519117" cy="2281807"/>
            <a:chOff x="4017694" y="1944185"/>
            <a:chExt cx="2519117" cy="2281807"/>
          </a:xfrm>
        </p:grpSpPr>
        <p:pic>
          <p:nvPicPr>
            <p:cNvPr id="1984" name="Google Shape;1984;p29"/>
            <p:cNvPicPr preferRelativeResize="0"/>
            <p:nvPr/>
          </p:nvPicPr>
          <p:blipFill rotWithShape="1">
            <a:blip r:embed="rId4">
              <a:alphaModFix/>
            </a:blip>
            <a:srcRect/>
            <a:stretch/>
          </p:blipFill>
          <p:spPr>
            <a:xfrm>
              <a:off x="4644013" y="3239811"/>
              <a:ext cx="66946" cy="66946"/>
            </a:xfrm>
            <a:prstGeom prst="rect">
              <a:avLst/>
            </a:prstGeom>
            <a:noFill/>
            <a:ln>
              <a:noFill/>
            </a:ln>
          </p:spPr>
        </p:pic>
        <p:pic>
          <p:nvPicPr>
            <p:cNvPr id="1985" name="Google Shape;1985;p29"/>
            <p:cNvPicPr preferRelativeResize="0"/>
            <p:nvPr/>
          </p:nvPicPr>
          <p:blipFill rotWithShape="1">
            <a:blip r:embed="rId4">
              <a:alphaModFix/>
            </a:blip>
            <a:srcRect/>
            <a:stretch/>
          </p:blipFill>
          <p:spPr>
            <a:xfrm>
              <a:off x="4727840" y="2954844"/>
              <a:ext cx="66946" cy="66946"/>
            </a:xfrm>
            <a:prstGeom prst="rect">
              <a:avLst/>
            </a:prstGeom>
            <a:noFill/>
            <a:ln>
              <a:noFill/>
            </a:ln>
          </p:spPr>
        </p:pic>
        <p:pic>
          <p:nvPicPr>
            <p:cNvPr id="1986" name="Google Shape;1986;p29"/>
            <p:cNvPicPr preferRelativeResize="0"/>
            <p:nvPr/>
          </p:nvPicPr>
          <p:blipFill rotWithShape="1">
            <a:blip r:embed="rId4">
              <a:alphaModFix/>
            </a:blip>
            <a:srcRect/>
            <a:stretch/>
          </p:blipFill>
          <p:spPr>
            <a:xfrm>
              <a:off x="4594934" y="2547649"/>
              <a:ext cx="66946" cy="66946"/>
            </a:xfrm>
            <a:prstGeom prst="rect">
              <a:avLst/>
            </a:prstGeom>
            <a:noFill/>
            <a:ln>
              <a:noFill/>
            </a:ln>
          </p:spPr>
        </p:pic>
        <p:pic>
          <p:nvPicPr>
            <p:cNvPr id="1987" name="Google Shape;1987;p29"/>
            <p:cNvPicPr preferRelativeResize="0"/>
            <p:nvPr/>
          </p:nvPicPr>
          <p:blipFill rotWithShape="1">
            <a:blip r:embed="rId4">
              <a:alphaModFix/>
            </a:blip>
            <a:srcRect/>
            <a:stretch/>
          </p:blipFill>
          <p:spPr>
            <a:xfrm>
              <a:off x="4248150" y="2775261"/>
              <a:ext cx="66946" cy="66946"/>
            </a:xfrm>
            <a:prstGeom prst="rect">
              <a:avLst/>
            </a:prstGeom>
            <a:noFill/>
            <a:ln>
              <a:noFill/>
            </a:ln>
          </p:spPr>
        </p:pic>
        <p:pic>
          <p:nvPicPr>
            <p:cNvPr id="1988" name="Google Shape;1988;p29"/>
            <p:cNvPicPr preferRelativeResize="0"/>
            <p:nvPr/>
          </p:nvPicPr>
          <p:blipFill rotWithShape="1">
            <a:blip r:embed="rId4">
              <a:alphaModFix/>
            </a:blip>
            <a:srcRect/>
            <a:stretch/>
          </p:blipFill>
          <p:spPr>
            <a:xfrm>
              <a:off x="4735506" y="2380683"/>
              <a:ext cx="66946" cy="66946"/>
            </a:xfrm>
            <a:prstGeom prst="rect">
              <a:avLst/>
            </a:prstGeom>
            <a:noFill/>
            <a:ln>
              <a:noFill/>
            </a:ln>
          </p:spPr>
        </p:pic>
        <p:pic>
          <p:nvPicPr>
            <p:cNvPr id="1989" name="Google Shape;1989;p29"/>
            <p:cNvPicPr preferRelativeResize="0"/>
            <p:nvPr/>
          </p:nvPicPr>
          <p:blipFill rotWithShape="1">
            <a:blip r:embed="rId4">
              <a:alphaModFix/>
            </a:blip>
            <a:srcRect/>
            <a:stretch/>
          </p:blipFill>
          <p:spPr>
            <a:xfrm>
              <a:off x="5190909" y="2784111"/>
              <a:ext cx="66946" cy="66946"/>
            </a:xfrm>
            <a:prstGeom prst="rect">
              <a:avLst/>
            </a:prstGeom>
            <a:noFill/>
            <a:ln>
              <a:noFill/>
            </a:ln>
          </p:spPr>
        </p:pic>
        <p:pic>
          <p:nvPicPr>
            <p:cNvPr id="1990" name="Google Shape;1990;p29"/>
            <p:cNvPicPr preferRelativeResize="0"/>
            <p:nvPr/>
          </p:nvPicPr>
          <p:blipFill rotWithShape="1">
            <a:blip r:embed="rId4">
              <a:alphaModFix/>
            </a:blip>
            <a:srcRect/>
            <a:stretch/>
          </p:blipFill>
          <p:spPr>
            <a:xfrm>
              <a:off x="4945821" y="3332791"/>
              <a:ext cx="66946" cy="66946"/>
            </a:xfrm>
            <a:prstGeom prst="rect">
              <a:avLst/>
            </a:prstGeom>
            <a:noFill/>
            <a:ln>
              <a:noFill/>
            </a:ln>
          </p:spPr>
        </p:pic>
        <p:cxnSp>
          <p:nvCxnSpPr>
            <p:cNvPr id="1991" name="Google Shape;1991;p29"/>
            <p:cNvCxnSpPr>
              <a:stCxn id="1992" idx="1"/>
            </p:cNvCxnSpPr>
            <p:nvPr/>
          </p:nvCxnSpPr>
          <p:spPr>
            <a:xfrm>
              <a:off x="5115646" y="3409018"/>
              <a:ext cx="360900" cy="319800"/>
            </a:xfrm>
            <a:prstGeom prst="straightConnector1">
              <a:avLst/>
            </a:prstGeom>
            <a:noFill/>
            <a:ln w="9100" cap="flat" cmpd="sng">
              <a:solidFill>
                <a:srgbClr val="000033"/>
              </a:solidFill>
              <a:prstDash val="solid"/>
              <a:miter lim="800000"/>
              <a:headEnd type="none" w="sm" len="sm"/>
              <a:tailEnd type="none" w="sm" len="sm"/>
            </a:ln>
          </p:spPr>
        </p:cxnSp>
        <p:sp>
          <p:nvSpPr>
            <p:cNvPr id="1993" name="Google Shape;1993;p29"/>
            <p:cNvSpPr/>
            <p:nvPr/>
          </p:nvSpPr>
          <p:spPr>
            <a:xfrm>
              <a:off x="4057156" y="2278952"/>
              <a:ext cx="1343100" cy="13431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994" name="Google Shape;1994;p29"/>
            <p:cNvSpPr/>
            <p:nvPr/>
          </p:nvSpPr>
          <p:spPr>
            <a:xfrm>
              <a:off x="4368800" y="2586915"/>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995" name="Google Shape;1995;p29"/>
            <p:cNvSpPr/>
            <p:nvPr/>
          </p:nvSpPr>
          <p:spPr>
            <a:xfrm>
              <a:off x="4939752" y="2581125"/>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996" name="Google Shape;1996;p29"/>
            <p:cNvSpPr/>
            <p:nvPr/>
          </p:nvSpPr>
          <p:spPr>
            <a:xfrm>
              <a:off x="4516017" y="2719198"/>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997" name="Google Shape;1997;p29"/>
            <p:cNvSpPr/>
            <p:nvPr/>
          </p:nvSpPr>
          <p:spPr>
            <a:xfrm>
              <a:off x="4812685" y="2900282"/>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998" name="Google Shape;1998;p29"/>
            <p:cNvSpPr/>
            <p:nvPr/>
          </p:nvSpPr>
          <p:spPr>
            <a:xfrm>
              <a:off x="4345485" y="3025101"/>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1999" name="Google Shape;1999;p29"/>
            <p:cNvSpPr/>
            <p:nvPr/>
          </p:nvSpPr>
          <p:spPr>
            <a:xfrm>
              <a:off x="4745644" y="3332791"/>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cxnSp>
          <p:nvCxnSpPr>
            <p:cNvPr id="2000" name="Google Shape;2000;p29"/>
            <p:cNvCxnSpPr/>
            <p:nvPr/>
          </p:nvCxnSpPr>
          <p:spPr>
            <a:xfrm rot="10800000" flipH="1">
              <a:off x="4945655" y="2209225"/>
              <a:ext cx="245400" cy="358800"/>
            </a:xfrm>
            <a:prstGeom prst="straightConnector1">
              <a:avLst/>
            </a:prstGeom>
            <a:noFill/>
            <a:ln w="9100" cap="flat" cmpd="sng">
              <a:solidFill>
                <a:srgbClr val="000033"/>
              </a:solidFill>
              <a:prstDash val="solid"/>
              <a:miter lim="800000"/>
              <a:headEnd type="none" w="sm" len="sm"/>
              <a:tailEnd type="triangle" w="med" len="med"/>
            </a:ln>
          </p:spPr>
        </p:cxnSp>
        <p:sp>
          <p:nvSpPr>
            <p:cNvPr id="2001" name="Google Shape;2001;p29"/>
            <p:cNvSpPr/>
            <p:nvPr/>
          </p:nvSpPr>
          <p:spPr>
            <a:xfrm>
              <a:off x="4699229" y="241963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02" name="Google Shape;2002;p29"/>
            <p:cNvSpPr/>
            <p:nvPr/>
          </p:nvSpPr>
          <p:spPr>
            <a:xfrm>
              <a:off x="4580339" y="247278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03" name="Google Shape;2003;p29"/>
            <p:cNvSpPr/>
            <p:nvPr/>
          </p:nvSpPr>
          <p:spPr>
            <a:xfrm>
              <a:off x="4719783" y="256617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04" name="Google Shape;2004;p29"/>
            <p:cNvSpPr/>
            <p:nvPr/>
          </p:nvSpPr>
          <p:spPr>
            <a:xfrm>
              <a:off x="4559785" y="260023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05" name="Google Shape;2005;p29"/>
            <p:cNvSpPr/>
            <p:nvPr/>
          </p:nvSpPr>
          <p:spPr>
            <a:xfrm>
              <a:off x="4725133" y="27058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06" name="Google Shape;2006;p29"/>
            <p:cNvSpPr/>
            <p:nvPr/>
          </p:nvSpPr>
          <p:spPr>
            <a:xfrm>
              <a:off x="4746833" y="27916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07" name="Google Shape;2007;p29"/>
            <p:cNvSpPr/>
            <p:nvPr/>
          </p:nvSpPr>
          <p:spPr>
            <a:xfrm>
              <a:off x="4853741" y="28031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08" name="Google Shape;2008;p29"/>
            <p:cNvSpPr/>
            <p:nvPr/>
          </p:nvSpPr>
          <p:spPr>
            <a:xfrm>
              <a:off x="4886138" y="259144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09" name="Google Shape;2009;p29"/>
            <p:cNvSpPr/>
            <p:nvPr/>
          </p:nvSpPr>
          <p:spPr>
            <a:xfrm>
              <a:off x="4539231" y="24346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10" name="Google Shape;2010;p29"/>
            <p:cNvSpPr/>
            <p:nvPr/>
          </p:nvSpPr>
          <p:spPr>
            <a:xfrm>
              <a:off x="4379233" y="24346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11" name="Google Shape;2011;p29"/>
            <p:cNvSpPr/>
            <p:nvPr/>
          </p:nvSpPr>
          <p:spPr>
            <a:xfrm>
              <a:off x="4319789" y="25106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12" name="Google Shape;2012;p29"/>
            <p:cNvSpPr/>
            <p:nvPr/>
          </p:nvSpPr>
          <p:spPr>
            <a:xfrm>
              <a:off x="4518999" y="26852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13" name="Google Shape;2013;p29"/>
            <p:cNvSpPr/>
            <p:nvPr/>
          </p:nvSpPr>
          <p:spPr>
            <a:xfrm>
              <a:off x="4401746" y="271784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14" name="Google Shape;2014;p29"/>
            <p:cNvSpPr/>
            <p:nvPr/>
          </p:nvSpPr>
          <p:spPr>
            <a:xfrm>
              <a:off x="4417118" y="284796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15" name="Google Shape;2015;p29"/>
            <p:cNvSpPr/>
            <p:nvPr/>
          </p:nvSpPr>
          <p:spPr>
            <a:xfrm>
              <a:off x="4600894" y="29580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16" name="Google Shape;2016;p29"/>
            <p:cNvSpPr/>
            <p:nvPr/>
          </p:nvSpPr>
          <p:spPr>
            <a:xfrm>
              <a:off x="4522875" y="30722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17" name="Google Shape;2017;p29"/>
            <p:cNvSpPr/>
            <p:nvPr/>
          </p:nvSpPr>
          <p:spPr>
            <a:xfrm>
              <a:off x="4678675" y="312823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18" name="Google Shape;2018;p29"/>
            <p:cNvSpPr/>
            <p:nvPr/>
          </p:nvSpPr>
          <p:spPr>
            <a:xfrm>
              <a:off x="5289012" y="27533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19" name="Google Shape;2019;p29"/>
            <p:cNvSpPr/>
            <p:nvPr/>
          </p:nvSpPr>
          <p:spPr>
            <a:xfrm>
              <a:off x="5170123" y="28065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0" name="Google Shape;2020;p29"/>
            <p:cNvSpPr/>
            <p:nvPr/>
          </p:nvSpPr>
          <p:spPr>
            <a:xfrm>
              <a:off x="5309567" y="289992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1" name="Google Shape;2021;p29"/>
            <p:cNvSpPr/>
            <p:nvPr/>
          </p:nvSpPr>
          <p:spPr>
            <a:xfrm>
              <a:off x="5149569" y="29339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2" name="Google Shape;2022;p29"/>
            <p:cNvSpPr/>
            <p:nvPr/>
          </p:nvSpPr>
          <p:spPr>
            <a:xfrm>
              <a:off x="5314916" y="30395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3" name="Google Shape;2023;p29"/>
            <p:cNvSpPr/>
            <p:nvPr/>
          </p:nvSpPr>
          <p:spPr>
            <a:xfrm>
              <a:off x="5286019" y="31503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4" name="Google Shape;2024;p29"/>
            <p:cNvSpPr/>
            <p:nvPr/>
          </p:nvSpPr>
          <p:spPr>
            <a:xfrm>
              <a:off x="5129015" y="27683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5" name="Google Shape;2025;p29"/>
            <p:cNvSpPr/>
            <p:nvPr/>
          </p:nvSpPr>
          <p:spPr>
            <a:xfrm>
              <a:off x="4969017" y="27683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6" name="Google Shape;2026;p29"/>
            <p:cNvSpPr/>
            <p:nvPr/>
          </p:nvSpPr>
          <p:spPr>
            <a:xfrm>
              <a:off x="4909572" y="28443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7" name="Google Shape;2027;p29"/>
            <p:cNvSpPr/>
            <p:nvPr/>
          </p:nvSpPr>
          <p:spPr>
            <a:xfrm>
              <a:off x="5212387" y="309374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8" name="Google Shape;2028;p29"/>
            <p:cNvSpPr/>
            <p:nvPr/>
          </p:nvSpPr>
          <p:spPr>
            <a:xfrm>
              <a:off x="4991529" y="305159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29" name="Google Shape;2029;p29"/>
            <p:cNvSpPr/>
            <p:nvPr/>
          </p:nvSpPr>
          <p:spPr>
            <a:xfrm>
              <a:off x="5006901" y="318172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30" name="Google Shape;2030;p29"/>
            <p:cNvSpPr/>
            <p:nvPr/>
          </p:nvSpPr>
          <p:spPr>
            <a:xfrm>
              <a:off x="5190677" y="32917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1992" name="Google Shape;1992;p29"/>
            <p:cNvSpPr/>
            <p:nvPr/>
          </p:nvSpPr>
          <p:spPr>
            <a:xfrm>
              <a:off x="5112659" y="3406030"/>
              <a:ext cx="20400" cy="20400"/>
            </a:xfrm>
            <a:prstGeom prst="ellipse">
              <a:avLst/>
            </a:prstGeom>
            <a:solidFill>
              <a:srgbClr val="80FF80"/>
            </a:solidFill>
            <a:ln w="4550" cap="flat" cmpd="sng">
              <a:solidFill>
                <a:srgbClr val="000000"/>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31" name="Google Shape;2031;p29"/>
            <p:cNvSpPr/>
            <p:nvPr/>
          </p:nvSpPr>
          <p:spPr>
            <a:xfrm>
              <a:off x="4505546" y="318214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32" name="Google Shape;2032;p29"/>
            <p:cNvSpPr/>
            <p:nvPr/>
          </p:nvSpPr>
          <p:spPr>
            <a:xfrm>
              <a:off x="4256381" y="32119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33" name="Google Shape;2033;p29"/>
            <p:cNvSpPr/>
            <p:nvPr/>
          </p:nvSpPr>
          <p:spPr>
            <a:xfrm>
              <a:off x="4510895" y="332177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34" name="Google Shape;2034;p29"/>
            <p:cNvSpPr/>
            <p:nvPr/>
          </p:nvSpPr>
          <p:spPr>
            <a:xfrm>
              <a:off x="4532595" y="340766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35" name="Google Shape;2035;p29"/>
            <p:cNvSpPr/>
            <p:nvPr/>
          </p:nvSpPr>
          <p:spPr>
            <a:xfrm>
              <a:off x="4639503" y="341909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36" name="Google Shape;2036;p29"/>
            <p:cNvSpPr/>
            <p:nvPr/>
          </p:nvSpPr>
          <p:spPr>
            <a:xfrm>
              <a:off x="4671901" y="32074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37" name="Google Shape;2037;p29"/>
            <p:cNvSpPr/>
            <p:nvPr/>
          </p:nvSpPr>
          <p:spPr>
            <a:xfrm>
              <a:off x="4226922" y="285647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38" name="Google Shape;2038;p29"/>
            <p:cNvSpPr/>
            <p:nvPr/>
          </p:nvSpPr>
          <p:spPr>
            <a:xfrm>
              <a:off x="4227102" y="304784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39" name="Google Shape;2039;p29"/>
            <p:cNvSpPr/>
            <p:nvPr/>
          </p:nvSpPr>
          <p:spPr>
            <a:xfrm>
              <a:off x="4304762" y="330122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40" name="Google Shape;2040;p29"/>
            <p:cNvSpPr/>
            <p:nvPr/>
          </p:nvSpPr>
          <p:spPr>
            <a:xfrm>
              <a:off x="4812685" y="32100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41" name="Google Shape;2041;p29"/>
            <p:cNvSpPr/>
            <p:nvPr/>
          </p:nvSpPr>
          <p:spPr>
            <a:xfrm>
              <a:off x="4802408" y="35460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42" name="Google Shape;2042;p29"/>
            <p:cNvSpPr/>
            <p:nvPr/>
          </p:nvSpPr>
          <p:spPr>
            <a:xfrm>
              <a:off x="4636443" y="351379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43" name="Google Shape;2043;p29"/>
            <p:cNvSpPr/>
            <p:nvPr/>
          </p:nvSpPr>
          <p:spPr>
            <a:xfrm>
              <a:off x="4461807" y="27108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44" name="Google Shape;2044;p29"/>
            <p:cNvSpPr/>
            <p:nvPr/>
          </p:nvSpPr>
          <p:spPr>
            <a:xfrm>
              <a:off x="4342917" y="276395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45" name="Google Shape;2045;p29"/>
            <p:cNvSpPr/>
            <p:nvPr/>
          </p:nvSpPr>
          <p:spPr>
            <a:xfrm>
              <a:off x="4482361" y="285734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46" name="Google Shape;2046;p29"/>
            <p:cNvSpPr/>
            <p:nvPr/>
          </p:nvSpPr>
          <p:spPr>
            <a:xfrm>
              <a:off x="4322363" y="289140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47" name="Google Shape;2047;p29"/>
            <p:cNvSpPr/>
            <p:nvPr/>
          </p:nvSpPr>
          <p:spPr>
            <a:xfrm>
              <a:off x="4487710" y="299697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48" name="Google Shape;2048;p29"/>
            <p:cNvSpPr/>
            <p:nvPr/>
          </p:nvSpPr>
          <p:spPr>
            <a:xfrm>
              <a:off x="4616318" y="30942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49" name="Google Shape;2049;p29"/>
            <p:cNvSpPr/>
            <p:nvPr/>
          </p:nvSpPr>
          <p:spPr>
            <a:xfrm>
              <a:off x="4648716" y="288261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50" name="Google Shape;2050;p29"/>
            <p:cNvSpPr/>
            <p:nvPr/>
          </p:nvSpPr>
          <p:spPr>
            <a:xfrm>
              <a:off x="4301809" y="27257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51" name="Google Shape;2051;p29"/>
            <p:cNvSpPr/>
            <p:nvPr/>
          </p:nvSpPr>
          <p:spPr>
            <a:xfrm>
              <a:off x="4141811" y="27257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52" name="Google Shape;2052;p29"/>
            <p:cNvSpPr/>
            <p:nvPr/>
          </p:nvSpPr>
          <p:spPr>
            <a:xfrm>
              <a:off x="4120581" y="28060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53" name="Google Shape;2053;p29"/>
            <p:cNvSpPr/>
            <p:nvPr/>
          </p:nvSpPr>
          <p:spPr>
            <a:xfrm>
              <a:off x="4281577" y="29764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54" name="Google Shape;2054;p29"/>
            <p:cNvSpPr/>
            <p:nvPr/>
          </p:nvSpPr>
          <p:spPr>
            <a:xfrm>
              <a:off x="4179696" y="313913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55" name="Google Shape;2055;p29"/>
            <p:cNvSpPr/>
            <p:nvPr/>
          </p:nvSpPr>
          <p:spPr>
            <a:xfrm>
              <a:off x="4363471" y="324920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56" name="Google Shape;2056;p29"/>
            <p:cNvSpPr/>
            <p:nvPr/>
          </p:nvSpPr>
          <p:spPr>
            <a:xfrm>
              <a:off x="4441253" y="341940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57" name="Google Shape;2057;p29"/>
            <p:cNvSpPr/>
            <p:nvPr/>
          </p:nvSpPr>
          <p:spPr>
            <a:xfrm>
              <a:off x="4992444" y="236299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58" name="Google Shape;2058;p29"/>
            <p:cNvSpPr/>
            <p:nvPr/>
          </p:nvSpPr>
          <p:spPr>
            <a:xfrm>
              <a:off x="5131888" y="245638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59" name="Google Shape;2059;p29"/>
            <p:cNvSpPr/>
            <p:nvPr/>
          </p:nvSpPr>
          <p:spPr>
            <a:xfrm>
              <a:off x="5137238" y="259601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0" name="Google Shape;2060;p29"/>
            <p:cNvSpPr/>
            <p:nvPr/>
          </p:nvSpPr>
          <p:spPr>
            <a:xfrm>
              <a:off x="5158938" y="268190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1" name="Google Shape;2061;p29"/>
            <p:cNvSpPr/>
            <p:nvPr/>
          </p:nvSpPr>
          <p:spPr>
            <a:xfrm>
              <a:off x="5265846" y="269333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2" name="Google Shape;2062;p29"/>
            <p:cNvSpPr/>
            <p:nvPr/>
          </p:nvSpPr>
          <p:spPr>
            <a:xfrm>
              <a:off x="4857059" y="246205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3" name="Google Shape;2063;p29"/>
            <p:cNvSpPr/>
            <p:nvPr/>
          </p:nvSpPr>
          <p:spPr>
            <a:xfrm>
              <a:off x="4813851" y="26080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4" name="Google Shape;2064;p29"/>
            <p:cNvSpPr/>
            <p:nvPr/>
          </p:nvSpPr>
          <p:spPr>
            <a:xfrm>
              <a:off x="4829223" y="273818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5" name="Google Shape;2065;p29"/>
            <p:cNvSpPr/>
            <p:nvPr/>
          </p:nvSpPr>
          <p:spPr>
            <a:xfrm>
              <a:off x="5012999" y="284825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6" name="Google Shape;2066;p29"/>
            <p:cNvSpPr/>
            <p:nvPr/>
          </p:nvSpPr>
          <p:spPr>
            <a:xfrm>
              <a:off x="5090780" y="30184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7" name="Google Shape;2067;p29"/>
            <p:cNvSpPr/>
            <p:nvPr/>
          </p:nvSpPr>
          <p:spPr>
            <a:xfrm>
              <a:off x="4594935" y="2334782"/>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068" name="Google Shape;2068;p29"/>
            <p:cNvSpPr/>
            <p:nvPr/>
          </p:nvSpPr>
          <p:spPr>
            <a:xfrm rot="2620925">
              <a:off x="4141699" y="3389692"/>
              <a:ext cx="276693" cy="85086"/>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069" name="Google Shape;2069;p29"/>
            <p:cNvSpPr/>
            <p:nvPr/>
          </p:nvSpPr>
          <p:spPr>
            <a:xfrm rot="4237320">
              <a:off x="3965307" y="3112491"/>
              <a:ext cx="276674" cy="84919"/>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cxnSp>
          <p:nvCxnSpPr>
            <p:cNvPr id="2070" name="Google Shape;2070;p29"/>
            <p:cNvCxnSpPr/>
            <p:nvPr/>
          </p:nvCxnSpPr>
          <p:spPr>
            <a:xfrm>
              <a:off x="5115668" y="2338870"/>
              <a:ext cx="338700" cy="192900"/>
            </a:xfrm>
            <a:prstGeom prst="straightConnector1">
              <a:avLst/>
            </a:prstGeom>
            <a:noFill/>
            <a:ln w="9100" cap="flat" cmpd="sng">
              <a:solidFill>
                <a:srgbClr val="000033"/>
              </a:solidFill>
              <a:prstDash val="solid"/>
              <a:miter lim="800000"/>
              <a:headEnd type="none" w="sm" len="sm"/>
              <a:tailEnd type="none" w="sm" len="sm"/>
            </a:ln>
          </p:spPr>
        </p:cxnSp>
        <p:cxnSp>
          <p:nvCxnSpPr>
            <p:cNvPr id="2071" name="Google Shape;2071;p29"/>
            <p:cNvCxnSpPr/>
            <p:nvPr/>
          </p:nvCxnSpPr>
          <p:spPr>
            <a:xfrm rot="10800000" flipH="1">
              <a:off x="5097587" y="2771740"/>
              <a:ext cx="455400" cy="309600"/>
            </a:xfrm>
            <a:prstGeom prst="straightConnector1">
              <a:avLst/>
            </a:prstGeom>
            <a:noFill/>
            <a:ln w="9100" cap="flat" cmpd="sng">
              <a:solidFill>
                <a:srgbClr val="000033"/>
              </a:solidFill>
              <a:prstDash val="solid"/>
              <a:miter lim="800000"/>
              <a:headEnd type="none" w="sm" len="sm"/>
              <a:tailEnd type="none" w="sm" len="sm"/>
            </a:ln>
          </p:spPr>
        </p:cxnSp>
        <p:cxnSp>
          <p:nvCxnSpPr>
            <p:cNvPr id="2072" name="Google Shape;2072;p29"/>
            <p:cNvCxnSpPr/>
            <p:nvPr/>
          </p:nvCxnSpPr>
          <p:spPr>
            <a:xfrm rot="10800000" flipH="1">
              <a:off x="4981343" y="3018199"/>
              <a:ext cx="581100" cy="273300"/>
            </a:xfrm>
            <a:prstGeom prst="straightConnector1">
              <a:avLst/>
            </a:prstGeom>
            <a:noFill/>
            <a:ln w="9100" cap="flat" cmpd="sng">
              <a:solidFill>
                <a:srgbClr val="000033"/>
              </a:solidFill>
              <a:prstDash val="solid"/>
              <a:miter lim="800000"/>
              <a:headEnd type="none" w="sm" len="sm"/>
              <a:tailEnd type="none" w="sm" len="sm"/>
            </a:ln>
          </p:spPr>
        </p:cxnSp>
        <p:cxnSp>
          <p:nvCxnSpPr>
            <p:cNvPr id="2073" name="Google Shape;2073;p29"/>
            <p:cNvCxnSpPr/>
            <p:nvPr/>
          </p:nvCxnSpPr>
          <p:spPr>
            <a:xfrm>
              <a:off x="4812685" y="3422488"/>
              <a:ext cx="449400" cy="555300"/>
            </a:xfrm>
            <a:prstGeom prst="straightConnector1">
              <a:avLst/>
            </a:prstGeom>
            <a:noFill/>
            <a:ln w="9100" cap="flat" cmpd="sng">
              <a:solidFill>
                <a:srgbClr val="000033"/>
              </a:solidFill>
              <a:prstDash val="solid"/>
              <a:miter lim="800000"/>
              <a:headEnd type="none" w="sm" len="sm"/>
              <a:tailEnd type="none" w="sm" len="sm"/>
            </a:ln>
          </p:spPr>
        </p:cxnSp>
        <p:sp>
          <p:nvSpPr>
            <p:cNvPr id="2074" name="Google Shape;2074;p29"/>
            <p:cNvSpPr txBox="1"/>
            <p:nvPr/>
          </p:nvSpPr>
          <p:spPr>
            <a:xfrm>
              <a:off x="5457744" y="2381447"/>
              <a:ext cx="841500" cy="161700"/>
            </a:xfrm>
            <a:prstGeom prst="rect">
              <a:avLst/>
            </a:prstGeom>
            <a:blipFill rotWithShape="1">
              <a:blip r:embed="rId5">
                <a:alphaModFix/>
              </a:blip>
              <a:stretch>
                <a:fillRect l="-172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sp>
          <p:nvSpPr>
            <p:cNvPr id="2075" name="Google Shape;2075;p29"/>
            <p:cNvSpPr txBox="1"/>
            <p:nvPr/>
          </p:nvSpPr>
          <p:spPr>
            <a:xfrm>
              <a:off x="5527376" y="2624341"/>
              <a:ext cx="841500" cy="161700"/>
            </a:xfrm>
            <a:prstGeom prst="rect">
              <a:avLst/>
            </a:prstGeom>
            <a:blipFill rotWithShape="1">
              <a:blip r:embed="rId6">
                <a:alphaModFix/>
              </a:blip>
              <a:stretch>
                <a:fillRect l="-207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sp>
          <p:nvSpPr>
            <p:cNvPr id="2076" name="Google Shape;2076;p29"/>
            <p:cNvSpPr txBox="1"/>
            <p:nvPr/>
          </p:nvSpPr>
          <p:spPr>
            <a:xfrm>
              <a:off x="5568455" y="2871836"/>
              <a:ext cx="841500" cy="161700"/>
            </a:xfrm>
            <a:prstGeom prst="rect">
              <a:avLst/>
            </a:prstGeom>
            <a:blipFill rotWithShape="1">
              <a:blip r:embed="rId7">
                <a:alphaModFix/>
              </a:blip>
              <a:stretch>
                <a:fillRect l="-172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sp>
          <p:nvSpPr>
            <p:cNvPr id="2077" name="Google Shape;2077;p29"/>
            <p:cNvSpPr txBox="1"/>
            <p:nvPr/>
          </p:nvSpPr>
          <p:spPr>
            <a:xfrm>
              <a:off x="5476501" y="3575295"/>
              <a:ext cx="841500" cy="161700"/>
            </a:xfrm>
            <a:prstGeom prst="rect">
              <a:avLst/>
            </a:prstGeom>
            <a:blipFill rotWithShape="1">
              <a:blip r:embed="rId8">
                <a:alphaModFix/>
              </a:blip>
              <a:stretch>
                <a:fillRect l="-171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sp>
          <p:nvSpPr>
            <p:cNvPr id="2078" name="Google Shape;2078;p29"/>
            <p:cNvSpPr txBox="1"/>
            <p:nvPr/>
          </p:nvSpPr>
          <p:spPr>
            <a:xfrm>
              <a:off x="5262107" y="3828748"/>
              <a:ext cx="1147800" cy="161700"/>
            </a:xfrm>
            <a:prstGeom prst="rect">
              <a:avLst/>
            </a:prstGeom>
            <a:blipFill rotWithShape="1">
              <a:blip r:embed="rId9">
                <a:alphaModFix/>
              </a:blip>
              <a:stretch>
                <a:fillRect l="-151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cxnSp>
          <p:nvCxnSpPr>
            <p:cNvPr id="2079" name="Google Shape;2079;p29"/>
            <p:cNvCxnSpPr/>
            <p:nvPr/>
          </p:nvCxnSpPr>
          <p:spPr>
            <a:xfrm>
              <a:off x="5454476" y="2531782"/>
              <a:ext cx="675000" cy="0"/>
            </a:xfrm>
            <a:prstGeom prst="straightConnector1">
              <a:avLst/>
            </a:prstGeom>
            <a:noFill/>
            <a:ln w="9100" cap="flat" cmpd="sng">
              <a:solidFill>
                <a:srgbClr val="000033"/>
              </a:solidFill>
              <a:prstDash val="solid"/>
              <a:miter lim="800000"/>
              <a:headEnd type="none" w="sm" len="sm"/>
              <a:tailEnd type="none" w="sm" len="sm"/>
            </a:ln>
          </p:spPr>
        </p:cxnSp>
        <p:cxnSp>
          <p:nvCxnSpPr>
            <p:cNvPr id="2080" name="Google Shape;2080;p29"/>
            <p:cNvCxnSpPr/>
            <p:nvPr/>
          </p:nvCxnSpPr>
          <p:spPr>
            <a:xfrm>
              <a:off x="5552853" y="2771808"/>
              <a:ext cx="527700" cy="0"/>
            </a:xfrm>
            <a:prstGeom prst="straightConnector1">
              <a:avLst/>
            </a:prstGeom>
            <a:noFill/>
            <a:ln w="9100" cap="flat" cmpd="sng">
              <a:solidFill>
                <a:srgbClr val="000033"/>
              </a:solidFill>
              <a:prstDash val="solid"/>
              <a:miter lim="800000"/>
              <a:headEnd type="none" w="sm" len="sm"/>
              <a:tailEnd type="none" w="sm" len="sm"/>
            </a:ln>
          </p:spPr>
        </p:cxnSp>
        <p:cxnSp>
          <p:nvCxnSpPr>
            <p:cNvPr id="2081" name="Google Shape;2081;p29"/>
            <p:cNvCxnSpPr/>
            <p:nvPr/>
          </p:nvCxnSpPr>
          <p:spPr>
            <a:xfrm>
              <a:off x="5557633" y="3019899"/>
              <a:ext cx="656700" cy="0"/>
            </a:xfrm>
            <a:prstGeom prst="straightConnector1">
              <a:avLst/>
            </a:prstGeom>
            <a:noFill/>
            <a:ln w="9100" cap="flat" cmpd="sng">
              <a:solidFill>
                <a:srgbClr val="000033"/>
              </a:solidFill>
              <a:prstDash val="solid"/>
              <a:miter lim="800000"/>
              <a:headEnd type="none" w="sm" len="sm"/>
              <a:tailEnd type="none" w="sm" len="sm"/>
            </a:ln>
          </p:spPr>
        </p:cxnSp>
        <p:cxnSp>
          <p:nvCxnSpPr>
            <p:cNvPr id="2082" name="Google Shape;2082;p29"/>
            <p:cNvCxnSpPr/>
            <p:nvPr/>
          </p:nvCxnSpPr>
          <p:spPr>
            <a:xfrm>
              <a:off x="5476501" y="3728972"/>
              <a:ext cx="653100" cy="0"/>
            </a:xfrm>
            <a:prstGeom prst="straightConnector1">
              <a:avLst/>
            </a:prstGeom>
            <a:noFill/>
            <a:ln w="9100" cap="flat" cmpd="sng">
              <a:solidFill>
                <a:srgbClr val="000033"/>
              </a:solidFill>
              <a:prstDash val="solid"/>
              <a:miter lim="800000"/>
              <a:headEnd type="none" w="sm" len="sm"/>
              <a:tailEnd type="none" w="sm" len="sm"/>
            </a:ln>
          </p:spPr>
        </p:cxnSp>
        <p:cxnSp>
          <p:nvCxnSpPr>
            <p:cNvPr id="2083" name="Google Shape;2083;p29"/>
            <p:cNvCxnSpPr/>
            <p:nvPr/>
          </p:nvCxnSpPr>
          <p:spPr>
            <a:xfrm>
              <a:off x="5262106" y="3977899"/>
              <a:ext cx="990000" cy="0"/>
            </a:xfrm>
            <a:prstGeom prst="straightConnector1">
              <a:avLst/>
            </a:prstGeom>
            <a:noFill/>
            <a:ln w="9100" cap="flat" cmpd="sng">
              <a:solidFill>
                <a:srgbClr val="000033"/>
              </a:solidFill>
              <a:prstDash val="solid"/>
              <a:miter lim="800000"/>
              <a:headEnd type="none" w="sm" len="sm"/>
              <a:tailEnd type="none" w="sm" len="sm"/>
            </a:ln>
          </p:spPr>
        </p:cxnSp>
        <p:cxnSp>
          <p:nvCxnSpPr>
            <p:cNvPr id="2084" name="Google Shape;2084;p29"/>
            <p:cNvCxnSpPr/>
            <p:nvPr/>
          </p:nvCxnSpPr>
          <p:spPr>
            <a:xfrm>
              <a:off x="4307011" y="3468338"/>
              <a:ext cx="533400" cy="753000"/>
            </a:xfrm>
            <a:prstGeom prst="straightConnector1">
              <a:avLst/>
            </a:prstGeom>
            <a:noFill/>
            <a:ln w="9100" cap="flat" cmpd="sng">
              <a:solidFill>
                <a:srgbClr val="000033"/>
              </a:solidFill>
              <a:prstDash val="solid"/>
              <a:miter lim="800000"/>
              <a:headEnd type="none" w="sm" len="sm"/>
              <a:tailEnd type="none" w="sm" len="sm"/>
            </a:ln>
          </p:spPr>
        </p:cxnSp>
        <p:sp>
          <p:nvSpPr>
            <p:cNvPr id="2085" name="Google Shape;2085;p29"/>
            <p:cNvSpPr txBox="1"/>
            <p:nvPr/>
          </p:nvSpPr>
          <p:spPr>
            <a:xfrm>
              <a:off x="4864266" y="4062979"/>
              <a:ext cx="1242600" cy="161700"/>
            </a:xfrm>
            <a:prstGeom prst="rect">
              <a:avLst/>
            </a:prstGeom>
            <a:noFill/>
            <a:ln>
              <a:noFill/>
            </a:ln>
          </p:spPr>
          <p:txBody>
            <a:bodyPr spcFirstLastPara="1" wrap="square" lIns="43650" tIns="21825" rIns="43650" bIns="21825" anchor="t" anchorCtr="0">
              <a:spAutoFit/>
            </a:bodyPr>
            <a:lstStyle/>
            <a:p>
              <a:pPr marL="0" marR="0" lvl="0" indent="0" algn="l" rtl="0">
                <a:spcBef>
                  <a:spcPts val="0"/>
                </a:spcBef>
                <a:spcAft>
                  <a:spcPts val="0"/>
                </a:spcAft>
                <a:buNone/>
              </a:pPr>
              <a:r>
                <a:rPr lang="en-GB" sz="764" i="1">
                  <a:solidFill>
                    <a:srgbClr val="000000"/>
                  </a:solidFill>
                  <a:latin typeface="Play"/>
                  <a:ea typeface="Play"/>
                  <a:cs typeface="Play"/>
                  <a:sym typeface="Play"/>
                </a:rPr>
                <a:t>Intergranular bubbles</a:t>
              </a:r>
              <a:endParaRPr sz="764" i="1">
                <a:solidFill>
                  <a:srgbClr val="000000"/>
                </a:solidFill>
                <a:latin typeface="Play"/>
                <a:ea typeface="Play"/>
                <a:cs typeface="Play"/>
                <a:sym typeface="Play"/>
              </a:endParaRPr>
            </a:p>
          </p:txBody>
        </p:sp>
        <p:cxnSp>
          <p:nvCxnSpPr>
            <p:cNvPr id="2086" name="Google Shape;2086;p29"/>
            <p:cNvCxnSpPr/>
            <p:nvPr/>
          </p:nvCxnSpPr>
          <p:spPr>
            <a:xfrm>
              <a:off x="4841658" y="4225991"/>
              <a:ext cx="990000" cy="0"/>
            </a:xfrm>
            <a:prstGeom prst="straightConnector1">
              <a:avLst/>
            </a:prstGeom>
            <a:noFill/>
            <a:ln w="9100" cap="flat" cmpd="sng">
              <a:solidFill>
                <a:srgbClr val="000033"/>
              </a:solidFill>
              <a:prstDash val="solid"/>
              <a:miter lim="800000"/>
              <a:headEnd type="none" w="sm" len="sm"/>
              <a:tailEnd type="none" w="sm" len="sm"/>
            </a:ln>
          </p:spPr>
        </p:cxnSp>
        <p:cxnSp>
          <p:nvCxnSpPr>
            <p:cNvPr id="2087" name="Google Shape;2087;p29"/>
            <p:cNvCxnSpPr/>
            <p:nvPr/>
          </p:nvCxnSpPr>
          <p:spPr>
            <a:xfrm>
              <a:off x="5320056" y="3271717"/>
              <a:ext cx="255600" cy="146400"/>
            </a:xfrm>
            <a:prstGeom prst="straightConnector1">
              <a:avLst/>
            </a:prstGeom>
            <a:noFill/>
            <a:ln w="9100" cap="flat" cmpd="sng">
              <a:solidFill>
                <a:srgbClr val="000033"/>
              </a:solidFill>
              <a:prstDash val="solid"/>
              <a:miter lim="800000"/>
              <a:headEnd type="none" w="sm" len="sm"/>
              <a:tailEnd type="none" w="sm" len="sm"/>
            </a:ln>
          </p:spPr>
        </p:cxnSp>
        <p:cxnSp>
          <p:nvCxnSpPr>
            <p:cNvPr id="2088" name="Google Shape;2088;p29"/>
            <p:cNvCxnSpPr/>
            <p:nvPr/>
          </p:nvCxnSpPr>
          <p:spPr>
            <a:xfrm>
              <a:off x="5578644" y="3417128"/>
              <a:ext cx="675000" cy="0"/>
            </a:xfrm>
            <a:prstGeom prst="straightConnector1">
              <a:avLst/>
            </a:prstGeom>
            <a:noFill/>
            <a:ln w="9100" cap="flat" cmpd="sng">
              <a:solidFill>
                <a:srgbClr val="000033"/>
              </a:solidFill>
              <a:prstDash val="solid"/>
              <a:miter lim="800000"/>
              <a:headEnd type="none" w="sm" len="sm"/>
              <a:tailEnd type="none" w="sm" len="sm"/>
            </a:ln>
          </p:spPr>
        </p:cxnSp>
        <p:sp>
          <p:nvSpPr>
            <p:cNvPr id="2089" name="Google Shape;2089;p29"/>
            <p:cNvSpPr txBox="1"/>
            <p:nvPr/>
          </p:nvSpPr>
          <p:spPr>
            <a:xfrm>
              <a:off x="5585812" y="3253795"/>
              <a:ext cx="951000" cy="161700"/>
            </a:xfrm>
            <a:prstGeom prst="rect">
              <a:avLst/>
            </a:prstGeom>
            <a:noFill/>
            <a:ln>
              <a:noFill/>
            </a:ln>
          </p:spPr>
          <p:txBody>
            <a:bodyPr spcFirstLastPara="1" wrap="square" lIns="43650" tIns="21825" rIns="43650" bIns="21825" anchor="t" anchorCtr="0">
              <a:spAutoFit/>
            </a:bodyPr>
            <a:lstStyle/>
            <a:p>
              <a:pPr marL="0" marR="0" lvl="0" indent="0" algn="l" rtl="0">
                <a:spcBef>
                  <a:spcPts val="0"/>
                </a:spcBef>
                <a:spcAft>
                  <a:spcPts val="0"/>
                </a:spcAft>
                <a:buNone/>
              </a:pPr>
              <a:r>
                <a:rPr lang="en-GB" sz="764" i="1">
                  <a:solidFill>
                    <a:srgbClr val="000000"/>
                  </a:solidFill>
                  <a:latin typeface="Play"/>
                  <a:ea typeface="Play"/>
                  <a:cs typeface="Play"/>
                  <a:sym typeface="Play"/>
                </a:rPr>
                <a:t>Grain boundary</a:t>
              </a:r>
              <a:endParaRPr sz="764" i="1">
                <a:solidFill>
                  <a:srgbClr val="000000"/>
                </a:solidFill>
                <a:latin typeface="Play"/>
                <a:ea typeface="Play"/>
                <a:cs typeface="Play"/>
                <a:sym typeface="Play"/>
              </a:endParaRPr>
            </a:p>
          </p:txBody>
        </p:sp>
        <p:cxnSp>
          <p:nvCxnSpPr>
            <p:cNvPr id="2090" name="Google Shape;2090;p29"/>
            <p:cNvCxnSpPr/>
            <p:nvPr/>
          </p:nvCxnSpPr>
          <p:spPr>
            <a:xfrm flipH="1">
              <a:off x="4763168" y="2102353"/>
              <a:ext cx="352500" cy="406800"/>
            </a:xfrm>
            <a:prstGeom prst="straightConnector1">
              <a:avLst/>
            </a:prstGeom>
            <a:noFill/>
            <a:ln w="9100" cap="flat" cmpd="sng">
              <a:solidFill>
                <a:srgbClr val="000033"/>
              </a:solidFill>
              <a:prstDash val="solid"/>
              <a:miter lim="800000"/>
              <a:headEnd type="none" w="sm" len="sm"/>
              <a:tailEnd type="none" w="sm" len="sm"/>
            </a:ln>
          </p:spPr>
        </p:cxnSp>
        <p:sp>
          <p:nvSpPr>
            <p:cNvPr id="2091" name="Google Shape;2091;p29"/>
            <p:cNvSpPr txBox="1"/>
            <p:nvPr/>
          </p:nvSpPr>
          <p:spPr>
            <a:xfrm>
              <a:off x="5099984" y="1944185"/>
              <a:ext cx="1077600" cy="161700"/>
            </a:xfrm>
            <a:prstGeom prst="rect">
              <a:avLst/>
            </a:prstGeom>
            <a:blipFill rotWithShape="1">
              <a:blip r:embed="rId10">
                <a:alphaModFix/>
              </a:blip>
              <a:stretch>
                <a:fillRect l="-134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Arial"/>
                  <a:ea typeface="Arial"/>
                  <a:cs typeface="Arial"/>
                  <a:sym typeface="Arial"/>
                </a:rPr>
                <a:t> </a:t>
              </a:r>
              <a:endParaRPr sz="668"/>
            </a:p>
          </p:txBody>
        </p:sp>
        <p:cxnSp>
          <p:nvCxnSpPr>
            <p:cNvPr id="2092" name="Google Shape;2092;p29"/>
            <p:cNvCxnSpPr/>
            <p:nvPr/>
          </p:nvCxnSpPr>
          <p:spPr>
            <a:xfrm>
              <a:off x="5115668" y="2102805"/>
              <a:ext cx="1061700" cy="0"/>
            </a:xfrm>
            <a:prstGeom prst="straightConnector1">
              <a:avLst/>
            </a:prstGeom>
            <a:noFill/>
            <a:ln w="9100" cap="flat" cmpd="sng">
              <a:solidFill>
                <a:srgbClr val="000033"/>
              </a:solidFill>
              <a:prstDash val="solid"/>
              <a:miter lim="800000"/>
              <a:headEnd type="none" w="sm" len="sm"/>
              <a:tailEnd type="none" w="sm" len="sm"/>
            </a:ln>
          </p:spPr>
        </p:cxnSp>
        <p:pic>
          <p:nvPicPr>
            <p:cNvPr id="2093" name="Google Shape;2093;p29"/>
            <p:cNvPicPr preferRelativeResize="0"/>
            <p:nvPr/>
          </p:nvPicPr>
          <p:blipFill rotWithShape="1">
            <a:blip r:embed="rId4">
              <a:alphaModFix/>
            </a:blip>
            <a:srcRect/>
            <a:stretch/>
          </p:blipFill>
          <p:spPr>
            <a:xfrm>
              <a:off x="4840821" y="3232514"/>
              <a:ext cx="66946" cy="66946"/>
            </a:xfrm>
            <a:prstGeom prst="rect">
              <a:avLst/>
            </a:prstGeom>
            <a:noFill/>
            <a:ln>
              <a:noFill/>
            </a:ln>
          </p:spPr>
        </p:pic>
        <p:cxnSp>
          <p:nvCxnSpPr>
            <p:cNvPr id="2094" name="Google Shape;2094;p29"/>
            <p:cNvCxnSpPr>
              <a:endCxn id="1997" idx="4"/>
            </p:cNvCxnSpPr>
            <p:nvPr/>
          </p:nvCxnSpPr>
          <p:spPr>
            <a:xfrm rot="10800000">
              <a:off x="4891585" y="3058082"/>
              <a:ext cx="111900" cy="250200"/>
            </a:xfrm>
            <a:prstGeom prst="straightConnector1">
              <a:avLst/>
            </a:prstGeom>
            <a:noFill/>
            <a:ln w="9100" cap="flat" cmpd="sng">
              <a:solidFill>
                <a:srgbClr val="000033"/>
              </a:solidFill>
              <a:prstDash val="solid"/>
              <a:miter lim="800000"/>
              <a:headEnd type="none" w="sm" len="sm"/>
              <a:tailEnd type="triangle" w="med" len="med"/>
            </a:ln>
          </p:spPr>
        </p:cxnSp>
        <p:cxnSp>
          <p:nvCxnSpPr>
            <p:cNvPr id="2095" name="Google Shape;2095;p29"/>
            <p:cNvCxnSpPr>
              <a:stCxn id="1997" idx="5"/>
            </p:cNvCxnSpPr>
            <p:nvPr/>
          </p:nvCxnSpPr>
          <p:spPr>
            <a:xfrm>
              <a:off x="4947375" y="3034973"/>
              <a:ext cx="226500" cy="85500"/>
            </a:xfrm>
            <a:prstGeom prst="straightConnector1">
              <a:avLst/>
            </a:prstGeom>
            <a:noFill/>
            <a:ln w="9100" cap="flat" cmpd="sng">
              <a:solidFill>
                <a:srgbClr val="000033"/>
              </a:solidFill>
              <a:prstDash val="solid"/>
              <a:miter lim="800000"/>
              <a:headEnd type="none" w="sm" len="sm"/>
              <a:tailEnd type="triangle" w="med" len="med"/>
            </a:ln>
          </p:spPr>
        </p:cxnSp>
      </p:grpSp>
      <p:sp>
        <p:nvSpPr>
          <p:cNvPr id="2096" name="Google Shape;2096;p29"/>
          <p:cNvSpPr/>
          <p:nvPr/>
        </p:nvSpPr>
        <p:spPr>
          <a:xfrm rot="5400000">
            <a:off x="682905" y="2414383"/>
            <a:ext cx="1081829" cy="1215308"/>
          </a:xfrm>
          <a:prstGeom prst="flowChartOnlineStorage">
            <a:avLst/>
          </a:prstGeom>
          <a:solidFill>
            <a:srgbClr val="747474"/>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2097" name="Google Shape;2097;p29"/>
          <p:cNvSpPr/>
          <p:nvPr/>
        </p:nvSpPr>
        <p:spPr>
          <a:xfrm rot="5400000">
            <a:off x="699185" y="2506636"/>
            <a:ext cx="1049166" cy="1063461"/>
          </a:xfrm>
          <a:prstGeom prst="flowChartOnlineStorage">
            <a:avLst/>
          </a:prstGeom>
          <a:solidFill>
            <a:srgbClr val="BFBFBF"/>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2098" name="Google Shape;2098;p29"/>
          <p:cNvSpPr/>
          <p:nvPr/>
        </p:nvSpPr>
        <p:spPr>
          <a:xfrm>
            <a:off x="767907" y="2548222"/>
            <a:ext cx="912000" cy="1080000"/>
          </a:xfrm>
          <a:prstGeom prst="can">
            <a:avLst>
              <a:gd name="adj" fmla="val 31808"/>
            </a:avLst>
          </a:prstGeom>
          <a:solidFill>
            <a:srgbClr val="3A3A3A"/>
          </a:solidFill>
          <a:ln w="8825" cap="flat" cmpd="sng">
            <a:solidFill>
              <a:srgbClr val="191919"/>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2099" name="Google Shape;2099;p29"/>
          <p:cNvGrpSpPr/>
          <p:nvPr/>
        </p:nvGrpSpPr>
        <p:grpSpPr>
          <a:xfrm>
            <a:off x="1100747" y="2118775"/>
            <a:ext cx="394891" cy="518823"/>
            <a:chOff x="3796641" y="775621"/>
            <a:chExt cx="792000" cy="1119600"/>
          </a:xfrm>
        </p:grpSpPr>
        <p:cxnSp>
          <p:nvCxnSpPr>
            <p:cNvPr id="2100" name="Google Shape;2100;p29"/>
            <p:cNvCxnSpPr>
              <a:stCxn id="2101" idx="2"/>
            </p:cNvCxnSpPr>
            <p:nvPr/>
          </p:nvCxnSpPr>
          <p:spPr>
            <a:xfrm flipH="1">
              <a:off x="4032441" y="1063621"/>
              <a:ext cx="160200" cy="831600"/>
            </a:xfrm>
            <a:prstGeom prst="straightConnector1">
              <a:avLst/>
            </a:prstGeom>
            <a:noFill/>
            <a:ln w="5900" cap="flat" cmpd="sng">
              <a:solidFill>
                <a:srgbClr val="262626"/>
              </a:solidFill>
              <a:prstDash val="solid"/>
              <a:miter lim="800000"/>
              <a:headEnd type="none" w="sm" len="sm"/>
              <a:tailEnd type="none" w="sm" len="sm"/>
            </a:ln>
          </p:spPr>
        </p:cxnSp>
        <p:sp>
          <p:nvSpPr>
            <p:cNvPr id="2101" name="Google Shape;2101;p29"/>
            <p:cNvSpPr/>
            <p:nvPr/>
          </p:nvSpPr>
          <p:spPr>
            <a:xfrm>
              <a:off x="3796641" y="77562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Pellet</a:t>
              </a:r>
              <a:endParaRPr sz="555">
                <a:solidFill>
                  <a:srgbClr val="262626"/>
                </a:solidFill>
                <a:latin typeface="Arial"/>
                <a:ea typeface="Arial"/>
                <a:cs typeface="Arial"/>
                <a:sym typeface="Arial"/>
              </a:endParaRPr>
            </a:p>
          </p:txBody>
        </p:sp>
      </p:grpSp>
      <p:cxnSp>
        <p:nvCxnSpPr>
          <p:cNvPr id="2102" name="Google Shape;2102;p29"/>
          <p:cNvCxnSpPr/>
          <p:nvPr/>
        </p:nvCxnSpPr>
        <p:spPr>
          <a:xfrm rot="10800000" flipH="1">
            <a:off x="1753916" y="2663000"/>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2103" name="Google Shape;2103;p29"/>
          <p:cNvGrpSpPr/>
          <p:nvPr/>
        </p:nvGrpSpPr>
        <p:grpSpPr>
          <a:xfrm>
            <a:off x="1755178" y="3236453"/>
            <a:ext cx="77183" cy="323764"/>
            <a:chOff x="9755471" y="3187529"/>
            <a:chExt cx="154800" cy="698671"/>
          </a:xfrm>
        </p:grpSpPr>
        <p:cxnSp>
          <p:nvCxnSpPr>
            <p:cNvPr id="2104" name="Google Shape;2104;p29"/>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2105" name="Google Shape;2105;p29"/>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cxnSp>
        <p:nvCxnSpPr>
          <p:cNvPr id="2106" name="Google Shape;2106;p29"/>
          <p:cNvCxnSpPr/>
          <p:nvPr/>
        </p:nvCxnSpPr>
        <p:spPr>
          <a:xfrm>
            <a:off x="616167" y="2663028"/>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2107" name="Google Shape;2107;p29"/>
          <p:cNvGrpSpPr/>
          <p:nvPr/>
        </p:nvGrpSpPr>
        <p:grpSpPr>
          <a:xfrm>
            <a:off x="616317" y="3236453"/>
            <a:ext cx="77183" cy="323764"/>
            <a:chOff x="9755471" y="3187529"/>
            <a:chExt cx="154800" cy="698671"/>
          </a:xfrm>
        </p:grpSpPr>
        <p:cxnSp>
          <p:nvCxnSpPr>
            <p:cNvPr id="2108" name="Google Shape;2108;p29"/>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2109" name="Google Shape;2109;p29"/>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grpSp>
        <p:nvGrpSpPr>
          <p:cNvPr id="2110" name="Google Shape;2110;p29"/>
          <p:cNvGrpSpPr/>
          <p:nvPr/>
        </p:nvGrpSpPr>
        <p:grpSpPr>
          <a:xfrm>
            <a:off x="45015" y="2513872"/>
            <a:ext cx="602957" cy="414558"/>
            <a:chOff x="2866933" y="933607"/>
            <a:chExt cx="1209300" cy="894600"/>
          </a:xfrm>
        </p:grpSpPr>
        <p:cxnSp>
          <p:nvCxnSpPr>
            <p:cNvPr id="2111" name="Google Shape;2111;p29"/>
            <p:cNvCxnSpPr>
              <a:stCxn id="2112" idx="3"/>
            </p:cNvCxnSpPr>
            <p:nvPr/>
          </p:nvCxnSpPr>
          <p:spPr>
            <a:xfrm>
              <a:off x="3658933" y="1077607"/>
              <a:ext cx="417300" cy="750600"/>
            </a:xfrm>
            <a:prstGeom prst="straightConnector1">
              <a:avLst/>
            </a:prstGeom>
            <a:noFill/>
            <a:ln w="5900" cap="flat" cmpd="sng">
              <a:solidFill>
                <a:srgbClr val="262626"/>
              </a:solidFill>
              <a:prstDash val="solid"/>
              <a:miter lim="800000"/>
              <a:headEnd type="none" w="sm" len="sm"/>
              <a:tailEnd type="none" w="sm" len="sm"/>
            </a:ln>
          </p:spPr>
        </p:cxnSp>
        <p:sp>
          <p:nvSpPr>
            <p:cNvPr id="2112" name="Google Shape;2112;p29"/>
            <p:cNvSpPr/>
            <p:nvPr/>
          </p:nvSpPr>
          <p:spPr>
            <a:xfrm>
              <a:off x="2866933" y="933607"/>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Cladding</a:t>
              </a:r>
              <a:endParaRPr sz="555">
                <a:solidFill>
                  <a:srgbClr val="262626"/>
                </a:solidFill>
                <a:latin typeface="Arial"/>
                <a:ea typeface="Arial"/>
                <a:cs typeface="Arial"/>
                <a:sym typeface="Arial"/>
              </a:endParaRPr>
            </a:p>
          </p:txBody>
        </p:sp>
      </p:grpSp>
      <p:grpSp>
        <p:nvGrpSpPr>
          <p:cNvPr id="2113" name="Google Shape;2113;p29"/>
          <p:cNvGrpSpPr/>
          <p:nvPr/>
        </p:nvGrpSpPr>
        <p:grpSpPr>
          <a:xfrm>
            <a:off x="451713" y="2149665"/>
            <a:ext cx="394891" cy="701356"/>
            <a:chOff x="4708781" y="1062201"/>
            <a:chExt cx="792000" cy="1513500"/>
          </a:xfrm>
        </p:grpSpPr>
        <p:cxnSp>
          <p:nvCxnSpPr>
            <p:cNvPr id="2114" name="Google Shape;2114;p29"/>
            <p:cNvCxnSpPr>
              <a:stCxn id="2115" idx="2"/>
            </p:cNvCxnSpPr>
            <p:nvPr/>
          </p:nvCxnSpPr>
          <p:spPr>
            <a:xfrm>
              <a:off x="5104781" y="1350201"/>
              <a:ext cx="190500" cy="1225500"/>
            </a:xfrm>
            <a:prstGeom prst="straightConnector1">
              <a:avLst/>
            </a:prstGeom>
            <a:noFill/>
            <a:ln w="5900" cap="flat" cmpd="sng">
              <a:solidFill>
                <a:srgbClr val="262626"/>
              </a:solidFill>
              <a:prstDash val="solid"/>
              <a:miter lim="800000"/>
              <a:headEnd type="none" w="sm" len="sm"/>
              <a:tailEnd type="none" w="sm" len="sm"/>
            </a:ln>
          </p:spPr>
        </p:cxnSp>
        <p:sp>
          <p:nvSpPr>
            <p:cNvPr id="2115" name="Google Shape;2115;p29"/>
            <p:cNvSpPr/>
            <p:nvPr/>
          </p:nvSpPr>
          <p:spPr>
            <a:xfrm>
              <a:off x="4708781" y="106220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Gap</a:t>
              </a:r>
              <a:endParaRPr sz="555">
                <a:solidFill>
                  <a:srgbClr val="262626"/>
                </a:solidFill>
                <a:latin typeface="Arial"/>
                <a:ea typeface="Arial"/>
                <a:cs typeface="Arial"/>
                <a:sym typeface="Arial"/>
              </a:endParaRPr>
            </a:p>
          </p:txBody>
        </p:sp>
      </p:grpSp>
      <p:cxnSp>
        <p:nvCxnSpPr>
          <p:cNvPr id="2116" name="Google Shape;2116;p29"/>
          <p:cNvCxnSpPr/>
          <p:nvPr/>
        </p:nvCxnSpPr>
        <p:spPr>
          <a:xfrm rot="10800000" flipH="1">
            <a:off x="1365289" y="2478202"/>
            <a:ext cx="940500" cy="536400"/>
          </a:xfrm>
          <a:prstGeom prst="straightConnector1">
            <a:avLst/>
          </a:prstGeom>
          <a:noFill/>
          <a:ln w="8825" cap="flat" cmpd="sng">
            <a:solidFill>
              <a:srgbClr val="000000"/>
            </a:solidFill>
            <a:prstDash val="solid"/>
            <a:miter lim="800000"/>
            <a:headEnd type="none" w="sm" len="sm"/>
            <a:tailEnd type="none" w="sm" len="sm"/>
          </a:ln>
        </p:spPr>
      </p:cxnSp>
      <p:cxnSp>
        <p:nvCxnSpPr>
          <p:cNvPr id="2117" name="Google Shape;2117;p29"/>
          <p:cNvCxnSpPr/>
          <p:nvPr/>
        </p:nvCxnSpPr>
        <p:spPr>
          <a:xfrm>
            <a:off x="1365289" y="3170775"/>
            <a:ext cx="940500" cy="150000"/>
          </a:xfrm>
          <a:prstGeom prst="straightConnector1">
            <a:avLst/>
          </a:prstGeom>
          <a:noFill/>
          <a:ln w="8825" cap="flat" cmpd="sng">
            <a:solidFill>
              <a:srgbClr val="000000"/>
            </a:solidFill>
            <a:prstDash val="solid"/>
            <a:miter lim="800000"/>
            <a:headEnd type="none" w="sm" len="sm"/>
            <a:tailEnd type="none" w="sm" len="sm"/>
          </a:ln>
        </p:spPr>
      </p:cxnSp>
      <p:sp>
        <p:nvSpPr>
          <p:cNvPr id="2118" name="Google Shape;2118;p29"/>
          <p:cNvSpPr/>
          <p:nvPr/>
        </p:nvSpPr>
        <p:spPr>
          <a:xfrm>
            <a:off x="2305782" y="2478022"/>
            <a:ext cx="901800" cy="842700"/>
          </a:xfrm>
          <a:prstGeom prst="rect">
            <a:avLst/>
          </a:prstGeom>
          <a:solidFill>
            <a:srgbClr val="747474"/>
          </a:solidFill>
          <a:ln w="8825" cap="flat" cmpd="sng">
            <a:solidFill>
              <a:srgbClr val="08283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2119" name="Google Shape;2119;p29"/>
          <p:cNvGrpSpPr/>
          <p:nvPr/>
        </p:nvGrpSpPr>
        <p:grpSpPr>
          <a:xfrm>
            <a:off x="2710608" y="2478088"/>
            <a:ext cx="496613" cy="458486"/>
            <a:chOff x="861338" y="1593726"/>
            <a:chExt cx="2895700" cy="2812800"/>
          </a:xfrm>
        </p:grpSpPr>
        <p:pic>
          <p:nvPicPr>
            <p:cNvPr id="2120" name="Google Shape;2120;p29"/>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121" name="Google Shape;2121;p29"/>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122" name="Google Shape;2122;p29"/>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123" name="Google Shape;2123;p29"/>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124" name="Google Shape;2124;p29"/>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125" name="Google Shape;2125;p29"/>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126" name="Google Shape;2126;p29"/>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127" name="Google Shape;2127;p29"/>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28" name="Google Shape;2128;p29"/>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29" name="Google Shape;2129;p29"/>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0" name="Google Shape;2130;p29"/>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1" name="Google Shape;2131;p29"/>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2" name="Google Shape;2132;p29"/>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33" name="Google Shape;2133;p29"/>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4" name="Google Shape;2134;p29"/>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5" name="Google Shape;2135;p29"/>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6" name="Google Shape;2136;p29"/>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7" name="Google Shape;2137;p29"/>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8" name="Google Shape;2138;p29"/>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39" name="Google Shape;2139;p29"/>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40" name="Google Shape;2140;p29"/>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41" name="Google Shape;2141;p29"/>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42" name="Google Shape;2142;p29"/>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43" name="Google Shape;2143;p29"/>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44" name="Google Shape;2144;p29"/>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45" name="Google Shape;2145;p29"/>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46" name="Google Shape;2146;p29"/>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47" name="Google Shape;2147;p29"/>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48" name="Google Shape;2148;p29"/>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49" name="Google Shape;2149;p29"/>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0" name="Google Shape;2150;p29"/>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1" name="Google Shape;2151;p29"/>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2" name="Google Shape;2152;p29"/>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3" name="Google Shape;2153;p29"/>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4" name="Google Shape;2154;p29"/>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5" name="Google Shape;2155;p29"/>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6" name="Google Shape;2156;p29"/>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7" name="Google Shape;2157;p29"/>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8" name="Google Shape;2158;p29"/>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59" name="Google Shape;2159;p29"/>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0" name="Google Shape;2160;p29"/>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1" name="Google Shape;2161;p29"/>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2" name="Google Shape;2162;p29"/>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3" name="Google Shape;2163;p29"/>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4" name="Google Shape;2164;p29"/>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5" name="Google Shape;2165;p29"/>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6" name="Google Shape;2166;p29"/>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67" name="Google Shape;2167;p29"/>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8" name="Google Shape;2168;p29"/>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69" name="Google Shape;2169;p29"/>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70" name="Google Shape;2170;p29"/>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71" name="Google Shape;2171;p29"/>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72" name="Google Shape;2172;p29"/>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73" name="Google Shape;2173;p29"/>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74" name="Google Shape;2174;p29"/>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75" name="Google Shape;2175;p29"/>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76" name="Google Shape;2176;p29"/>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77" name="Google Shape;2177;p29"/>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78" name="Google Shape;2178;p29"/>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79" name="Google Shape;2179;p29"/>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80" name="Google Shape;2180;p29"/>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81" name="Google Shape;2181;p29"/>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82" name="Google Shape;2182;p29"/>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83" name="Google Shape;2183;p29"/>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84" name="Google Shape;2184;p29"/>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85" name="Google Shape;2185;p29"/>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86" name="Google Shape;2186;p29"/>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87" name="Google Shape;2187;p29"/>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88" name="Google Shape;2188;p29"/>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89" name="Google Shape;2189;p29"/>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90" name="Google Shape;2190;p29"/>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191" name="Google Shape;2191;p29"/>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92" name="Google Shape;2192;p29"/>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93" name="Google Shape;2193;p29"/>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94" name="Google Shape;2194;p29"/>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95" name="Google Shape;2195;p29"/>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96" name="Google Shape;2196;p29"/>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97" name="Google Shape;2197;p29"/>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98" name="Google Shape;2198;p29"/>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199" name="Google Shape;2199;p29"/>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00" name="Google Shape;2200;p29"/>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01" name="Google Shape;2201;p29"/>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02" name="Google Shape;2202;p29"/>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03" name="Google Shape;2203;p29"/>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2204" name="Google Shape;2204;p29"/>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205" name="Google Shape;2205;p29"/>
          <p:cNvGrpSpPr/>
          <p:nvPr/>
        </p:nvGrpSpPr>
        <p:grpSpPr>
          <a:xfrm>
            <a:off x="2300232" y="2486811"/>
            <a:ext cx="429722" cy="396324"/>
            <a:chOff x="861338" y="1593726"/>
            <a:chExt cx="2895700" cy="2812800"/>
          </a:xfrm>
        </p:grpSpPr>
        <p:pic>
          <p:nvPicPr>
            <p:cNvPr id="2206" name="Google Shape;2206;p29"/>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207" name="Google Shape;2207;p29"/>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208" name="Google Shape;2208;p29"/>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209" name="Google Shape;2209;p29"/>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210" name="Google Shape;2210;p29"/>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211" name="Google Shape;2211;p29"/>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212" name="Google Shape;2212;p29"/>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213" name="Google Shape;2213;p29"/>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14" name="Google Shape;2214;p29"/>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15" name="Google Shape;2215;p29"/>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16" name="Google Shape;2216;p29"/>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17" name="Google Shape;2217;p29"/>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18" name="Google Shape;2218;p29"/>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19" name="Google Shape;2219;p29"/>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0" name="Google Shape;2220;p29"/>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1" name="Google Shape;2221;p29"/>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2" name="Google Shape;2222;p29"/>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3" name="Google Shape;2223;p29"/>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4" name="Google Shape;2224;p29"/>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5" name="Google Shape;2225;p29"/>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6" name="Google Shape;2226;p29"/>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7" name="Google Shape;2227;p29"/>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8" name="Google Shape;2228;p29"/>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29" name="Google Shape;2229;p29"/>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30" name="Google Shape;2230;p29"/>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31" name="Google Shape;2231;p29"/>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32" name="Google Shape;2232;p29"/>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33" name="Google Shape;2233;p29"/>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34" name="Google Shape;2234;p29"/>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35" name="Google Shape;2235;p29"/>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36" name="Google Shape;2236;p29"/>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37" name="Google Shape;2237;p29"/>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38" name="Google Shape;2238;p29"/>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39" name="Google Shape;2239;p29"/>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0" name="Google Shape;2240;p29"/>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1" name="Google Shape;2241;p29"/>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2" name="Google Shape;2242;p29"/>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3" name="Google Shape;2243;p29"/>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4" name="Google Shape;2244;p29"/>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5" name="Google Shape;2245;p29"/>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6" name="Google Shape;2246;p29"/>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7" name="Google Shape;2247;p29"/>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8" name="Google Shape;2248;p29"/>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49" name="Google Shape;2249;p29"/>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50" name="Google Shape;2250;p29"/>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51" name="Google Shape;2251;p29"/>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52" name="Google Shape;2252;p29"/>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53" name="Google Shape;2253;p29"/>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54" name="Google Shape;2254;p29"/>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55" name="Google Shape;2255;p29"/>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56" name="Google Shape;2256;p29"/>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57" name="Google Shape;2257;p29"/>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58" name="Google Shape;2258;p29"/>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59" name="Google Shape;2259;p29"/>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60" name="Google Shape;2260;p29"/>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61" name="Google Shape;2261;p29"/>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62" name="Google Shape;2262;p29"/>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63" name="Google Shape;2263;p29"/>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64" name="Google Shape;2264;p29"/>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65" name="Google Shape;2265;p29"/>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66" name="Google Shape;2266;p29"/>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67" name="Google Shape;2267;p29"/>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68" name="Google Shape;2268;p29"/>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69" name="Google Shape;2269;p29"/>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70" name="Google Shape;2270;p29"/>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71" name="Google Shape;2271;p29"/>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72" name="Google Shape;2272;p29"/>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73" name="Google Shape;2273;p29"/>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74" name="Google Shape;2274;p29"/>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75" name="Google Shape;2275;p29"/>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76" name="Google Shape;2276;p29"/>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77" name="Google Shape;2277;p29"/>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78" name="Google Shape;2278;p29"/>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79" name="Google Shape;2279;p29"/>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0" name="Google Shape;2280;p29"/>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1" name="Google Shape;2281;p29"/>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2" name="Google Shape;2282;p29"/>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3" name="Google Shape;2283;p29"/>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4" name="Google Shape;2284;p29"/>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5" name="Google Shape;2285;p29"/>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6" name="Google Shape;2286;p29"/>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7" name="Google Shape;2287;p29"/>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288" name="Google Shape;2288;p29"/>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289" name="Google Shape;2289;p29"/>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2290" name="Google Shape;2290;p29"/>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291" name="Google Shape;2291;p29"/>
          <p:cNvGrpSpPr/>
          <p:nvPr/>
        </p:nvGrpSpPr>
        <p:grpSpPr>
          <a:xfrm>
            <a:off x="2421896" y="2855840"/>
            <a:ext cx="496613" cy="458486"/>
            <a:chOff x="861338" y="1593726"/>
            <a:chExt cx="2895700" cy="2812800"/>
          </a:xfrm>
        </p:grpSpPr>
        <p:pic>
          <p:nvPicPr>
            <p:cNvPr id="2292" name="Google Shape;2292;p29"/>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293" name="Google Shape;2293;p29"/>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294" name="Google Shape;2294;p29"/>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295" name="Google Shape;2295;p29"/>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296" name="Google Shape;2296;p29"/>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297" name="Google Shape;2297;p29"/>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298" name="Google Shape;2298;p29"/>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299" name="Google Shape;2299;p29"/>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00" name="Google Shape;2300;p29"/>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01" name="Google Shape;2301;p29"/>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02" name="Google Shape;2302;p29"/>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03" name="Google Shape;2303;p29"/>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04" name="Google Shape;2304;p29"/>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05" name="Google Shape;2305;p29"/>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06" name="Google Shape;2306;p29"/>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07" name="Google Shape;2307;p29"/>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08" name="Google Shape;2308;p29"/>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09" name="Google Shape;2309;p29"/>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10" name="Google Shape;2310;p29"/>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11" name="Google Shape;2311;p29"/>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12" name="Google Shape;2312;p29"/>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13" name="Google Shape;2313;p29"/>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14" name="Google Shape;2314;p29"/>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15" name="Google Shape;2315;p29"/>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16" name="Google Shape;2316;p29"/>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17" name="Google Shape;2317;p29"/>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18" name="Google Shape;2318;p29"/>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19" name="Google Shape;2319;p29"/>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20" name="Google Shape;2320;p29"/>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1" name="Google Shape;2321;p29"/>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2" name="Google Shape;2322;p29"/>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3" name="Google Shape;2323;p29"/>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4" name="Google Shape;2324;p29"/>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5" name="Google Shape;2325;p29"/>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6" name="Google Shape;2326;p29"/>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7" name="Google Shape;2327;p29"/>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8" name="Google Shape;2328;p29"/>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29" name="Google Shape;2329;p29"/>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0" name="Google Shape;2330;p29"/>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1" name="Google Shape;2331;p29"/>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2" name="Google Shape;2332;p29"/>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3" name="Google Shape;2333;p29"/>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4" name="Google Shape;2334;p29"/>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5" name="Google Shape;2335;p29"/>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6" name="Google Shape;2336;p29"/>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7" name="Google Shape;2337;p29"/>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38" name="Google Shape;2338;p29"/>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39" name="Google Shape;2339;p29"/>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40" name="Google Shape;2340;p29"/>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41" name="Google Shape;2341;p29"/>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42" name="Google Shape;2342;p29"/>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43" name="Google Shape;2343;p29"/>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44" name="Google Shape;2344;p29"/>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45" name="Google Shape;2345;p29"/>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46" name="Google Shape;2346;p29"/>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47" name="Google Shape;2347;p29"/>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48" name="Google Shape;2348;p29"/>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49" name="Google Shape;2349;p29"/>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50" name="Google Shape;2350;p29"/>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51" name="Google Shape;2351;p29"/>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52" name="Google Shape;2352;p29"/>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53" name="Google Shape;2353;p29"/>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54" name="Google Shape;2354;p29"/>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55" name="Google Shape;2355;p29"/>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56" name="Google Shape;2356;p29"/>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57" name="Google Shape;2357;p29"/>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58" name="Google Shape;2358;p29"/>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59" name="Google Shape;2359;p29"/>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60" name="Google Shape;2360;p29"/>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61" name="Google Shape;2361;p29"/>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62" name="Google Shape;2362;p29"/>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63" name="Google Shape;2363;p29"/>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64" name="Google Shape;2364;p29"/>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65" name="Google Shape;2365;p29"/>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66" name="Google Shape;2366;p29"/>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67" name="Google Shape;2367;p29"/>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68" name="Google Shape;2368;p29"/>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69" name="Google Shape;2369;p29"/>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70" name="Google Shape;2370;p29"/>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71" name="Google Shape;2371;p29"/>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72" name="Google Shape;2372;p29"/>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73" name="Google Shape;2373;p29"/>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2374" name="Google Shape;2374;p29"/>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2375" name="Google Shape;2375;p29"/>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2376" name="Google Shape;2376;p29"/>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377" name="Google Shape;2377;p29"/>
          <p:cNvGrpSpPr/>
          <p:nvPr/>
        </p:nvGrpSpPr>
        <p:grpSpPr>
          <a:xfrm>
            <a:off x="2186010" y="2236128"/>
            <a:ext cx="394891" cy="387449"/>
            <a:chOff x="2669487" y="1048029"/>
            <a:chExt cx="792000" cy="836100"/>
          </a:xfrm>
        </p:grpSpPr>
        <p:cxnSp>
          <p:nvCxnSpPr>
            <p:cNvPr id="2378" name="Google Shape;2378;p29"/>
            <p:cNvCxnSpPr>
              <a:stCxn id="2379" idx="2"/>
              <a:endCxn id="2216" idx="7"/>
            </p:cNvCxnSpPr>
            <p:nvPr/>
          </p:nvCxnSpPr>
          <p:spPr>
            <a:xfrm>
              <a:off x="3065487" y="1336029"/>
              <a:ext cx="227700" cy="548100"/>
            </a:xfrm>
            <a:prstGeom prst="straightConnector1">
              <a:avLst/>
            </a:prstGeom>
            <a:noFill/>
            <a:ln w="5900" cap="flat" cmpd="sng">
              <a:solidFill>
                <a:srgbClr val="262626"/>
              </a:solidFill>
              <a:prstDash val="solid"/>
              <a:miter lim="800000"/>
              <a:headEnd type="none" w="sm" len="sm"/>
              <a:tailEnd type="none" w="sm" len="sm"/>
            </a:ln>
          </p:spPr>
        </p:cxnSp>
        <p:sp>
          <p:nvSpPr>
            <p:cNvPr id="2379" name="Google Shape;2379;p29"/>
            <p:cNvSpPr/>
            <p:nvPr/>
          </p:nvSpPr>
          <p:spPr>
            <a:xfrm>
              <a:off x="2669487" y="1048029"/>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Grains</a:t>
              </a:r>
              <a:endParaRPr sz="555">
                <a:solidFill>
                  <a:srgbClr val="262626"/>
                </a:solidFill>
                <a:latin typeface="Arial"/>
                <a:ea typeface="Arial"/>
                <a:cs typeface="Arial"/>
                <a:sym typeface="Arial"/>
              </a:endParaRPr>
            </a:p>
          </p:txBody>
        </p:sp>
      </p:grpSp>
      <p:cxnSp>
        <p:nvCxnSpPr>
          <p:cNvPr id="2380" name="Google Shape;2380;p29"/>
          <p:cNvCxnSpPr>
            <a:stCxn id="2379" idx="2"/>
            <a:endCxn id="2201" idx="5"/>
          </p:cNvCxnSpPr>
          <p:nvPr/>
        </p:nvCxnSpPr>
        <p:spPr>
          <a:xfrm>
            <a:off x="2383456" y="2369588"/>
            <a:ext cx="563100" cy="154800"/>
          </a:xfrm>
          <a:prstGeom prst="straightConnector1">
            <a:avLst/>
          </a:prstGeom>
          <a:noFill/>
          <a:ln w="5900" cap="flat" cmpd="sng">
            <a:solidFill>
              <a:srgbClr val="262626"/>
            </a:solidFill>
            <a:prstDash val="solid"/>
            <a:miter lim="800000"/>
            <a:headEnd type="none" w="sm" len="sm"/>
            <a:tailEnd type="none" w="sm" len="sm"/>
          </a:ln>
        </p:spPr>
      </p:cxnSp>
      <p:grpSp>
        <p:nvGrpSpPr>
          <p:cNvPr id="2381" name="Google Shape;2381;p29"/>
          <p:cNvGrpSpPr/>
          <p:nvPr/>
        </p:nvGrpSpPr>
        <p:grpSpPr>
          <a:xfrm>
            <a:off x="2668837" y="2181849"/>
            <a:ext cx="721987" cy="362981"/>
            <a:chOff x="2703097" y="980611"/>
            <a:chExt cx="792000" cy="783300"/>
          </a:xfrm>
        </p:grpSpPr>
        <p:cxnSp>
          <p:nvCxnSpPr>
            <p:cNvPr id="2382" name="Google Shape;2382;p29"/>
            <p:cNvCxnSpPr>
              <a:stCxn id="2383" idx="2"/>
              <a:endCxn id="2213" idx="7"/>
            </p:cNvCxnSpPr>
            <p:nvPr/>
          </p:nvCxnSpPr>
          <p:spPr>
            <a:xfrm flipH="1">
              <a:off x="2703097" y="1268611"/>
              <a:ext cx="396000" cy="495300"/>
            </a:xfrm>
            <a:prstGeom prst="straightConnector1">
              <a:avLst/>
            </a:prstGeom>
            <a:noFill/>
            <a:ln w="5900" cap="flat" cmpd="sng">
              <a:solidFill>
                <a:srgbClr val="262626"/>
              </a:solidFill>
              <a:prstDash val="solid"/>
              <a:miter lim="800000"/>
              <a:headEnd type="none" w="sm" len="sm"/>
              <a:tailEnd type="none" w="sm" len="sm"/>
            </a:ln>
          </p:spPr>
        </p:cxnSp>
        <p:sp>
          <p:nvSpPr>
            <p:cNvPr id="2383" name="Google Shape;2383;p29"/>
            <p:cNvSpPr/>
            <p:nvPr/>
          </p:nvSpPr>
          <p:spPr>
            <a:xfrm>
              <a:off x="2703097" y="98061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 boundary</a:t>
              </a:r>
              <a:endParaRPr sz="555">
                <a:solidFill>
                  <a:srgbClr val="262626"/>
                </a:solidFill>
                <a:latin typeface="Arial"/>
                <a:ea typeface="Arial"/>
                <a:cs typeface="Arial"/>
                <a:sym typeface="Arial"/>
              </a:endParaRPr>
            </a:p>
          </p:txBody>
        </p:sp>
      </p:grpSp>
      <p:sp>
        <p:nvSpPr>
          <p:cNvPr id="2384" name="Google Shape;2384;p29"/>
          <p:cNvSpPr/>
          <p:nvPr/>
        </p:nvSpPr>
        <p:spPr>
          <a:xfrm>
            <a:off x="2060801" y="2118775"/>
            <a:ext cx="645300" cy="377400"/>
          </a:xfrm>
          <a:prstGeom prst="ellipse">
            <a:avLst/>
          </a:prstGeom>
          <a:noFill/>
          <a:ln w="28575"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mc:AlternateContent xmlns:mc="http://schemas.openxmlformats.org/markup-compatibility/2006">
        <mc:Choice xmlns:a14="http://schemas.microsoft.com/office/drawing/2010/main" Requires="a14">
          <p:sp>
            <p:nvSpPr>
              <p:cNvPr id="2" name="CasellaDiTesto 1">
                <a:extLst>
                  <a:ext uri="{FF2B5EF4-FFF2-40B4-BE49-F238E27FC236}">
                    <a16:creationId xmlns:a16="http://schemas.microsoft.com/office/drawing/2014/main" id="{F2FA351D-D0DE-1FD0-CC7E-1ABC1D943A7C}"/>
                  </a:ext>
                </a:extLst>
              </p:cNvPr>
              <p:cNvSpPr txBox="1"/>
              <p:nvPr/>
            </p:nvSpPr>
            <p:spPr>
              <a:xfrm>
                <a:off x="421767" y="851140"/>
                <a:ext cx="8300466" cy="851002"/>
              </a:xfrm>
              <a:prstGeom prst="rect">
                <a:avLst/>
              </a:prstGeom>
              <a:noFill/>
            </p:spPr>
            <p:txBody>
              <a:bodyPr wrap="square">
                <a:spAutoFit/>
              </a:bodyPr>
              <a:lstStyle/>
              <a:p>
                <a:pPr marL="171450" lvl="0" indent="-171450">
                  <a:buClr>
                    <a:schemeClr val="dk1"/>
                  </a:buClr>
                  <a:buSzPts val="1600"/>
                  <a:buFont typeface="Arial"/>
                  <a:buChar char="-"/>
                </a:pPr>
                <a:r>
                  <a:rPr lang="en-US" sz="1600" u="sng" dirty="0">
                    <a:solidFill>
                      <a:schemeClr val="dk1"/>
                    </a:solidFill>
                  </a:rPr>
                  <a:t>Physical parameters</a:t>
                </a:r>
                <a:r>
                  <a:rPr lang="en-US" sz="1600" dirty="0">
                    <a:solidFill>
                      <a:schemeClr val="dk1"/>
                    </a:solidFill>
                  </a:rPr>
                  <a:t>: diffusivity (</a:t>
                </a:r>
                <a14:m>
                  <m:oMath xmlns:m="http://schemas.openxmlformats.org/officeDocument/2006/math">
                    <m:r>
                      <a:rPr lang="it-IT" sz="1600" b="0" i="1" smtClean="0">
                        <a:solidFill>
                          <a:schemeClr val="dk1"/>
                        </a:solidFill>
                        <a:latin typeface="Cambria Math" panose="02040503050406030204" pitchFamily="18" charset="0"/>
                      </a:rPr>
                      <m:t>𝐷</m:t>
                    </m:r>
                  </m:oMath>
                </a14:m>
                <a:r>
                  <a:rPr lang="en-US" sz="1600" dirty="0">
                    <a:solidFill>
                      <a:schemeClr val="dk1"/>
                    </a:solidFill>
                  </a:rPr>
                  <a:t>), bubble nucleation (</a:t>
                </a:r>
                <a14:m>
                  <m:oMath xmlns:m="http://schemas.openxmlformats.org/officeDocument/2006/math">
                    <m:r>
                      <a:rPr lang="it-IT" sz="1600" b="0" i="1" smtClean="0">
                        <a:solidFill>
                          <a:schemeClr val="dk1"/>
                        </a:solidFill>
                        <a:latin typeface="Cambria Math" panose="02040503050406030204" pitchFamily="18" charset="0"/>
                      </a:rPr>
                      <m:t>𝜈</m:t>
                    </m:r>
                  </m:oMath>
                </a14:m>
                <a:r>
                  <a:rPr lang="en-US" sz="1600" dirty="0">
                    <a:solidFill>
                      <a:schemeClr val="dk1"/>
                    </a:solidFill>
                  </a:rPr>
                  <a:t>), trapping (</a:t>
                </a:r>
                <a14:m>
                  <m:oMath xmlns:m="http://schemas.openxmlformats.org/officeDocument/2006/math">
                    <m:r>
                      <a:rPr lang="it-IT" sz="1600" b="0" i="1" smtClean="0">
                        <a:solidFill>
                          <a:schemeClr val="dk1"/>
                        </a:solidFill>
                        <a:latin typeface="Cambria Math" panose="02040503050406030204" pitchFamily="18" charset="0"/>
                      </a:rPr>
                      <m:t>𝑔</m:t>
                    </m:r>
                  </m:oMath>
                </a14:m>
                <a:r>
                  <a:rPr lang="en-US" sz="1600" dirty="0">
                    <a:solidFill>
                      <a:schemeClr val="dk1"/>
                    </a:solidFill>
                  </a:rPr>
                  <a:t>), re-solution (</a:t>
                </a:r>
                <a14:m>
                  <m:oMath xmlns:m="http://schemas.openxmlformats.org/officeDocument/2006/math">
                    <m:r>
                      <a:rPr lang="it-IT" sz="1600" b="0" i="1" smtClean="0">
                        <a:solidFill>
                          <a:schemeClr val="dk1"/>
                        </a:solidFill>
                        <a:latin typeface="Cambria Math" panose="02040503050406030204" pitchFamily="18" charset="0"/>
                      </a:rPr>
                      <m:t>𝑏</m:t>
                    </m:r>
                  </m:oMath>
                </a14:m>
                <a:r>
                  <a:rPr lang="en-US" sz="1600" dirty="0">
                    <a:solidFill>
                      <a:schemeClr val="dk1"/>
                    </a:solidFill>
                  </a:rPr>
                  <a:t>).</a:t>
                </a:r>
              </a:p>
              <a:p>
                <a:pPr marL="171450" lvl="0" indent="-171450">
                  <a:buClr>
                    <a:schemeClr val="dk1"/>
                  </a:buClr>
                  <a:buSzPts val="1600"/>
                  <a:buFont typeface="Arial"/>
                  <a:buChar char="-"/>
                </a:pPr>
                <a:r>
                  <a:rPr lang="en-US" sz="1600" u="sng" dirty="0">
                    <a:solidFill>
                      <a:schemeClr val="dk1"/>
                    </a:solidFill>
                  </a:rPr>
                  <a:t>Model output</a:t>
                </a:r>
                <a:r>
                  <a:rPr lang="en-US" sz="1600" dirty="0">
                    <a:solidFill>
                      <a:schemeClr val="dk1"/>
                    </a:solidFill>
                  </a:rPr>
                  <a:t>: </a:t>
                </a:r>
                <a:r>
                  <a:rPr lang="en-US" sz="1600" dirty="0"/>
                  <a:t>intra-granular gas concentration in solution </a:t>
                </a:r>
                <a14:m>
                  <m:oMath xmlns:m="http://schemas.openxmlformats.org/officeDocument/2006/math">
                    <m:r>
                      <a:rPr lang="it-IT" sz="1600" i="1">
                        <a:solidFill>
                          <a:schemeClr val="dk1"/>
                        </a:solidFill>
                        <a:latin typeface="Cambria Math" panose="02040503050406030204" pitchFamily="18" charset="0"/>
                      </a:rPr>
                      <m:t>𝑐</m:t>
                    </m:r>
                  </m:oMath>
                </a14:m>
                <a:r>
                  <a:rPr lang="en-US" sz="1600" dirty="0"/>
                  <a:t> (at m</a:t>
                </a:r>
                <a:r>
                  <a:rPr lang="en-US" sz="1600" baseline="30000" dirty="0"/>
                  <a:t>-3</a:t>
                </a:r>
                <a:r>
                  <a:rPr lang="en-US" sz="1600" dirty="0"/>
                  <a:t>), intra-granular gas concentration in bubbles </a:t>
                </a:r>
                <a14:m>
                  <m:oMath xmlns:m="http://schemas.openxmlformats.org/officeDocument/2006/math">
                    <m:r>
                      <a:rPr lang="it-IT" sz="1600" b="0" i="1" smtClean="0">
                        <a:solidFill>
                          <a:schemeClr val="dk1"/>
                        </a:solidFill>
                        <a:latin typeface="Cambria Math" panose="02040503050406030204" pitchFamily="18" charset="0"/>
                      </a:rPr>
                      <m:t>𝑚</m:t>
                    </m:r>
                  </m:oMath>
                </a14:m>
                <a:r>
                  <a:rPr lang="en-US" sz="1600" dirty="0"/>
                  <a:t> (at m</a:t>
                </a:r>
                <a:r>
                  <a:rPr lang="en-US" sz="1600" baseline="30000" dirty="0"/>
                  <a:t>-3</a:t>
                </a:r>
                <a:r>
                  <a:rPr lang="en-US" sz="1600" dirty="0"/>
                  <a:t>), intra-granular bubble density </a:t>
                </a:r>
                <a14:m>
                  <m:oMath xmlns:m="http://schemas.openxmlformats.org/officeDocument/2006/math">
                    <m:sSub>
                      <m:sSubPr>
                        <m:ctrlPr>
                          <a:rPr lang="it-IT" sz="1600" b="0" i="1" smtClean="0">
                            <a:latin typeface="Cambria Math" panose="02040503050406030204" pitchFamily="18" charset="0"/>
                          </a:rPr>
                        </m:ctrlPr>
                      </m:sSubPr>
                      <m:e>
                        <m:r>
                          <a:rPr lang="it-IT" sz="1600" b="0" i="1" smtClean="0">
                            <a:latin typeface="Cambria Math" panose="02040503050406030204" pitchFamily="18" charset="0"/>
                          </a:rPr>
                          <m:t>𝑁</m:t>
                        </m:r>
                      </m:e>
                      <m:sub>
                        <m:r>
                          <a:rPr lang="it-IT" sz="1600" b="0" i="1" smtClean="0">
                            <a:latin typeface="Cambria Math" panose="02040503050406030204" pitchFamily="18" charset="0"/>
                          </a:rPr>
                          <m:t>𝑖𝑔</m:t>
                        </m:r>
                      </m:sub>
                    </m:sSub>
                  </m:oMath>
                </a14:m>
                <a:r>
                  <a:rPr lang="en-US" sz="1600" dirty="0"/>
                  <a:t> (bub m</a:t>
                </a:r>
                <a:r>
                  <a:rPr lang="en-US" sz="1600" baseline="30000" dirty="0"/>
                  <a:t>-3</a:t>
                </a:r>
                <a:r>
                  <a:rPr lang="en-US" sz="1600" dirty="0"/>
                  <a:t>).</a:t>
                </a:r>
              </a:p>
            </p:txBody>
          </p:sp>
        </mc:Choice>
        <mc:Fallback>
          <p:sp>
            <p:nvSpPr>
              <p:cNvPr id="2" name="CasellaDiTesto 1">
                <a:extLst>
                  <a:ext uri="{FF2B5EF4-FFF2-40B4-BE49-F238E27FC236}">
                    <a16:creationId xmlns:a16="http://schemas.microsoft.com/office/drawing/2014/main" id="{F2FA351D-D0DE-1FD0-CC7E-1ABC1D943A7C}"/>
                  </a:ext>
                </a:extLst>
              </p:cNvPr>
              <p:cNvSpPr txBox="1">
                <a:spLocks noRot="1" noChangeAspect="1" noMove="1" noResize="1" noEditPoints="1" noAdjustHandles="1" noChangeArrowheads="1" noChangeShapeType="1" noTextEdit="1"/>
              </p:cNvSpPr>
              <p:nvPr/>
            </p:nvSpPr>
            <p:spPr>
              <a:xfrm>
                <a:off x="421767" y="851140"/>
                <a:ext cx="8300466" cy="851002"/>
              </a:xfrm>
              <a:prstGeom prst="rect">
                <a:avLst/>
              </a:prstGeom>
              <a:blipFill>
                <a:blip r:embed="rId11"/>
                <a:stretch>
                  <a:fillRect l="-294" t="-2158" b="-6475"/>
                </a:stretch>
              </a:blipFill>
            </p:spPr>
            <p:txBody>
              <a:bodyPr/>
              <a:lstStyle/>
              <a:p>
                <a:r>
                  <a:rPr lang="en-GB">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89"/>
        <p:cNvGrpSpPr/>
        <p:nvPr/>
      </p:nvGrpSpPr>
      <p:grpSpPr>
        <a:xfrm>
          <a:off x="0" y="0"/>
          <a:ext cx="0" cy="0"/>
          <a:chOff x="0" y="0"/>
          <a:chExt cx="0" cy="0"/>
        </a:xfrm>
      </p:grpSpPr>
      <p:sp>
        <p:nvSpPr>
          <p:cNvPr id="2390" name="Google Shape;2390;p30"/>
          <p:cNvSpPr txBox="1">
            <a:spLocks noGrp="1"/>
          </p:cNvSpPr>
          <p:nvPr>
            <p:ph type="title" idx="4294967295"/>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Simulation case: stationary irradiation conditions</a:t>
            </a:r>
            <a:endParaRPr/>
          </a:p>
        </p:txBody>
      </p:sp>
      <p:sp>
        <p:nvSpPr>
          <p:cNvPr id="2391" name="Google Shape;2391;p30"/>
          <p:cNvSpPr txBox="1"/>
          <p:nvPr/>
        </p:nvSpPr>
        <p:spPr>
          <a:xfrm>
            <a:off x="322560" y="2424280"/>
            <a:ext cx="3335100" cy="1323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GB" sz="1600">
                <a:solidFill>
                  <a:srgbClr val="000000"/>
                </a:solidFill>
                <a:latin typeface="Arial"/>
                <a:ea typeface="Arial"/>
                <a:cs typeface="Arial"/>
                <a:sym typeface="Arial"/>
              </a:rPr>
              <a:t>Constant temperature,</a:t>
            </a:r>
            <a:r>
              <a:rPr lang="en-GB" sz="1600" b="0" i="0" u="none" strike="noStrike" cap="none">
                <a:solidFill>
                  <a:srgbClr val="000000"/>
                </a:solidFill>
                <a:latin typeface="Arial"/>
                <a:ea typeface="Arial"/>
                <a:cs typeface="Arial"/>
                <a:sym typeface="Arial"/>
              </a:rPr>
              <a:t> 1373 K</a:t>
            </a:r>
            <a:endParaRPr/>
          </a:p>
          <a:p>
            <a:pPr marL="0" marR="0" lvl="0" indent="0" algn="just" rtl="0">
              <a:lnSpc>
                <a:spcPct val="100000"/>
              </a:lnSpc>
              <a:spcBef>
                <a:spcPts val="0"/>
              </a:spcBef>
              <a:spcAft>
                <a:spcPts val="0"/>
              </a:spcAft>
              <a:buClr>
                <a:srgbClr val="000000"/>
              </a:buClr>
              <a:buSzPts val="1600"/>
              <a:buFont typeface="Arial"/>
              <a:buNone/>
            </a:pPr>
            <a:r>
              <a:rPr lang="en-GB" sz="1600">
                <a:solidFill>
                  <a:srgbClr val="000000"/>
                </a:solidFill>
                <a:latin typeface="Arial"/>
                <a:ea typeface="Arial"/>
                <a:cs typeface="Arial"/>
                <a:sym typeface="Arial"/>
              </a:rPr>
              <a:t>Constant</a:t>
            </a:r>
            <a:r>
              <a:rPr lang="en-GB" sz="1600" b="0" i="0" u="none" strike="noStrike" cap="none">
                <a:solidFill>
                  <a:srgbClr val="000000"/>
                </a:solidFill>
                <a:latin typeface="Arial"/>
                <a:ea typeface="Arial"/>
                <a:cs typeface="Arial"/>
                <a:sym typeface="Arial"/>
              </a:rPr>
              <a:t> fission rate density</a:t>
            </a:r>
            <a:r>
              <a:rPr lang="en-GB" sz="1600">
                <a:solidFill>
                  <a:srgbClr val="000000"/>
                </a:solidFill>
                <a:latin typeface="Arial"/>
                <a:ea typeface="Arial"/>
                <a:cs typeface="Arial"/>
                <a:sym typeface="Arial"/>
              </a:rPr>
              <a:t>, </a:t>
            </a:r>
            <a:r>
              <a:rPr lang="en-GB" sz="1600" b="0" i="0" u="none" strike="noStrike" cap="none">
                <a:solidFill>
                  <a:srgbClr val="000000"/>
                </a:solidFill>
                <a:latin typeface="Arial"/>
                <a:ea typeface="Arial"/>
                <a:cs typeface="Arial"/>
                <a:sym typeface="Arial"/>
              </a:rPr>
              <a:t>10</a:t>
            </a:r>
            <a:r>
              <a:rPr lang="en-GB" sz="1600" b="0" i="0" u="none" strike="noStrike" cap="none" baseline="30000">
                <a:solidFill>
                  <a:srgbClr val="000000"/>
                </a:solidFill>
                <a:latin typeface="Arial"/>
                <a:ea typeface="Arial"/>
                <a:cs typeface="Arial"/>
                <a:sym typeface="Arial"/>
              </a:rPr>
              <a:t>19 </a:t>
            </a:r>
            <a:r>
              <a:rPr lang="en-GB" sz="1600" b="0" i="0" u="none" strike="noStrike" cap="none">
                <a:solidFill>
                  <a:srgbClr val="000000"/>
                </a:solidFill>
                <a:latin typeface="Arial"/>
                <a:ea typeface="Arial"/>
                <a:cs typeface="Arial"/>
                <a:sym typeface="Arial"/>
              </a:rPr>
              <a:t>fiss m</a:t>
            </a:r>
            <a:r>
              <a:rPr lang="en-GB" sz="1600" b="0" i="0" u="none" strike="noStrike" cap="none" baseline="30000">
                <a:solidFill>
                  <a:srgbClr val="000000"/>
                </a:solidFill>
                <a:latin typeface="Arial"/>
                <a:ea typeface="Arial"/>
                <a:cs typeface="Arial"/>
                <a:sym typeface="Arial"/>
              </a:rPr>
              <a:t>-3</a:t>
            </a:r>
            <a:r>
              <a:rPr lang="en-GB" sz="1600" b="0" i="0" u="none" strike="noStrike" cap="none">
                <a:solidFill>
                  <a:srgbClr val="000000"/>
                </a:solidFill>
                <a:latin typeface="Arial"/>
                <a:ea typeface="Arial"/>
                <a:cs typeface="Arial"/>
                <a:sym typeface="Arial"/>
              </a:rPr>
              <a:t> s</a:t>
            </a:r>
            <a:r>
              <a:rPr lang="en-GB" sz="1600" b="0" i="0" u="none" strike="noStrike" cap="none" baseline="30000">
                <a:solidFill>
                  <a:srgbClr val="000000"/>
                </a:solidFill>
                <a:latin typeface="Arial"/>
                <a:ea typeface="Arial"/>
                <a:cs typeface="Arial"/>
                <a:sym typeface="Arial"/>
              </a:rPr>
              <a:t>-1</a:t>
            </a:r>
            <a:endParaRPr/>
          </a:p>
          <a:p>
            <a:pPr marL="0" marR="0" lvl="0" indent="0" algn="just" rtl="0">
              <a:lnSpc>
                <a:spcPct val="100000"/>
              </a:lnSpc>
              <a:spcBef>
                <a:spcPts val="0"/>
              </a:spcBef>
              <a:spcAft>
                <a:spcPts val="0"/>
              </a:spcAft>
              <a:buClr>
                <a:srgbClr val="000000"/>
              </a:buClr>
              <a:buSzPts val="1600"/>
              <a:buFont typeface="Arial"/>
              <a:buNone/>
            </a:pPr>
            <a:r>
              <a:rPr lang="en-GB" sz="1600">
                <a:solidFill>
                  <a:srgbClr val="000000"/>
                </a:solidFill>
                <a:latin typeface="Arial"/>
                <a:ea typeface="Arial"/>
                <a:cs typeface="Arial"/>
                <a:sym typeface="Arial"/>
              </a:rPr>
              <a:t>Zero</a:t>
            </a:r>
            <a:r>
              <a:rPr lang="en-GB" sz="1600" b="0" i="0" u="none" strike="noStrike" cap="none">
                <a:solidFill>
                  <a:srgbClr val="000000"/>
                </a:solidFill>
                <a:latin typeface="Arial"/>
                <a:ea typeface="Arial"/>
                <a:cs typeface="Arial"/>
                <a:sym typeface="Arial"/>
              </a:rPr>
              <a:t> hydrostatic stress applied</a:t>
            </a:r>
            <a:endParaRPr/>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The irradiation time is 5500 hours</a:t>
            </a:r>
            <a:endParaRPr/>
          </a:p>
        </p:txBody>
      </p:sp>
      <p:pic>
        <p:nvPicPr>
          <p:cNvPr id="2392" name="Google Shape;2392;p30"/>
          <p:cNvPicPr preferRelativeResize="0"/>
          <p:nvPr/>
        </p:nvPicPr>
        <p:blipFill rotWithShape="1">
          <a:blip r:embed="rId3">
            <a:alphaModFix/>
          </a:blip>
          <a:srcRect/>
          <a:stretch/>
        </p:blipFill>
        <p:spPr>
          <a:xfrm>
            <a:off x="3597403" y="1021280"/>
            <a:ext cx="5495451" cy="3338450"/>
          </a:xfrm>
          <a:prstGeom prst="rect">
            <a:avLst/>
          </a:prstGeom>
          <a:noFill/>
          <a:ln>
            <a:noFill/>
          </a:ln>
        </p:spPr>
      </p:pic>
      <p:pic>
        <p:nvPicPr>
          <p:cNvPr id="2393" name="Google Shape;2393;p30"/>
          <p:cNvPicPr preferRelativeResize="0"/>
          <p:nvPr/>
        </p:nvPicPr>
        <p:blipFill rotWithShape="1">
          <a:blip r:embed="rId4">
            <a:alphaModFix/>
          </a:blip>
          <a:srcRect t="49345" r="9909" b="6019"/>
          <a:stretch/>
        </p:blipFill>
        <p:spPr>
          <a:xfrm>
            <a:off x="423360" y="1575706"/>
            <a:ext cx="2679069" cy="457201"/>
          </a:xfrm>
          <a:prstGeom prst="rect">
            <a:avLst/>
          </a:prstGeom>
          <a:noFill/>
          <a:ln>
            <a:noFill/>
          </a:ln>
        </p:spPr>
      </p:pic>
      <p:sp>
        <p:nvSpPr>
          <p:cNvPr id="2394" name="Google Shape;2394;p30"/>
          <p:cNvSpPr txBox="1"/>
          <p:nvPr/>
        </p:nvSpPr>
        <p:spPr>
          <a:xfrm>
            <a:off x="322560" y="1206374"/>
            <a:ext cx="32748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rgbClr val="000000"/>
                </a:solidFill>
                <a:latin typeface="Courier New"/>
                <a:ea typeface="Courier New"/>
                <a:cs typeface="Courier New"/>
                <a:sym typeface="Courier New"/>
              </a:rPr>
              <a:t>input_history.txt</a:t>
            </a:r>
            <a:endParaRPr sz="1800" b="1">
              <a:solidFill>
                <a:schemeClr val="dk1"/>
              </a:solidFill>
              <a:latin typeface="Courier New"/>
              <a:ea typeface="Courier New"/>
              <a:cs typeface="Courier New"/>
              <a:sym typeface="Courier New"/>
            </a:endParaRPr>
          </a:p>
        </p:txBody>
      </p:sp>
      <p:sp>
        <p:nvSpPr>
          <p:cNvPr id="2395" name="Google Shape;2395;p30"/>
          <p:cNvSpPr/>
          <p:nvPr/>
        </p:nvSpPr>
        <p:spPr>
          <a:xfrm>
            <a:off x="322560" y="1265464"/>
            <a:ext cx="2861400" cy="767400"/>
          </a:xfrm>
          <a:prstGeom prst="rect">
            <a:avLst/>
          </a:prstGeom>
          <a:noFill/>
          <a:ln w="25400" cap="flat" cmpd="sng">
            <a:solidFill>
              <a:srgbClr val="2136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0"/>
        <p:cNvGrpSpPr/>
        <p:nvPr/>
      </p:nvGrpSpPr>
      <p:grpSpPr>
        <a:xfrm>
          <a:off x="0" y="0"/>
          <a:ext cx="0" cy="0"/>
          <a:chOff x="0" y="0"/>
          <a:chExt cx="0" cy="0"/>
        </a:xfrm>
      </p:grpSpPr>
      <p:sp>
        <p:nvSpPr>
          <p:cNvPr id="2401" name="Google Shape;2401;p31"/>
          <p:cNvSpPr txBox="1">
            <a:spLocks noGrp="1"/>
          </p:cNvSpPr>
          <p:nvPr>
            <p:ph type="title" idx="4294967295"/>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Simulation case: stationary irradiation conditions</a:t>
            </a:r>
            <a:endParaRPr/>
          </a:p>
        </p:txBody>
      </p:sp>
      <p:pic>
        <p:nvPicPr>
          <p:cNvPr id="2402" name="Google Shape;2402;p31"/>
          <p:cNvPicPr preferRelativeResize="0"/>
          <p:nvPr/>
        </p:nvPicPr>
        <p:blipFill rotWithShape="1">
          <a:blip r:embed="rId3">
            <a:alphaModFix/>
          </a:blip>
          <a:srcRect t="11163"/>
          <a:stretch/>
        </p:blipFill>
        <p:spPr>
          <a:xfrm>
            <a:off x="4171321" y="1257993"/>
            <a:ext cx="4340608" cy="2904464"/>
          </a:xfrm>
          <a:prstGeom prst="rect">
            <a:avLst/>
          </a:prstGeom>
          <a:noFill/>
          <a:ln>
            <a:noFill/>
          </a:ln>
        </p:spPr>
      </p:pic>
      <p:sp>
        <p:nvSpPr>
          <p:cNvPr id="2403" name="Google Shape;2403;p31"/>
          <p:cNvSpPr txBox="1"/>
          <p:nvPr/>
        </p:nvSpPr>
        <p:spPr>
          <a:xfrm>
            <a:off x="2122113" y="2141299"/>
            <a:ext cx="2098200" cy="338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B050"/>
              </a:buClr>
              <a:buSzPts val="1600"/>
              <a:buFont typeface="Arial"/>
              <a:buNone/>
            </a:pPr>
            <a:r>
              <a:rPr lang="en-GB" sz="1600" b="0" i="0" u="none" strike="noStrike" cap="none">
                <a:solidFill>
                  <a:srgbClr val="00B050"/>
                </a:solidFill>
                <a:latin typeface="Arial"/>
                <a:ea typeface="Arial"/>
                <a:cs typeface="Arial"/>
                <a:sym typeface="Arial"/>
              </a:rPr>
              <a:t>Grain radius = 5 µm</a:t>
            </a:r>
            <a:endParaRPr/>
          </a:p>
        </p:txBody>
      </p:sp>
      <p:sp>
        <p:nvSpPr>
          <p:cNvPr id="2404" name="Google Shape;2404;p31"/>
          <p:cNvSpPr/>
          <p:nvPr/>
        </p:nvSpPr>
        <p:spPr>
          <a:xfrm>
            <a:off x="4171321" y="1257993"/>
            <a:ext cx="2091000" cy="332400"/>
          </a:xfrm>
          <a:prstGeom prst="rect">
            <a:avLst/>
          </a:prstGeom>
          <a:noFill/>
          <a:ln w="25400" cap="flat" cmpd="sng">
            <a:solidFill>
              <a:srgbClr val="00B05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405" name="Google Shape;2405;p31"/>
          <p:cNvSpPr txBox="1"/>
          <p:nvPr/>
        </p:nvSpPr>
        <p:spPr>
          <a:xfrm>
            <a:off x="407219" y="1257993"/>
            <a:ext cx="298538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600"/>
              <a:buFont typeface="Arial"/>
              <a:buNone/>
            </a:pPr>
            <a:r>
              <a:rPr lang="en-GB" sz="1600" b="0" i="0" u="none" strike="noStrike" cap="none">
                <a:solidFill>
                  <a:srgbClr val="00B0F0"/>
                </a:solidFill>
                <a:latin typeface="Arial"/>
                <a:ea typeface="Arial"/>
                <a:cs typeface="Arial"/>
                <a:sym typeface="Arial"/>
              </a:rPr>
              <a:t>Fresh, unirradiated UO</a:t>
            </a:r>
            <a:r>
              <a:rPr lang="en-GB" sz="1600" b="0" i="0" u="none" strike="noStrike" cap="none" baseline="-25000">
                <a:solidFill>
                  <a:srgbClr val="00B0F0"/>
                </a:solidFill>
                <a:latin typeface="Arial"/>
                <a:ea typeface="Arial"/>
                <a:cs typeface="Arial"/>
                <a:sym typeface="Arial"/>
              </a:rPr>
              <a:t>2</a:t>
            </a:r>
            <a:r>
              <a:rPr lang="en-GB" sz="1600" b="0" i="0" u="none" strike="noStrike" cap="none">
                <a:solidFill>
                  <a:srgbClr val="00B0F0"/>
                </a:solidFill>
                <a:latin typeface="Arial"/>
                <a:ea typeface="Arial"/>
                <a:cs typeface="Arial"/>
                <a:sym typeface="Arial"/>
              </a:rPr>
              <a:t>, 3%at.-enriched</a:t>
            </a:r>
            <a:endParaRPr/>
          </a:p>
        </p:txBody>
      </p:sp>
      <p:sp>
        <p:nvSpPr>
          <p:cNvPr id="2406" name="Google Shape;2406;p31"/>
          <p:cNvSpPr/>
          <p:nvPr/>
        </p:nvSpPr>
        <p:spPr>
          <a:xfrm>
            <a:off x="4174091" y="1543395"/>
            <a:ext cx="4509900" cy="2619000"/>
          </a:xfrm>
          <a:prstGeom prst="rect">
            <a:avLst/>
          </a:prstGeom>
          <a:noFill/>
          <a:ln w="25400" cap="flat" cmpd="sng">
            <a:solidFill>
              <a:srgbClr val="00B0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407" name="Google Shape;2407;p31"/>
          <p:cNvSpPr txBox="1"/>
          <p:nvPr/>
        </p:nvSpPr>
        <p:spPr>
          <a:xfrm>
            <a:off x="4110789" y="846954"/>
            <a:ext cx="44011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rgbClr val="000000"/>
                </a:solidFill>
                <a:latin typeface="Courier New"/>
                <a:ea typeface="Courier New"/>
                <a:cs typeface="Courier New"/>
                <a:sym typeface="Courier New"/>
              </a:rPr>
              <a:t>input_initial_conditions.txt</a:t>
            </a:r>
            <a:endParaRPr sz="1800" b="1">
              <a:solidFill>
                <a:schemeClr val="dk1"/>
              </a:solidFill>
              <a:latin typeface="Courier New"/>
              <a:ea typeface="Courier New"/>
              <a:cs typeface="Courier New"/>
              <a:sym typeface="Courier New"/>
            </a:endParaRPr>
          </a:p>
        </p:txBody>
      </p:sp>
      <p:sp>
        <p:nvSpPr>
          <p:cNvPr id="2408" name="Google Shape;2408;p31"/>
          <p:cNvSpPr/>
          <p:nvPr/>
        </p:nvSpPr>
        <p:spPr>
          <a:xfrm>
            <a:off x="4110789" y="838701"/>
            <a:ext cx="4731000" cy="3464100"/>
          </a:xfrm>
          <a:prstGeom prst="rect">
            <a:avLst/>
          </a:prstGeom>
          <a:noFill/>
          <a:ln w="25400" cap="flat" cmpd="sng">
            <a:solidFill>
              <a:srgbClr val="2136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409" name="Google Shape;2409;p31"/>
          <p:cNvPicPr preferRelativeResize="0"/>
          <p:nvPr/>
        </p:nvPicPr>
        <p:blipFill rotWithShape="1">
          <a:blip r:embed="rId4">
            <a:alphaModFix/>
          </a:blip>
          <a:srcRect/>
          <a:stretch/>
        </p:blipFill>
        <p:spPr>
          <a:xfrm>
            <a:off x="1469013" y="3118411"/>
            <a:ext cx="66946" cy="66946"/>
          </a:xfrm>
          <a:prstGeom prst="rect">
            <a:avLst/>
          </a:prstGeom>
          <a:noFill/>
          <a:ln>
            <a:noFill/>
          </a:ln>
        </p:spPr>
      </p:pic>
      <p:pic>
        <p:nvPicPr>
          <p:cNvPr id="2410" name="Google Shape;2410;p31"/>
          <p:cNvPicPr preferRelativeResize="0"/>
          <p:nvPr/>
        </p:nvPicPr>
        <p:blipFill rotWithShape="1">
          <a:blip r:embed="rId4">
            <a:alphaModFix/>
          </a:blip>
          <a:srcRect/>
          <a:stretch/>
        </p:blipFill>
        <p:spPr>
          <a:xfrm>
            <a:off x="1552840" y="2833444"/>
            <a:ext cx="66946" cy="66946"/>
          </a:xfrm>
          <a:prstGeom prst="rect">
            <a:avLst/>
          </a:prstGeom>
          <a:noFill/>
          <a:ln>
            <a:noFill/>
          </a:ln>
        </p:spPr>
      </p:pic>
      <p:pic>
        <p:nvPicPr>
          <p:cNvPr id="2411" name="Google Shape;2411;p31"/>
          <p:cNvPicPr preferRelativeResize="0"/>
          <p:nvPr/>
        </p:nvPicPr>
        <p:blipFill rotWithShape="1">
          <a:blip r:embed="rId4">
            <a:alphaModFix/>
          </a:blip>
          <a:srcRect/>
          <a:stretch/>
        </p:blipFill>
        <p:spPr>
          <a:xfrm>
            <a:off x="1419934" y="2426249"/>
            <a:ext cx="66946" cy="66946"/>
          </a:xfrm>
          <a:prstGeom prst="rect">
            <a:avLst/>
          </a:prstGeom>
          <a:noFill/>
          <a:ln>
            <a:noFill/>
          </a:ln>
        </p:spPr>
      </p:pic>
      <p:pic>
        <p:nvPicPr>
          <p:cNvPr id="2412" name="Google Shape;2412;p31"/>
          <p:cNvPicPr preferRelativeResize="0"/>
          <p:nvPr/>
        </p:nvPicPr>
        <p:blipFill rotWithShape="1">
          <a:blip r:embed="rId4">
            <a:alphaModFix/>
          </a:blip>
          <a:srcRect/>
          <a:stretch/>
        </p:blipFill>
        <p:spPr>
          <a:xfrm>
            <a:off x="1073150" y="2653861"/>
            <a:ext cx="66946" cy="66946"/>
          </a:xfrm>
          <a:prstGeom prst="rect">
            <a:avLst/>
          </a:prstGeom>
          <a:noFill/>
          <a:ln>
            <a:noFill/>
          </a:ln>
        </p:spPr>
      </p:pic>
      <p:pic>
        <p:nvPicPr>
          <p:cNvPr id="2413" name="Google Shape;2413;p31"/>
          <p:cNvPicPr preferRelativeResize="0"/>
          <p:nvPr/>
        </p:nvPicPr>
        <p:blipFill rotWithShape="1">
          <a:blip r:embed="rId4">
            <a:alphaModFix/>
          </a:blip>
          <a:srcRect/>
          <a:stretch/>
        </p:blipFill>
        <p:spPr>
          <a:xfrm>
            <a:off x="1560506" y="2259283"/>
            <a:ext cx="66946" cy="66946"/>
          </a:xfrm>
          <a:prstGeom prst="rect">
            <a:avLst/>
          </a:prstGeom>
          <a:noFill/>
          <a:ln>
            <a:noFill/>
          </a:ln>
        </p:spPr>
      </p:pic>
      <p:pic>
        <p:nvPicPr>
          <p:cNvPr id="2414" name="Google Shape;2414;p31"/>
          <p:cNvPicPr preferRelativeResize="0"/>
          <p:nvPr/>
        </p:nvPicPr>
        <p:blipFill rotWithShape="1">
          <a:blip r:embed="rId4">
            <a:alphaModFix/>
          </a:blip>
          <a:srcRect/>
          <a:stretch/>
        </p:blipFill>
        <p:spPr>
          <a:xfrm>
            <a:off x="2015909" y="2662711"/>
            <a:ext cx="66946" cy="66946"/>
          </a:xfrm>
          <a:prstGeom prst="rect">
            <a:avLst/>
          </a:prstGeom>
          <a:noFill/>
          <a:ln>
            <a:noFill/>
          </a:ln>
        </p:spPr>
      </p:pic>
      <p:pic>
        <p:nvPicPr>
          <p:cNvPr id="2415" name="Google Shape;2415;p31"/>
          <p:cNvPicPr preferRelativeResize="0"/>
          <p:nvPr/>
        </p:nvPicPr>
        <p:blipFill rotWithShape="1">
          <a:blip r:embed="rId4">
            <a:alphaModFix/>
          </a:blip>
          <a:srcRect/>
          <a:stretch/>
        </p:blipFill>
        <p:spPr>
          <a:xfrm>
            <a:off x="1770821" y="3211391"/>
            <a:ext cx="66946" cy="66946"/>
          </a:xfrm>
          <a:prstGeom prst="rect">
            <a:avLst/>
          </a:prstGeom>
          <a:noFill/>
          <a:ln>
            <a:noFill/>
          </a:ln>
        </p:spPr>
      </p:pic>
      <p:sp>
        <p:nvSpPr>
          <p:cNvPr id="2416" name="Google Shape;2416;p31"/>
          <p:cNvSpPr/>
          <p:nvPr/>
        </p:nvSpPr>
        <p:spPr>
          <a:xfrm>
            <a:off x="882756" y="2143052"/>
            <a:ext cx="1343100" cy="13431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17" name="Google Shape;2417;p31"/>
          <p:cNvSpPr/>
          <p:nvPr/>
        </p:nvSpPr>
        <p:spPr>
          <a:xfrm>
            <a:off x="1193800" y="2465515"/>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18" name="Google Shape;2418;p31"/>
          <p:cNvSpPr/>
          <p:nvPr/>
        </p:nvSpPr>
        <p:spPr>
          <a:xfrm>
            <a:off x="1764752" y="2459725"/>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19" name="Google Shape;2419;p31"/>
          <p:cNvSpPr/>
          <p:nvPr/>
        </p:nvSpPr>
        <p:spPr>
          <a:xfrm>
            <a:off x="1341017" y="2597798"/>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0" name="Google Shape;2420;p31"/>
          <p:cNvSpPr/>
          <p:nvPr/>
        </p:nvSpPr>
        <p:spPr>
          <a:xfrm>
            <a:off x="1637685" y="2778882"/>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1" name="Google Shape;2421;p31"/>
          <p:cNvSpPr/>
          <p:nvPr/>
        </p:nvSpPr>
        <p:spPr>
          <a:xfrm>
            <a:off x="1170485" y="2903701"/>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22" name="Google Shape;2422;p31"/>
          <p:cNvSpPr/>
          <p:nvPr/>
        </p:nvSpPr>
        <p:spPr>
          <a:xfrm>
            <a:off x="1570644" y="3211391"/>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3" name="Google Shape;2423;p31"/>
          <p:cNvSpPr/>
          <p:nvPr/>
        </p:nvSpPr>
        <p:spPr>
          <a:xfrm>
            <a:off x="1524229" y="229823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4" name="Google Shape;2424;p31"/>
          <p:cNvSpPr/>
          <p:nvPr/>
        </p:nvSpPr>
        <p:spPr>
          <a:xfrm>
            <a:off x="1405339" y="235138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5" name="Google Shape;2425;p31"/>
          <p:cNvSpPr/>
          <p:nvPr/>
        </p:nvSpPr>
        <p:spPr>
          <a:xfrm>
            <a:off x="1544783" y="244477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6" name="Google Shape;2426;p31"/>
          <p:cNvSpPr/>
          <p:nvPr/>
        </p:nvSpPr>
        <p:spPr>
          <a:xfrm>
            <a:off x="1384785" y="247883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7" name="Google Shape;2427;p31"/>
          <p:cNvSpPr/>
          <p:nvPr/>
        </p:nvSpPr>
        <p:spPr>
          <a:xfrm>
            <a:off x="1550133" y="25844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8" name="Google Shape;2428;p31"/>
          <p:cNvSpPr/>
          <p:nvPr/>
        </p:nvSpPr>
        <p:spPr>
          <a:xfrm>
            <a:off x="1571833" y="26702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29" name="Google Shape;2429;p31"/>
          <p:cNvSpPr/>
          <p:nvPr/>
        </p:nvSpPr>
        <p:spPr>
          <a:xfrm>
            <a:off x="1678741" y="26817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30" name="Google Shape;2430;p31"/>
          <p:cNvSpPr/>
          <p:nvPr/>
        </p:nvSpPr>
        <p:spPr>
          <a:xfrm>
            <a:off x="1711138" y="247004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31" name="Google Shape;2431;p31"/>
          <p:cNvSpPr/>
          <p:nvPr/>
        </p:nvSpPr>
        <p:spPr>
          <a:xfrm>
            <a:off x="1364231" y="23132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32" name="Google Shape;2432;p31"/>
          <p:cNvSpPr/>
          <p:nvPr/>
        </p:nvSpPr>
        <p:spPr>
          <a:xfrm>
            <a:off x="1204233" y="23132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33" name="Google Shape;2433;p31"/>
          <p:cNvSpPr/>
          <p:nvPr/>
        </p:nvSpPr>
        <p:spPr>
          <a:xfrm>
            <a:off x="1144789" y="23892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34" name="Google Shape;2434;p31"/>
          <p:cNvSpPr/>
          <p:nvPr/>
        </p:nvSpPr>
        <p:spPr>
          <a:xfrm>
            <a:off x="1343999" y="25638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35" name="Google Shape;2435;p31"/>
          <p:cNvSpPr/>
          <p:nvPr/>
        </p:nvSpPr>
        <p:spPr>
          <a:xfrm>
            <a:off x="1226746" y="259644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36" name="Google Shape;2436;p31"/>
          <p:cNvSpPr/>
          <p:nvPr/>
        </p:nvSpPr>
        <p:spPr>
          <a:xfrm>
            <a:off x="1242118" y="272656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37" name="Google Shape;2437;p31"/>
          <p:cNvSpPr/>
          <p:nvPr/>
        </p:nvSpPr>
        <p:spPr>
          <a:xfrm>
            <a:off x="1425894" y="28366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38" name="Google Shape;2438;p31"/>
          <p:cNvSpPr/>
          <p:nvPr/>
        </p:nvSpPr>
        <p:spPr>
          <a:xfrm>
            <a:off x="1347875" y="29508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39" name="Google Shape;2439;p31"/>
          <p:cNvSpPr/>
          <p:nvPr/>
        </p:nvSpPr>
        <p:spPr>
          <a:xfrm>
            <a:off x="1503675" y="300683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0" name="Google Shape;2440;p31"/>
          <p:cNvSpPr/>
          <p:nvPr/>
        </p:nvSpPr>
        <p:spPr>
          <a:xfrm>
            <a:off x="2114012" y="26319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1" name="Google Shape;2441;p31"/>
          <p:cNvSpPr/>
          <p:nvPr/>
        </p:nvSpPr>
        <p:spPr>
          <a:xfrm>
            <a:off x="1995123" y="26851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2" name="Google Shape;2442;p31"/>
          <p:cNvSpPr/>
          <p:nvPr/>
        </p:nvSpPr>
        <p:spPr>
          <a:xfrm>
            <a:off x="2134567" y="277852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3" name="Google Shape;2443;p31"/>
          <p:cNvSpPr/>
          <p:nvPr/>
        </p:nvSpPr>
        <p:spPr>
          <a:xfrm>
            <a:off x="1974569" y="28125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4" name="Google Shape;2444;p31"/>
          <p:cNvSpPr/>
          <p:nvPr/>
        </p:nvSpPr>
        <p:spPr>
          <a:xfrm>
            <a:off x="2139916" y="29181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5" name="Google Shape;2445;p31"/>
          <p:cNvSpPr/>
          <p:nvPr/>
        </p:nvSpPr>
        <p:spPr>
          <a:xfrm>
            <a:off x="2111019" y="30289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6" name="Google Shape;2446;p31"/>
          <p:cNvSpPr/>
          <p:nvPr/>
        </p:nvSpPr>
        <p:spPr>
          <a:xfrm>
            <a:off x="1954015" y="26469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7" name="Google Shape;2447;p31"/>
          <p:cNvSpPr/>
          <p:nvPr/>
        </p:nvSpPr>
        <p:spPr>
          <a:xfrm>
            <a:off x="1794017" y="26469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8" name="Google Shape;2448;p31"/>
          <p:cNvSpPr/>
          <p:nvPr/>
        </p:nvSpPr>
        <p:spPr>
          <a:xfrm>
            <a:off x="1734572" y="27229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49" name="Google Shape;2449;p31"/>
          <p:cNvSpPr/>
          <p:nvPr/>
        </p:nvSpPr>
        <p:spPr>
          <a:xfrm>
            <a:off x="2037387" y="297234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0" name="Google Shape;2450;p31"/>
          <p:cNvSpPr/>
          <p:nvPr/>
        </p:nvSpPr>
        <p:spPr>
          <a:xfrm>
            <a:off x="1816529" y="293019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1" name="Google Shape;2451;p31"/>
          <p:cNvSpPr/>
          <p:nvPr/>
        </p:nvSpPr>
        <p:spPr>
          <a:xfrm>
            <a:off x="1831901" y="306032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2" name="Google Shape;2452;p31"/>
          <p:cNvSpPr/>
          <p:nvPr/>
        </p:nvSpPr>
        <p:spPr>
          <a:xfrm>
            <a:off x="2015677" y="31703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3" name="Google Shape;2453;p31"/>
          <p:cNvSpPr/>
          <p:nvPr/>
        </p:nvSpPr>
        <p:spPr>
          <a:xfrm>
            <a:off x="1937659" y="3284630"/>
            <a:ext cx="20400" cy="20400"/>
          </a:xfrm>
          <a:prstGeom prst="ellipse">
            <a:avLst/>
          </a:prstGeom>
          <a:solidFill>
            <a:srgbClr val="80FF80"/>
          </a:solidFill>
          <a:ln w="4550" cap="flat" cmpd="sng">
            <a:solidFill>
              <a:srgbClr val="000000"/>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4" name="Google Shape;2454;p31"/>
          <p:cNvSpPr/>
          <p:nvPr/>
        </p:nvSpPr>
        <p:spPr>
          <a:xfrm>
            <a:off x="1330546" y="306074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5" name="Google Shape;2455;p31"/>
          <p:cNvSpPr/>
          <p:nvPr/>
        </p:nvSpPr>
        <p:spPr>
          <a:xfrm>
            <a:off x="1081381" y="30905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56" name="Google Shape;2456;p31"/>
          <p:cNvSpPr/>
          <p:nvPr/>
        </p:nvSpPr>
        <p:spPr>
          <a:xfrm>
            <a:off x="1335895" y="320037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7" name="Google Shape;2457;p31"/>
          <p:cNvSpPr/>
          <p:nvPr/>
        </p:nvSpPr>
        <p:spPr>
          <a:xfrm>
            <a:off x="1357595" y="328626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8" name="Google Shape;2458;p31"/>
          <p:cNvSpPr/>
          <p:nvPr/>
        </p:nvSpPr>
        <p:spPr>
          <a:xfrm>
            <a:off x="1464503" y="329769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59" name="Google Shape;2459;p31"/>
          <p:cNvSpPr/>
          <p:nvPr/>
        </p:nvSpPr>
        <p:spPr>
          <a:xfrm>
            <a:off x="1496901" y="30860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60" name="Google Shape;2460;p31"/>
          <p:cNvSpPr/>
          <p:nvPr/>
        </p:nvSpPr>
        <p:spPr>
          <a:xfrm>
            <a:off x="1051922" y="273507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61" name="Google Shape;2461;p31"/>
          <p:cNvSpPr/>
          <p:nvPr/>
        </p:nvSpPr>
        <p:spPr>
          <a:xfrm>
            <a:off x="1052102" y="292644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62" name="Google Shape;2462;p31"/>
          <p:cNvSpPr/>
          <p:nvPr/>
        </p:nvSpPr>
        <p:spPr>
          <a:xfrm>
            <a:off x="1129762" y="317982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63" name="Google Shape;2463;p31"/>
          <p:cNvSpPr/>
          <p:nvPr/>
        </p:nvSpPr>
        <p:spPr>
          <a:xfrm>
            <a:off x="1637685" y="30886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64" name="Google Shape;2464;p31"/>
          <p:cNvSpPr/>
          <p:nvPr/>
        </p:nvSpPr>
        <p:spPr>
          <a:xfrm>
            <a:off x="1627408" y="34246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65" name="Google Shape;2465;p31"/>
          <p:cNvSpPr/>
          <p:nvPr/>
        </p:nvSpPr>
        <p:spPr>
          <a:xfrm>
            <a:off x="1461443" y="339239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66" name="Google Shape;2466;p31"/>
          <p:cNvSpPr/>
          <p:nvPr/>
        </p:nvSpPr>
        <p:spPr>
          <a:xfrm>
            <a:off x="1286807" y="25894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67" name="Google Shape;2467;p31"/>
          <p:cNvSpPr/>
          <p:nvPr/>
        </p:nvSpPr>
        <p:spPr>
          <a:xfrm>
            <a:off x="1167917" y="264255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68" name="Google Shape;2468;p31"/>
          <p:cNvSpPr/>
          <p:nvPr/>
        </p:nvSpPr>
        <p:spPr>
          <a:xfrm>
            <a:off x="1307361" y="273594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69" name="Google Shape;2469;p31"/>
          <p:cNvSpPr/>
          <p:nvPr/>
        </p:nvSpPr>
        <p:spPr>
          <a:xfrm>
            <a:off x="1147363" y="277000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70" name="Google Shape;2470;p31"/>
          <p:cNvSpPr/>
          <p:nvPr/>
        </p:nvSpPr>
        <p:spPr>
          <a:xfrm>
            <a:off x="1312710" y="287557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71" name="Google Shape;2471;p31"/>
          <p:cNvSpPr/>
          <p:nvPr/>
        </p:nvSpPr>
        <p:spPr>
          <a:xfrm>
            <a:off x="1441318" y="29728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72" name="Google Shape;2472;p31"/>
          <p:cNvSpPr/>
          <p:nvPr/>
        </p:nvSpPr>
        <p:spPr>
          <a:xfrm>
            <a:off x="1473716" y="276121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73" name="Google Shape;2473;p31"/>
          <p:cNvSpPr/>
          <p:nvPr/>
        </p:nvSpPr>
        <p:spPr>
          <a:xfrm>
            <a:off x="1126809" y="26043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74" name="Google Shape;2474;p31"/>
          <p:cNvSpPr/>
          <p:nvPr/>
        </p:nvSpPr>
        <p:spPr>
          <a:xfrm>
            <a:off x="966811" y="26043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75" name="Google Shape;2475;p31"/>
          <p:cNvSpPr/>
          <p:nvPr/>
        </p:nvSpPr>
        <p:spPr>
          <a:xfrm>
            <a:off x="945581" y="26846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76" name="Google Shape;2476;p31"/>
          <p:cNvSpPr/>
          <p:nvPr/>
        </p:nvSpPr>
        <p:spPr>
          <a:xfrm>
            <a:off x="1106577" y="28550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77" name="Google Shape;2477;p31"/>
          <p:cNvSpPr/>
          <p:nvPr/>
        </p:nvSpPr>
        <p:spPr>
          <a:xfrm>
            <a:off x="1004696" y="301773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78" name="Google Shape;2478;p31"/>
          <p:cNvSpPr/>
          <p:nvPr/>
        </p:nvSpPr>
        <p:spPr>
          <a:xfrm>
            <a:off x="1188471" y="312780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79" name="Google Shape;2479;p31"/>
          <p:cNvSpPr/>
          <p:nvPr/>
        </p:nvSpPr>
        <p:spPr>
          <a:xfrm>
            <a:off x="1266253" y="329800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80" name="Google Shape;2480;p31"/>
          <p:cNvSpPr/>
          <p:nvPr/>
        </p:nvSpPr>
        <p:spPr>
          <a:xfrm>
            <a:off x="1817444" y="224159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1" name="Google Shape;2481;p31"/>
          <p:cNvSpPr/>
          <p:nvPr/>
        </p:nvSpPr>
        <p:spPr>
          <a:xfrm>
            <a:off x="1956888" y="233498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2" name="Google Shape;2482;p31"/>
          <p:cNvSpPr/>
          <p:nvPr/>
        </p:nvSpPr>
        <p:spPr>
          <a:xfrm>
            <a:off x="1962238" y="247461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3" name="Google Shape;2483;p31"/>
          <p:cNvSpPr/>
          <p:nvPr/>
        </p:nvSpPr>
        <p:spPr>
          <a:xfrm>
            <a:off x="1983938" y="256050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4" name="Google Shape;2484;p31"/>
          <p:cNvSpPr/>
          <p:nvPr/>
        </p:nvSpPr>
        <p:spPr>
          <a:xfrm>
            <a:off x="2090846" y="257193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5" name="Google Shape;2485;p31"/>
          <p:cNvSpPr/>
          <p:nvPr/>
        </p:nvSpPr>
        <p:spPr>
          <a:xfrm>
            <a:off x="1682059" y="234065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6" name="Google Shape;2486;p31"/>
          <p:cNvSpPr/>
          <p:nvPr/>
        </p:nvSpPr>
        <p:spPr>
          <a:xfrm>
            <a:off x="1638851" y="24866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7" name="Google Shape;2487;p31"/>
          <p:cNvSpPr/>
          <p:nvPr/>
        </p:nvSpPr>
        <p:spPr>
          <a:xfrm>
            <a:off x="1654223" y="261678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8" name="Google Shape;2488;p31"/>
          <p:cNvSpPr/>
          <p:nvPr/>
        </p:nvSpPr>
        <p:spPr>
          <a:xfrm>
            <a:off x="1837999" y="272685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89" name="Google Shape;2489;p31"/>
          <p:cNvSpPr/>
          <p:nvPr/>
        </p:nvSpPr>
        <p:spPr>
          <a:xfrm>
            <a:off x="1915780" y="28970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90" name="Google Shape;2490;p31"/>
          <p:cNvSpPr/>
          <p:nvPr/>
        </p:nvSpPr>
        <p:spPr>
          <a:xfrm>
            <a:off x="1419935" y="2213382"/>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Play"/>
              <a:ea typeface="Play"/>
              <a:cs typeface="Play"/>
              <a:sym typeface="Play"/>
            </a:endParaRPr>
          </a:p>
        </p:txBody>
      </p:sp>
      <p:sp>
        <p:nvSpPr>
          <p:cNvPr id="2491" name="Google Shape;2491;p31"/>
          <p:cNvSpPr/>
          <p:nvPr/>
        </p:nvSpPr>
        <p:spPr>
          <a:xfrm rot="2620925">
            <a:off x="966699" y="3268292"/>
            <a:ext cx="276693" cy="85086"/>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sp>
        <p:nvSpPr>
          <p:cNvPr id="2492" name="Google Shape;2492;p31"/>
          <p:cNvSpPr/>
          <p:nvPr/>
        </p:nvSpPr>
        <p:spPr>
          <a:xfrm rot="4237320">
            <a:off x="790307" y="2991091"/>
            <a:ext cx="276674" cy="84919"/>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Play"/>
              <a:ea typeface="Play"/>
              <a:cs typeface="Play"/>
              <a:sym typeface="Play"/>
            </a:endParaRPr>
          </a:p>
        </p:txBody>
      </p:sp>
      <p:pic>
        <p:nvPicPr>
          <p:cNvPr id="2493" name="Google Shape;2493;p31"/>
          <p:cNvPicPr preferRelativeResize="0"/>
          <p:nvPr/>
        </p:nvPicPr>
        <p:blipFill rotWithShape="1">
          <a:blip r:embed="rId4">
            <a:alphaModFix/>
          </a:blip>
          <a:srcRect/>
          <a:stretch/>
        </p:blipFill>
        <p:spPr>
          <a:xfrm>
            <a:off x="1665821" y="3111114"/>
            <a:ext cx="66946" cy="66946"/>
          </a:xfrm>
          <a:prstGeom prst="rect">
            <a:avLst/>
          </a:prstGeom>
          <a:noFill/>
          <a:ln>
            <a:noFill/>
          </a:ln>
        </p:spPr>
      </p:pic>
      <p:cxnSp>
        <p:nvCxnSpPr>
          <p:cNvPr id="2494" name="Google Shape;2494;p31"/>
          <p:cNvCxnSpPr/>
          <p:nvPr/>
        </p:nvCxnSpPr>
        <p:spPr>
          <a:xfrm rot="10800000" flipH="1">
            <a:off x="1550800" y="2574750"/>
            <a:ext cx="630900" cy="226200"/>
          </a:xfrm>
          <a:prstGeom prst="straightConnector1">
            <a:avLst/>
          </a:prstGeom>
          <a:noFill/>
          <a:ln w="38100" cap="flat" cmpd="sng">
            <a:solidFill>
              <a:srgbClr val="00B050"/>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03"/>
                                        </p:tgtEl>
                                        <p:attrNameLst>
                                          <p:attrName>style.visibility</p:attrName>
                                        </p:attrNameLst>
                                      </p:cBhvr>
                                      <p:to>
                                        <p:strVal val="visible"/>
                                      </p:to>
                                    </p:set>
                                    <p:animEffect transition="in" filter="fade">
                                      <p:cBhvr>
                                        <p:cTn id="7" dur="500"/>
                                        <p:tgtEl>
                                          <p:spTgt spid="2403"/>
                                        </p:tgtEl>
                                      </p:cBhvr>
                                    </p:animEffect>
                                  </p:childTnLst>
                                </p:cTn>
                              </p:par>
                              <p:par>
                                <p:cTn id="8" presetID="10" presetClass="entr" presetSubtype="0" fill="hold" nodeType="withEffect">
                                  <p:stCondLst>
                                    <p:cond delay="0"/>
                                  </p:stCondLst>
                                  <p:childTnLst>
                                    <p:set>
                                      <p:cBhvr>
                                        <p:cTn id="9" dur="1" fill="hold">
                                          <p:stCondLst>
                                            <p:cond delay="0"/>
                                          </p:stCondLst>
                                        </p:cTn>
                                        <p:tgtEl>
                                          <p:spTgt spid="2404"/>
                                        </p:tgtEl>
                                        <p:attrNameLst>
                                          <p:attrName>style.visibility</p:attrName>
                                        </p:attrNameLst>
                                      </p:cBhvr>
                                      <p:to>
                                        <p:strVal val="visible"/>
                                      </p:to>
                                    </p:set>
                                    <p:animEffect transition="in" filter="fade">
                                      <p:cBhvr>
                                        <p:cTn id="10" dur="500"/>
                                        <p:tgtEl>
                                          <p:spTgt spid="2404"/>
                                        </p:tgtEl>
                                      </p:cBhvr>
                                    </p:animEffect>
                                  </p:childTnLst>
                                </p:cTn>
                              </p:par>
                              <p:par>
                                <p:cTn id="11" presetID="10" presetClass="exit" presetSubtype="0" fill="hold" nodeType="withEffect">
                                  <p:stCondLst>
                                    <p:cond delay="0"/>
                                  </p:stCondLst>
                                  <p:childTnLst>
                                    <p:animEffect transition="out" filter="fade">
                                      <p:cBhvr>
                                        <p:cTn id="12" dur="500"/>
                                        <p:tgtEl>
                                          <p:spTgt spid="2403"/>
                                        </p:tgtEl>
                                      </p:cBhvr>
                                    </p:animEffect>
                                    <p:set>
                                      <p:cBhvr>
                                        <p:cTn id="13" dur="1" fill="hold">
                                          <p:stCondLst>
                                            <p:cond delay="500"/>
                                          </p:stCondLst>
                                        </p:cTn>
                                        <p:tgtEl>
                                          <p:spTgt spid="2403"/>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404"/>
                                        </p:tgtEl>
                                      </p:cBhvr>
                                    </p:animEffect>
                                    <p:set>
                                      <p:cBhvr>
                                        <p:cTn id="16" dur="1" fill="hold">
                                          <p:stCondLst>
                                            <p:cond delay="500"/>
                                          </p:stCondLst>
                                        </p:cTn>
                                        <p:tgtEl>
                                          <p:spTgt spid="240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05"/>
                                        </p:tgtEl>
                                        <p:attrNameLst>
                                          <p:attrName>style.visibility</p:attrName>
                                        </p:attrNameLst>
                                      </p:cBhvr>
                                      <p:to>
                                        <p:strVal val="visible"/>
                                      </p:to>
                                    </p:set>
                                    <p:animEffect transition="in" filter="fade">
                                      <p:cBhvr>
                                        <p:cTn id="21" dur="500"/>
                                        <p:tgtEl>
                                          <p:spTgt spid="2405"/>
                                        </p:tgtEl>
                                      </p:cBhvr>
                                    </p:animEffect>
                                  </p:childTnLst>
                                </p:cTn>
                              </p:par>
                              <p:par>
                                <p:cTn id="22" presetID="10" presetClass="entr" presetSubtype="0" fill="hold" nodeType="withEffect">
                                  <p:stCondLst>
                                    <p:cond delay="0"/>
                                  </p:stCondLst>
                                  <p:childTnLst>
                                    <p:set>
                                      <p:cBhvr>
                                        <p:cTn id="23" dur="1" fill="hold">
                                          <p:stCondLst>
                                            <p:cond delay="0"/>
                                          </p:stCondLst>
                                        </p:cTn>
                                        <p:tgtEl>
                                          <p:spTgt spid="2406"/>
                                        </p:tgtEl>
                                        <p:attrNameLst>
                                          <p:attrName>style.visibility</p:attrName>
                                        </p:attrNameLst>
                                      </p:cBhvr>
                                      <p:to>
                                        <p:strVal val="visible"/>
                                      </p:to>
                                    </p:set>
                                    <p:animEffect transition="in" filter="fade">
                                      <p:cBhvr>
                                        <p:cTn id="24" dur="500"/>
                                        <p:tgtEl>
                                          <p:spTgt spid="240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2405"/>
                                        </p:tgtEl>
                                      </p:cBhvr>
                                    </p:animEffect>
                                    <p:set>
                                      <p:cBhvr>
                                        <p:cTn id="29" dur="1" fill="hold">
                                          <p:stCondLst>
                                            <p:cond delay="500"/>
                                          </p:stCondLst>
                                        </p:cTn>
                                        <p:tgtEl>
                                          <p:spTgt spid="2405"/>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406"/>
                                        </p:tgtEl>
                                      </p:cBhvr>
                                    </p:animEffect>
                                    <p:set>
                                      <p:cBhvr>
                                        <p:cTn id="32" dur="1" fill="hold">
                                          <p:stCondLst>
                                            <p:cond delay="500"/>
                                          </p:stCondLst>
                                        </p:cTn>
                                        <p:tgtEl>
                                          <p:spTgt spid="24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9"/>
        <p:cNvGrpSpPr/>
        <p:nvPr/>
      </p:nvGrpSpPr>
      <p:grpSpPr>
        <a:xfrm>
          <a:off x="0" y="0"/>
          <a:ext cx="0" cy="0"/>
          <a:chOff x="0" y="0"/>
          <a:chExt cx="0" cy="0"/>
        </a:xfrm>
      </p:grpSpPr>
      <p:sp>
        <p:nvSpPr>
          <p:cNvPr id="2500" name="Google Shape;2500;p32"/>
          <p:cNvSpPr txBox="1">
            <a:spLocks noGrp="1"/>
          </p:cNvSpPr>
          <p:nvPr>
            <p:ph type="title" idx="4294967295"/>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Simulation case: stationary irradiation conditions</a:t>
            </a:r>
            <a:endParaRPr/>
          </a:p>
        </p:txBody>
      </p:sp>
      <p:sp>
        <p:nvSpPr>
          <p:cNvPr id="2501" name="Google Shape;2501;p32"/>
          <p:cNvSpPr txBox="1"/>
          <p:nvPr/>
        </p:nvSpPr>
        <p:spPr>
          <a:xfrm>
            <a:off x="500766" y="1410393"/>
            <a:ext cx="3175500" cy="2308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Each entry corresponds to a modelling option for a specific physical phenomenon</a:t>
            </a:r>
            <a:endParaRPr/>
          </a:p>
          <a:p>
            <a:pPr marL="0" marR="0" lvl="0" indent="0" algn="l" rtl="0">
              <a:lnSpc>
                <a:spcPct val="100000"/>
              </a:lnSpc>
              <a:spcBef>
                <a:spcPts val="0"/>
              </a:spcBef>
              <a:spcAft>
                <a:spcPts val="0"/>
              </a:spcAft>
              <a:buClr>
                <a:schemeClr val="dk1"/>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In this tutorial, we use </a:t>
            </a:r>
            <a:r>
              <a:rPr lang="en-GB" sz="1600" b="1" i="0" u="none" strike="noStrike" cap="none">
                <a:solidFill>
                  <a:srgbClr val="000000"/>
                </a:solidFill>
                <a:latin typeface="Arial"/>
                <a:ea typeface="Arial"/>
                <a:cs typeface="Arial"/>
                <a:sym typeface="Arial"/>
              </a:rPr>
              <a:t>default settings</a:t>
            </a:r>
            <a:r>
              <a:rPr lang="en-GB" sz="1600" b="0" i="0" u="none" strike="noStrike" cap="none">
                <a:solidFill>
                  <a:srgbClr val="000000"/>
                </a:solidFill>
                <a:latin typeface="Arial"/>
                <a:ea typeface="Arial"/>
                <a:cs typeface="Arial"/>
                <a:sym typeface="Arial"/>
              </a:rPr>
              <a:t>, which includes </a:t>
            </a:r>
            <a:r>
              <a:rPr lang="en-GB" sz="1600" b="1" i="0" u="none" strike="noStrike" cap="none">
                <a:solidFill>
                  <a:srgbClr val="000000"/>
                </a:solidFill>
                <a:latin typeface="Arial"/>
                <a:ea typeface="Arial"/>
                <a:cs typeface="Arial"/>
                <a:sym typeface="Arial"/>
              </a:rPr>
              <a:t>validated models for the physical phenomena of interest</a:t>
            </a:r>
            <a:endParaRPr sz="1600" b="0" i="0" u="none" strike="noStrike" cap="none">
              <a:solidFill>
                <a:srgbClr val="000000"/>
              </a:solidFill>
              <a:latin typeface="Arial"/>
              <a:ea typeface="Arial"/>
              <a:cs typeface="Arial"/>
              <a:sym typeface="Arial"/>
            </a:endParaRPr>
          </a:p>
        </p:txBody>
      </p:sp>
      <p:pic>
        <p:nvPicPr>
          <p:cNvPr id="2502" name="Google Shape;2502;p32"/>
          <p:cNvPicPr preferRelativeResize="0"/>
          <p:nvPr/>
        </p:nvPicPr>
        <p:blipFill rotWithShape="1">
          <a:blip r:embed="rId3">
            <a:alphaModFix/>
          </a:blip>
          <a:srcRect t="17744"/>
          <a:stretch/>
        </p:blipFill>
        <p:spPr>
          <a:xfrm>
            <a:off x="4209074" y="1510393"/>
            <a:ext cx="4020033" cy="2325882"/>
          </a:xfrm>
          <a:prstGeom prst="rect">
            <a:avLst/>
          </a:prstGeom>
          <a:noFill/>
          <a:ln>
            <a:noFill/>
          </a:ln>
        </p:spPr>
      </p:pic>
      <p:sp>
        <p:nvSpPr>
          <p:cNvPr id="2503" name="Google Shape;2503;p32"/>
          <p:cNvSpPr txBox="1"/>
          <p:nvPr/>
        </p:nvSpPr>
        <p:spPr>
          <a:xfrm>
            <a:off x="4102625" y="1191343"/>
            <a:ext cx="44011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rgbClr val="000000"/>
                </a:solidFill>
                <a:latin typeface="Courier New"/>
                <a:ea typeface="Courier New"/>
                <a:cs typeface="Courier New"/>
                <a:sym typeface="Courier New"/>
              </a:rPr>
              <a:t>input_settings.txt</a:t>
            </a:r>
            <a:endParaRPr sz="1800" b="1">
              <a:solidFill>
                <a:schemeClr val="dk1"/>
              </a:solidFill>
              <a:latin typeface="Courier New"/>
              <a:ea typeface="Courier New"/>
              <a:cs typeface="Courier New"/>
              <a:sym typeface="Courier New"/>
            </a:endParaRPr>
          </a:p>
        </p:txBody>
      </p:sp>
      <p:sp>
        <p:nvSpPr>
          <p:cNvPr id="2504" name="Google Shape;2504;p32"/>
          <p:cNvSpPr/>
          <p:nvPr/>
        </p:nvSpPr>
        <p:spPr>
          <a:xfrm>
            <a:off x="4102625" y="1176953"/>
            <a:ext cx="4298400" cy="2775300"/>
          </a:xfrm>
          <a:prstGeom prst="rect">
            <a:avLst/>
          </a:prstGeom>
          <a:noFill/>
          <a:ln w="25400" cap="flat" cmpd="sng">
            <a:solidFill>
              <a:srgbClr val="2136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09"/>
        <p:cNvGrpSpPr/>
        <p:nvPr/>
      </p:nvGrpSpPr>
      <p:grpSpPr>
        <a:xfrm>
          <a:off x="0" y="0"/>
          <a:ext cx="0" cy="0"/>
          <a:chOff x="0" y="0"/>
          <a:chExt cx="0" cy="0"/>
        </a:xfrm>
      </p:grpSpPr>
      <p:sp>
        <p:nvSpPr>
          <p:cNvPr id="2510" name="Google Shape;2510;p33"/>
          <p:cNvSpPr txBox="1">
            <a:spLocks noGrp="1"/>
          </p:cNvSpPr>
          <p:nvPr>
            <p:ph type="title" idx="4294967295"/>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Simulation results: stationary irradiation conditions</a:t>
            </a:r>
            <a:endParaRPr/>
          </a:p>
        </p:txBody>
      </p:sp>
      <p:pic>
        <p:nvPicPr>
          <p:cNvPr id="2511" name="Google Shape;2511;p33"/>
          <p:cNvPicPr preferRelativeResize="0"/>
          <p:nvPr/>
        </p:nvPicPr>
        <p:blipFill rotWithShape="1">
          <a:blip r:embed="rId3">
            <a:alphaModFix/>
          </a:blip>
          <a:srcRect/>
          <a:stretch/>
        </p:blipFill>
        <p:spPr>
          <a:xfrm>
            <a:off x="5043883" y="624342"/>
            <a:ext cx="3659246" cy="4057776"/>
          </a:xfrm>
          <a:prstGeom prst="rect">
            <a:avLst/>
          </a:prstGeom>
          <a:noFill/>
          <a:ln>
            <a:noFill/>
          </a:ln>
        </p:spPr>
      </p:pic>
      <p:sp>
        <p:nvSpPr>
          <p:cNvPr id="2512" name="Google Shape;2512;p33"/>
          <p:cNvSpPr txBox="1"/>
          <p:nvPr/>
        </p:nvSpPr>
        <p:spPr>
          <a:xfrm>
            <a:off x="547006" y="1129736"/>
            <a:ext cx="4025100" cy="3294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The xenon produced (</a:t>
            </a:r>
            <a:r>
              <a:rPr lang="en-GB" sz="1600" b="0" i="0" u="none" strike="noStrike" cap="none">
                <a:solidFill>
                  <a:srgbClr val="0072BD"/>
                </a:solidFill>
                <a:latin typeface="Arial"/>
                <a:ea typeface="Arial"/>
                <a:cs typeface="Arial"/>
                <a:sym typeface="Arial"/>
              </a:rPr>
              <a:t>blue line</a:t>
            </a:r>
            <a:r>
              <a:rPr lang="en-GB" sz="1600" b="0" i="0" u="none" strike="noStrike" cap="none">
                <a:solidFill>
                  <a:srgbClr val="000000"/>
                </a:solidFill>
                <a:latin typeface="Arial"/>
                <a:ea typeface="Arial"/>
                <a:cs typeface="Arial"/>
                <a:sym typeface="Arial"/>
              </a:rPr>
              <a:t>) increases linearly as the product between the xenon fission yield</a:t>
            </a:r>
            <a:r>
              <a:rPr lang="en-GB" sz="1600"/>
              <a:t>,</a:t>
            </a:r>
            <a:r>
              <a:rPr lang="en-GB" sz="1600" b="0" i="0" u="none" strike="noStrike" cap="none">
                <a:solidFill>
                  <a:srgbClr val="000000"/>
                </a:solidFill>
                <a:latin typeface="Arial"/>
                <a:ea typeface="Arial"/>
                <a:cs typeface="Arial"/>
                <a:sym typeface="Arial"/>
              </a:rPr>
              <a:t> fission rate and irra</a:t>
            </a:r>
            <a:r>
              <a:rPr lang="en-GB" sz="1600"/>
              <a:t>diation time</a:t>
            </a:r>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A fraction of the gas produced remains in the grain (</a:t>
            </a:r>
            <a:r>
              <a:rPr lang="en-GB" sz="1600" b="0" i="0" u="none" strike="noStrike" cap="none">
                <a:solidFill>
                  <a:srgbClr val="FFAB8D"/>
                </a:solidFill>
                <a:latin typeface="Arial"/>
                <a:ea typeface="Arial"/>
                <a:cs typeface="Arial"/>
                <a:sym typeface="Arial"/>
              </a:rPr>
              <a:t>orange line</a:t>
            </a:r>
            <a:r>
              <a:rPr lang="en-GB" sz="1600" b="0" i="0" u="none" strike="noStrike" cap="none">
                <a:solidFill>
                  <a:srgbClr val="000000"/>
                </a:solidFill>
                <a:latin typeface="Arial"/>
                <a:ea typeface="Arial"/>
                <a:cs typeface="Arial"/>
                <a:sym typeface="Arial"/>
              </a:rPr>
              <a:t>) as gas in solution and gas in the bubbles</a:t>
            </a:r>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The gas that reaches the grain boundary (</a:t>
            </a:r>
            <a:r>
              <a:rPr lang="en-GB" sz="1600" b="0" i="0" u="none" strike="noStrike" cap="none">
                <a:solidFill>
                  <a:srgbClr val="00A86B"/>
                </a:solidFill>
                <a:latin typeface="Arial"/>
                <a:ea typeface="Arial"/>
                <a:cs typeface="Arial"/>
                <a:sym typeface="Arial"/>
              </a:rPr>
              <a:t>green line</a:t>
            </a:r>
            <a:r>
              <a:rPr lang="en-GB" sz="1600" b="0" i="0" u="none" strike="noStrike" cap="none">
                <a:solidFill>
                  <a:srgbClr val="000000"/>
                </a:solidFill>
                <a:latin typeface="Arial"/>
                <a:ea typeface="Arial"/>
                <a:cs typeface="Arial"/>
                <a:sym typeface="Arial"/>
              </a:rPr>
              <a:t>) is eventually released (</a:t>
            </a:r>
            <a:r>
              <a:rPr lang="en-GB" sz="1600" b="0" i="0" u="none" strike="noStrike" cap="none">
                <a:solidFill>
                  <a:srgbClr val="B18BC6"/>
                </a:solidFill>
                <a:latin typeface="Arial"/>
                <a:ea typeface="Arial"/>
                <a:cs typeface="Arial"/>
                <a:sym typeface="Arial"/>
              </a:rPr>
              <a:t>violet line</a:t>
            </a:r>
            <a:r>
              <a:rPr lang="en-GB" sz="1600" b="0" i="0" u="none" strike="noStrike" cap="none">
                <a:solidFill>
                  <a:srgbClr val="000000"/>
                </a:solidFill>
                <a:latin typeface="Arial"/>
                <a:ea typeface="Arial"/>
                <a:cs typeface="Arial"/>
                <a:sym typeface="Arial"/>
              </a:rPr>
              <a:t>) when the saturation of the grain boundary is reached</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17"/>
        <p:cNvGrpSpPr/>
        <p:nvPr/>
      </p:nvGrpSpPr>
      <p:grpSpPr>
        <a:xfrm>
          <a:off x="0" y="0"/>
          <a:ext cx="0" cy="0"/>
          <a:chOff x="0" y="0"/>
          <a:chExt cx="0" cy="0"/>
        </a:xfrm>
      </p:grpSpPr>
      <p:pic>
        <p:nvPicPr>
          <p:cNvPr id="2518" name="Google Shape;2518;p34"/>
          <p:cNvPicPr preferRelativeResize="0"/>
          <p:nvPr/>
        </p:nvPicPr>
        <p:blipFill rotWithShape="1">
          <a:blip r:embed="rId3">
            <a:alphaModFix/>
          </a:blip>
          <a:srcRect/>
          <a:stretch/>
        </p:blipFill>
        <p:spPr>
          <a:xfrm>
            <a:off x="4792027" y="817796"/>
            <a:ext cx="3617188" cy="3896534"/>
          </a:xfrm>
          <a:prstGeom prst="rect">
            <a:avLst/>
          </a:prstGeom>
          <a:noFill/>
          <a:ln>
            <a:noFill/>
          </a:ln>
        </p:spPr>
      </p:pic>
      <p:sp>
        <p:nvSpPr>
          <p:cNvPr id="2519" name="Google Shape;2519;p34"/>
          <p:cNvSpPr txBox="1"/>
          <p:nvPr/>
        </p:nvSpPr>
        <p:spPr>
          <a:xfrm>
            <a:off x="466725" y="1334613"/>
            <a:ext cx="4146900" cy="2862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1800">
                <a:solidFill>
                  <a:schemeClr val="dk1"/>
                </a:solidFill>
                <a:latin typeface="Arial"/>
                <a:ea typeface="Arial"/>
                <a:cs typeface="Arial"/>
                <a:sym typeface="Arial"/>
              </a:rPr>
              <a:t>The initial increase of intra-granular bubble concentration </a:t>
            </a:r>
            <a:r>
              <a:rPr lang="en-GB" sz="1800">
                <a:solidFill>
                  <a:schemeClr val="dk1"/>
                </a:solidFill>
              </a:rPr>
              <a:t>(</a:t>
            </a:r>
            <a:r>
              <a:rPr lang="en-GB" sz="1800">
                <a:solidFill>
                  <a:srgbClr val="0072BD"/>
                </a:solidFill>
              </a:rPr>
              <a:t>blue line</a:t>
            </a:r>
            <a:r>
              <a:rPr lang="en-GB" sz="1800">
                <a:solidFill>
                  <a:schemeClr val="dk1"/>
                </a:solidFill>
              </a:rPr>
              <a:t>)</a:t>
            </a:r>
            <a:r>
              <a:rPr lang="en-GB" sz="1800">
                <a:solidFill>
                  <a:schemeClr val="dk1"/>
                </a:solidFill>
                <a:latin typeface="Arial"/>
                <a:ea typeface="Arial"/>
                <a:cs typeface="Arial"/>
                <a:sym typeface="Arial"/>
              </a:rPr>
              <a:t> is due to the nucleation </a:t>
            </a:r>
            <a:endParaRPr/>
          </a:p>
          <a:p>
            <a:pPr marL="0" marR="0" lvl="0" indent="0" algn="just" rtl="0">
              <a:spcBef>
                <a:spcPts val="0"/>
              </a:spcBef>
              <a:spcAft>
                <a:spcPts val="0"/>
              </a:spcAft>
              <a:buNone/>
            </a:pPr>
            <a:endParaRPr sz="1800">
              <a:solidFill>
                <a:schemeClr val="dk1"/>
              </a:solidFill>
              <a:latin typeface="Arial"/>
              <a:ea typeface="Arial"/>
              <a:cs typeface="Arial"/>
              <a:sym typeface="Arial"/>
            </a:endParaRPr>
          </a:p>
          <a:p>
            <a:pPr marL="0" marR="0" lvl="0" indent="0" algn="just" rtl="0">
              <a:spcBef>
                <a:spcPts val="0"/>
              </a:spcBef>
              <a:spcAft>
                <a:spcPts val="0"/>
              </a:spcAft>
              <a:buNone/>
            </a:pPr>
            <a:r>
              <a:rPr lang="en-GB" sz="1800">
                <a:solidFill>
                  <a:schemeClr val="dk1"/>
                </a:solidFill>
                <a:latin typeface="Arial"/>
                <a:ea typeface="Arial"/>
                <a:cs typeface="Arial"/>
                <a:sym typeface="Arial"/>
              </a:rPr>
              <a:t>As the intra-granular bubble radius </a:t>
            </a:r>
            <a:r>
              <a:rPr lang="en-GB" sz="1800">
                <a:solidFill>
                  <a:schemeClr val="dk1"/>
                </a:solidFill>
              </a:rPr>
              <a:t>(</a:t>
            </a:r>
            <a:r>
              <a:rPr lang="en-GB" sz="1800">
                <a:solidFill>
                  <a:srgbClr val="FFAB8D"/>
                </a:solidFill>
              </a:rPr>
              <a:t>orange line</a:t>
            </a:r>
            <a:r>
              <a:rPr lang="en-GB" sz="1800">
                <a:solidFill>
                  <a:schemeClr val="dk1"/>
                </a:solidFill>
              </a:rPr>
              <a:t>)</a:t>
            </a:r>
            <a:r>
              <a:rPr lang="en-GB" sz="1800">
                <a:solidFill>
                  <a:schemeClr val="dk1"/>
                </a:solidFill>
                <a:latin typeface="Arial"/>
                <a:ea typeface="Arial"/>
                <a:cs typeface="Arial"/>
                <a:sym typeface="Arial"/>
              </a:rPr>
              <a:t> increases steadily as a result of trapping, the intra-granular bubble concentration decreases with burnup</a:t>
            </a:r>
            <a:endParaRPr/>
          </a:p>
          <a:p>
            <a:pPr marL="0" marR="0" lvl="0" indent="0" algn="just" rtl="0">
              <a:spcBef>
                <a:spcPts val="0"/>
              </a:spcBef>
              <a:spcAft>
                <a:spcPts val="0"/>
              </a:spcAft>
              <a:buNone/>
            </a:pPr>
            <a:endParaRPr sz="1800">
              <a:solidFill>
                <a:schemeClr val="dk1"/>
              </a:solidFill>
              <a:latin typeface="Arial"/>
              <a:ea typeface="Arial"/>
              <a:cs typeface="Arial"/>
              <a:sym typeface="Arial"/>
            </a:endParaRPr>
          </a:p>
        </p:txBody>
      </p:sp>
      <p:sp>
        <p:nvSpPr>
          <p:cNvPr id="2520" name="Google Shape;2520;p34"/>
          <p:cNvSpPr txBox="1">
            <a:spLocks noGrp="1"/>
          </p:cNvSpPr>
          <p:nvPr>
            <p:ph type="title"/>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lvl="0" indent="0" algn="r" rtl="0">
              <a:lnSpc>
                <a:spcPct val="100000"/>
              </a:lnSpc>
              <a:spcBef>
                <a:spcPts val="0"/>
              </a:spcBef>
              <a:spcAft>
                <a:spcPts val="0"/>
              </a:spcAft>
              <a:buClr>
                <a:srgbClr val="0157A3"/>
              </a:buClr>
              <a:buSzPts val="2000"/>
              <a:buFont typeface="Arial"/>
              <a:buNone/>
            </a:pPr>
            <a:r>
              <a:rPr lang="en-GB" sz="2000" b="0" strike="noStrike">
                <a:solidFill>
                  <a:srgbClr val="0157A3"/>
                </a:solidFill>
                <a:latin typeface="Arial"/>
                <a:ea typeface="Arial"/>
                <a:cs typeface="Arial"/>
                <a:sym typeface="Arial"/>
              </a:rPr>
              <a:t>Simulation results: stationary irradiation conditions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31"/>
        <p:cNvGrpSpPr/>
        <p:nvPr/>
      </p:nvGrpSpPr>
      <p:grpSpPr>
        <a:xfrm>
          <a:off x="0" y="0"/>
          <a:ext cx="0" cy="0"/>
          <a:chOff x="0" y="0"/>
          <a:chExt cx="0" cy="0"/>
        </a:xfrm>
      </p:grpSpPr>
      <p:sp>
        <p:nvSpPr>
          <p:cNvPr id="2532" name="Google Shape;2532;p36"/>
          <p:cNvSpPr txBox="1">
            <a:spLocks noGrp="1"/>
          </p:cNvSpPr>
          <p:nvPr>
            <p:ph type="title" idx="4294967295"/>
          </p:nvPr>
        </p:nvSpPr>
        <p:spPr>
          <a:xfrm>
            <a:off x="2235201" y="178944"/>
            <a:ext cx="671224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code, inter-granular fission gas behaviour</a:t>
            </a:r>
            <a:endParaRPr sz="2000" b="0" i="0" u="none" strike="noStrike" cap="none">
              <a:solidFill>
                <a:srgbClr val="0157A3"/>
              </a:solidFill>
              <a:latin typeface="Arial"/>
              <a:ea typeface="Arial"/>
              <a:cs typeface="Arial"/>
              <a:sym typeface="Arial"/>
            </a:endParaRPr>
          </a:p>
        </p:txBody>
      </p:sp>
      <p:sp>
        <p:nvSpPr>
          <p:cNvPr id="2533" name="Google Shape;2533;p36"/>
          <p:cNvSpPr txBox="1"/>
          <p:nvPr/>
        </p:nvSpPr>
        <p:spPr>
          <a:xfrm>
            <a:off x="468626" y="928793"/>
            <a:ext cx="8478900" cy="831000"/>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600"/>
              <a:buFont typeface="Arial"/>
              <a:buChar char="-"/>
            </a:pPr>
            <a:r>
              <a:rPr lang="en-GB" sz="1600" dirty="0">
                <a:solidFill>
                  <a:schemeClr val="dk1"/>
                </a:solidFill>
              </a:rPr>
              <a:t>Fission gases</a:t>
            </a:r>
            <a:r>
              <a:rPr lang="en-GB" sz="1600" dirty="0">
                <a:solidFill>
                  <a:schemeClr val="dk1"/>
                </a:solidFill>
                <a:latin typeface="Arial"/>
                <a:ea typeface="Arial"/>
                <a:cs typeface="Arial"/>
                <a:sym typeface="Arial"/>
              </a:rPr>
              <a:t>, from the intra-granular diffusion, are accumulated in </a:t>
            </a:r>
            <a:r>
              <a:rPr lang="en-GB" sz="1600" dirty="0">
                <a:solidFill>
                  <a:schemeClr val="dk1"/>
                </a:solidFill>
              </a:rPr>
              <a:t>grain-boundary</a:t>
            </a:r>
            <a:r>
              <a:rPr lang="en-GB" sz="1600" dirty="0">
                <a:solidFill>
                  <a:schemeClr val="dk1"/>
                </a:solidFill>
                <a:latin typeface="Arial"/>
                <a:ea typeface="Arial"/>
                <a:cs typeface="Arial"/>
                <a:sym typeface="Arial"/>
              </a:rPr>
              <a:t> bubbles</a:t>
            </a:r>
            <a:endParaRPr dirty="0"/>
          </a:p>
          <a:p>
            <a:pPr marL="171450" marR="0" lvl="0" indent="-171450" algn="l" rtl="0">
              <a:spcBef>
                <a:spcPts val="0"/>
              </a:spcBef>
              <a:spcAft>
                <a:spcPts val="0"/>
              </a:spcAft>
              <a:buClr>
                <a:schemeClr val="dk1"/>
              </a:buClr>
              <a:buSzPts val="1600"/>
              <a:buFont typeface="Arial"/>
              <a:buChar char="-"/>
            </a:pPr>
            <a:r>
              <a:rPr lang="en-GB" sz="1600" dirty="0">
                <a:solidFill>
                  <a:schemeClr val="dk1"/>
                </a:solidFill>
                <a:latin typeface="Arial"/>
                <a:ea typeface="Arial"/>
                <a:cs typeface="Arial"/>
                <a:sym typeface="Arial"/>
              </a:rPr>
              <a:t>G</a:t>
            </a:r>
            <a:r>
              <a:rPr lang="en-GB" sz="1600" dirty="0">
                <a:solidFill>
                  <a:schemeClr val="dk1"/>
                </a:solidFill>
              </a:rPr>
              <a:t>rain-boundary</a:t>
            </a:r>
            <a:r>
              <a:rPr lang="en-GB" sz="1600" dirty="0">
                <a:solidFill>
                  <a:schemeClr val="dk1"/>
                </a:solidFill>
                <a:latin typeface="Arial"/>
                <a:ea typeface="Arial"/>
                <a:cs typeface="Arial"/>
                <a:sym typeface="Arial"/>
              </a:rPr>
              <a:t> bubble evolution leads to </a:t>
            </a:r>
            <a:r>
              <a:rPr lang="en-GB" sz="1600" b="1" dirty="0">
                <a:solidFill>
                  <a:schemeClr val="dk1"/>
                </a:solidFill>
              </a:rPr>
              <a:t>fission gas release </a:t>
            </a:r>
            <a:r>
              <a:rPr lang="en-GB" sz="1600" dirty="0">
                <a:solidFill>
                  <a:schemeClr val="dk1"/>
                </a:solidFill>
                <a:latin typeface="Arial"/>
                <a:ea typeface="Arial"/>
                <a:cs typeface="Arial"/>
                <a:sym typeface="Arial"/>
              </a:rPr>
              <a:t>and </a:t>
            </a:r>
            <a:r>
              <a:rPr lang="en-GB" sz="1600" b="1" dirty="0">
                <a:solidFill>
                  <a:schemeClr val="dk1"/>
                </a:solidFill>
                <a:latin typeface="Arial"/>
                <a:ea typeface="Arial"/>
                <a:cs typeface="Arial"/>
                <a:sym typeface="Arial"/>
              </a:rPr>
              <a:t>gaseous swelling</a:t>
            </a:r>
            <a:endParaRPr dirty="0"/>
          </a:p>
        </p:txBody>
      </p:sp>
      <p:pic>
        <p:nvPicPr>
          <p:cNvPr id="2534" name="Google Shape;2534;p36" descr="Immagine che contiene Carattere, linea, diagramma, testo&#10;&#10;Descrizione generata automaticamente"/>
          <p:cNvPicPr preferRelativeResize="0"/>
          <p:nvPr/>
        </p:nvPicPr>
        <p:blipFill rotWithShape="1">
          <a:blip r:embed="rId3">
            <a:alphaModFix/>
          </a:blip>
          <a:srcRect/>
          <a:stretch/>
        </p:blipFill>
        <p:spPr>
          <a:xfrm>
            <a:off x="5301260" y="1816690"/>
            <a:ext cx="3180896" cy="685116"/>
          </a:xfrm>
          <a:prstGeom prst="rect">
            <a:avLst/>
          </a:prstGeom>
          <a:noFill/>
          <a:ln>
            <a:noFill/>
          </a:ln>
        </p:spPr>
      </p:pic>
      <p:cxnSp>
        <p:nvCxnSpPr>
          <p:cNvPr id="2535" name="Google Shape;2535;p36"/>
          <p:cNvCxnSpPr/>
          <p:nvPr/>
        </p:nvCxnSpPr>
        <p:spPr>
          <a:xfrm>
            <a:off x="3936677" y="3132904"/>
            <a:ext cx="693600" cy="0"/>
          </a:xfrm>
          <a:prstGeom prst="straightConnector1">
            <a:avLst/>
          </a:prstGeom>
          <a:noFill/>
          <a:ln w="33550" cap="flat" cmpd="sng">
            <a:solidFill>
              <a:srgbClr val="FF0000"/>
            </a:solidFill>
            <a:prstDash val="solid"/>
            <a:miter lim="8000"/>
            <a:headEnd type="none" w="sm" len="sm"/>
            <a:tailEnd type="triangle" w="med" len="med"/>
          </a:ln>
        </p:spPr>
      </p:cxnSp>
      <p:sp>
        <p:nvSpPr>
          <p:cNvPr id="2536" name="Google Shape;2536;p36"/>
          <p:cNvSpPr/>
          <p:nvPr/>
        </p:nvSpPr>
        <p:spPr>
          <a:xfrm rot="5400000">
            <a:off x="794034" y="2465883"/>
            <a:ext cx="1270288" cy="1427014"/>
          </a:xfrm>
          <a:prstGeom prst="flowChartOnlineStorage">
            <a:avLst/>
          </a:prstGeom>
          <a:solidFill>
            <a:srgbClr val="747474"/>
          </a:solidFill>
          <a:ln w="692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sp>
        <p:nvSpPr>
          <p:cNvPr id="2537" name="Google Shape;2537;p36"/>
          <p:cNvSpPr/>
          <p:nvPr/>
        </p:nvSpPr>
        <p:spPr>
          <a:xfrm rot="5400000">
            <a:off x="813149" y="2574207"/>
            <a:ext cx="1231935" cy="1248715"/>
          </a:xfrm>
          <a:prstGeom prst="flowChartOnlineStorage">
            <a:avLst/>
          </a:prstGeom>
          <a:solidFill>
            <a:srgbClr val="BFBFBF"/>
          </a:solidFill>
          <a:ln w="692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sp>
        <p:nvSpPr>
          <p:cNvPr id="2538" name="Google Shape;2538;p36"/>
          <p:cNvSpPr/>
          <p:nvPr/>
        </p:nvSpPr>
        <p:spPr>
          <a:xfrm>
            <a:off x="893846" y="2623034"/>
            <a:ext cx="1071000" cy="1268100"/>
          </a:xfrm>
          <a:prstGeom prst="can">
            <a:avLst>
              <a:gd name="adj" fmla="val 31808"/>
            </a:avLst>
          </a:prstGeom>
          <a:solidFill>
            <a:srgbClr val="3A3A3A"/>
          </a:solidFill>
          <a:ln w="10350" cap="flat" cmpd="sng">
            <a:solidFill>
              <a:srgbClr val="191919"/>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grpSp>
        <p:nvGrpSpPr>
          <p:cNvPr id="2539" name="Google Shape;2539;p36"/>
          <p:cNvGrpSpPr/>
          <p:nvPr/>
        </p:nvGrpSpPr>
        <p:grpSpPr>
          <a:xfrm>
            <a:off x="1284835" y="2118755"/>
            <a:ext cx="463716" cy="609174"/>
            <a:chOff x="3796641" y="775621"/>
            <a:chExt cx="792000" cy="1119600"/>
          </a:xfrm>
        </p:grpSpPr>
        <p:cxnSp>
          <p:nvCxnSpPr>
            <p:cNvPr id="2540" name="Google Shape;2540;p36"/>
            <p:cNvCxnSpPr>
              <a:stCxn id="2541" idx="2"/>
            </p:cNvCxnSpPr>
            <p:nvPr/>
          </p:nvCxnSpPr>
          <p:spPr>
            <a:xfrm flipH="1">
              <a:off x="4032441" y="1063621"/>
              <a:ext cx="160200" cy="831600"/>
            </a:xfrm>
            <a:prstGeom prst="straightConnector1">
              <a:avLst/>
            </a:prstGeom>
            <a:noFill/>
            <a:ln w="6925" cap="flat" cmpd="sng">
              <a:solidFill>
                <a:srgbClr val="262626"/>
              </a:solidFill>
              <a:prstDash val="solid"/>
              <a:miter lim="800000"/>
              <a:headEnd type="none" w="sm" len="sm"/>
              <a:tailEnd type="none" w="sm" len="sm"/>
            </a:ln>
          </p:spPr>
        </p:cxnSp>
        <p:sp>
          <p:nvSpPr>
            <p:cNvPr id="2541" name="Google Shape;2541;p36"/>
            <p:cNvSpPr/>
            <p:nvPr/>
          </p:nvSpPr>
          <p:spPr>
            <a:xfrm>
              <a:off x="3796641" y="775621"/>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Pellet</a:t>
              </a:r>
              <a:endParaRPr sz="652">
                <a:solidFill>
                  <a:srgbClr val="262626"/>
                </a:solidFill>
                <a:latin typeface="Arial"/>
                <a:ea typeface="Arial"/>
                <a:cs typeface="Arial"/>
                <a:sym typeface="Arial"/>
              </a:endParaRPr>
            </a:p>
          </p:txBody>
        </p:sp>
      </p:grpSp>
      <p:cxnSp>
        <p:nvCxnSpPr>
          <p:cNvPr id="2542" name="Google Shape;2542;p36"/>
          <p:cNvCxnSpPr/>
          <p:nvPr/>
        </p:nvCxnSpPr>
        <p:spPr>
          <a:xfrm rot="10800000" flipH="1">
            <a:off x="2051617" y="2757849"/>
            <a:ext cx="90900" cy="14400"/>
          </a:xfrm>
          <a:prstGeom prst="straightConnector1">
            <a:avLst/>
          </a:prstGeom>
          <a:noFill/>
          <a:ln w="6925" cap="flat" cmpd="sng">
            <a:solidFill>
              <a:srgbClr val="000000"/>
            </a:solidFill>
            <a:prstDash val="solid"/>
            <a:miter lim="800000"/>
            <a:headEnd type="none" w="sm" len="sm"/>
            <a:tailEnd type="none" w="sm" len="sm"/>
          </a:ln>
        </p:spPr>
      </p:cxnSp>
      <p:grpSp>
        <p:nvGrpSpPr>
          <p:cNvPr id="2543" name="Google Shape;2543;p36"/>
          <p:cNvGrpSpPr/>
          <p:nvPr/>
        </p:nvGrpSpPr>
        <p:grpSpPr>
          <a:xfrm>
            <a:off x="2053531" y="3431074"/>
            <a:ext cx="90635" cy="380147"/>
            <a:chOff x="9755471" y="3187529"/>
            <a:chExt cx="154800" cy="698671"/>
          </a:xfrm>
        </p:grpSpPr>
        <p:cxnSp>
          <p:nvCxnSpPr>
            <p:cNvPr id="2544" name="Google Shape;2544;p36"/>
            <p:cNvCxnSpPr/>
            <p:nvPr/>
          </p:nvCxnSpPr>
          <p:spPr>
            <a:xfrm>
              <a:off x="9755471" y="3886200"/>
              <a:ext cx="154800" cy="0"/>
            </a:xfrm>
            <a:prstGeom prst="straightConnector1">
              <a:avLst/>
            </a:prstGeom>
            <a:noFill/>
            <a:ln w="6925" cap="flat" cmpd="sng">
              <a:solidFill>
                <a:srgbClr val="000000"/>
              </a:solidFill>
              <a:prstDash val="solid"/>
              <a:miter lim="800000"/>
              <a:headEnd type="none" w="sm" len="sm"/>
              <a:tailEnd type="none" w="sm" len="sm"/>
            </a:ln>
          </p:spPr>
        </p:cxnSp>
        <p:sp>
          <p:nvSpPr>
            <p:cNvPr id="2545" name="Google Shape;2545;p36"/>
            <p:cNvSpPr/>
            <p:nvPr/>
          </p:nvSpPr>
          <p:spPr>
            <a:xfrm>
              <a:off x="9763409" y="3187529"/>
              <a:ext cx="139800" cy="692400"/>
            </a:xfrm>
            <a:prstGeom prst="rect">
              <a:avLst/>
            </a:prstGeom>
            <a:solidFill>
              <a:srgbClr val="747474"/>
            </a:solidFill>
            <a:ln>
              <a:noFill/>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grpSp>
      <p:cxnSp>
        <p:nvCxnSpPr>
          <p:cNvPr id="2546" name="Google Shape;2546;p36"/>
          <p:cNvCxnSpPr/>
          <p:nvPr/>
        </p:nvCxnSpPr>
        <p:spPr>
          <a:xfrm>
            <a:off x="715673" y="2757839"/>
            <a:ext cx="90900" cy="14400"/>
          </a:xfrm>
          <a:prstGeom prst="straightConnector1">
            <a:avLst/>
          </a:prstGeom>
          <a:noFill/>
          <a:ln w="6925" cap="flat" cmpd="sng">
            <a:solidFill>
              <a:srgbClr val="000000"/>
            </a:solidFill>
            <a:prstDash val="solid"/>
            <a:miter lim="800000"/>
            <a:headEnd type="none" w="sm" len="sm"/>
            <a:tailEnd type="none" w="sm" len="sm"/>
          </a:ln>
        </p:spPr>
      </p:cxnSp>
      <p:grpSp>
        <p:nvGrpSpPr>
          <p:cNvPr id="2547" name="Google Shape;2547;p36"/>
          <p:cNvGrpSpPr/>
          <p:nvPr/>
        </p:nvGrpSpPr>
        <p:grpSpPr>
          <a:xfrm>
            <a:off x="716281" y="3431073"/>
            <a:ext cx="90635" cy="380147"/>
            <a:chOff x="9755471" y="3187529"/>
            <a:chExt cx="154800" cy="698671"/>
          </a:xfrm>
        </p:grpSpPr>
        <p:cxnSp>
          <p:nvCxnSpPr>
            <p:cNvPr id="2548" name="Google Shape;2548;p36"/>
            <p:cNvCxnSpPr/>
            <p:nvPr/>
          </p:nvCxnSpPr>
          <p:spPr>
            <a:xfrm>
              <a:off x="9755471" y="3886200"/>
              <a:ext cx="154800" cy="0"/>
            </a:xfrm>
            <a:prstGeom prst="straightConnector1">
              <a:avLst/>
            </a:prstGeom>
            <a:noFill/>
            <a:ln w="6925" cap="flat" cmpd="sng">
              <a:solidFill>
                <a:srgbClr val="000000"/>
              </a:solidFill>
              <a:prstDash val="solid"/>
              <a:miter lim="800000"/>
              <a:headEnd type="none" w="sm" len="sm"/>
              <a:tailEnd type="none" w="sm" len="sm"/>
            </a:ln>
          </p:spPr>
        </p:cxnSp>
        <p:sp>
          <p:nvSpPr>
            <p:cNvPr id="2549" name="Google Shape;2549;p36"/>
            <p:cNvSpPr/>
            <p:nvPr/>
          </p:nvSpPr>
          <p:spPr>
            <a:xfrm>
              <a:off x="9763409" y="3187529"/>
              <a:ext cx="139800" cy="692400"/>
            </a:xfrm>
            <a:prstGeom prst="rect">
              <a:avLst/>
            </a:prstGeom>
            <a:solidFill>
              <a:srgbClr val="747474"/>
            </a:solidFill>
            <a:ln>
              <a:noFill/>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grpSp>
      <p:grpSp>
        <p:nvGrpSpPr>
          <p:cNvPr id="2550" name="Google Shape;2550;p36"/>
          <p:cNvGrpSpPr/>
          <p:nvPr/>
        </p:nvGrpSpPr>
        <p:grpSpPr>
          <a:xfrm>
            <a:off x="45154" y="2582675"/>
            <a:ext cx="708045" cy="486752"/>
            <a:chOff x="2866933" y="933607"/>
            <a:chExt cx="1209300" cy="894600"/>
          </a:xfrm>
        </p:grpSpPr>
        <p:cxnSp>
          <p:nvCxnSpPr>
            <p:cNvPr id="2551" name="Google Shape;2551;p36"/>
            <p:cNvCxnSpPr>
              <a:stCxn id="2552" idx="3"/>
            </p:cNvCxnSpPr>
            <p:nvPr/>
          </p:nvCxnSpPr>
          <p:spPr>
            <a:xfrm>
              <a:off x="3658933" y="1077607"/>
              <a:ext cx="417300" cy="750600"/>
            </a:xfrm>
            <a:prstGeom prst="straightConnector1">
              <a:avLst/>
            </a:prstGeom>
            <a:noFill/>
            <a:ln w="6925" cap="flat" cmpd="sng">
              <a:solidFill>
                <a:srgbClr val="262626"/>
              </a:solidFill>
              <a:prstDash val="solid"/>
              <a:miter lim="800000"/>
              <a:headEnd type="none" w="sm" len="sm"/>
              <a:tailEnd type="none" w="sm" len="sm"/>
            </a:ln>
          </p:spPr>
        </p:cxnSp>
        <p:sp>
          <p:nvSpPr>
            <p:cNvPr id="2552" name="Google Shape;2552;p36"/>
            <p:cNvSpPr/>
            <p:nvPr/>
          </p:nvSpPr>
          <p:spPr>
            <a:xfrm>
              <a:off x="2866933" y="933607"/>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Cladding</a:t>
              </a:r>
              <a:endParaRPr sz="652">
                <a:solidFill>
                  <a:srgbClr val="262626"/>
                </a:solidFill>
                <a:latin typeface="Arial"/>
                <a:ea typeface="Arial"/>
                <a:cs typeface="Arial"/>
                <a:sym typeface="Arial"/>
              </a:endParaRPr>
            </a:p>
          </p:txBody>
        </p:sp>
      </p:grpSp>
      <p:grpSp>
        <p:nvGrpSpPr>
          <p:cNvPr id="2553" name="Google Shape;2553;p36"/>
          <p:cNvGrpSpPr/>
          <p:nvPr/>
        </p:nvGrpSpPr>
        <p:grpSpPr>
          <a:xfrm>
            <a:off x="522779" y="2155018"/>
            <a:ext cx="463716" cy="823495"/>
            <a:chOff x="4708781" y="1062201"/>
            <a:chExt cx="792000" cy="1513500"/>
          </a:xfrm>
        </p:grpSpPr>
        <p:cxnSp>
          <p:nvCxnSpPr>
            <p:cNvPr id="2554" name="Google Shape;2554;p36"/>
            <p:cNvCxnSpPr>
              <a:stCxn id="2555" idx="2"/>
            </p:cNvCxnSpPr>
            <p:nvPr/>
          </p:nvCxnSpPr>
          <p:spPr>
            <a:xfrm>
              <a:off x="5104781" y="1350201"/>
              <a:ext cx="190500" cy="1225500"/>
            </a:xfrm>
            <a:prstGeom prst="straightConnector1">
              <a:avLst/>
            </a:prstGeom>
            <a:noFill/>
            <a:ln w="6925" cap="flat" cmpd="sng">
              <a:solidFill>
                <a:srgbClr val="262626"/>
              </a:solidFill>
              <a:prstDash val="solid"/>
              <a:miter lim="800000"/>
              <a:headEnd type="none" w="sm" len="sm"/>
              <a:tailEnd type="none" w="sm" len="sm"/>
            </a:ln>
          </p:spPr>
        </p:cxnSp>
        <p:sp>
          <p:nvSpPr>
            <p:cNvPr id="2555" name="Google Shape;2555;p36"/>
            <p:cNvSpPr/>
            <p:nvPr/>
          </p:nvSpPr>
          <p:spPr>
            <a:xfrm>
              <a:off x="4708781" y="1062201"/>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Gap</a:t>
              </a:r>
              <a:endParaRPr sz="652">
                <a:solidFill>
                  <a:srgbClr val="262626"/>
                </a:solidFill>
                <a:latin typeface="Arial"/>
                <a:ea typeface="Arial"/>
                <a:cs typeface="Arial"/>
                <a:sym typeface="Arial"/>
              </a:endParaRPr>
            </a:p>
          </p:txBody>
        </p:sp>
      </p:grpSp>
      <p:cxnSp>
        <p:nvCxnSpPr>
          <p:cNvPr id="2556" name="Google Shape;2556;p36"/>
          <p:cNvCxnSpPr/>
          <p:nvPr/>
        </p:nvCxnSpPr>
        <p:spPr>
          <a:xfrm rot="10800000" flipH="1">
            <a:off x="1595291" y="2540959"/>
            <a:ext cx="1104300" cy="629700"/>
          </a:xfrm>
          <a:prstGeom prst="straightConnector1">
            <a:avLst/>
          </a:prstGeom>
          <a:noFill/>
          <a:ln w="10350" cap="flat" cmpd="sng">
            <a:solidFill>
              <a:srgbClr val="000000"/>
            </a:solidFill>
            <a:prstDash val="solid"/>
            <a:miter lim="800000"/>
            <a:headEnd type="none" w="sm" len="sm"/>
            <a:tailEnd type="none" w="sm" len="sm"/>
          </a:ln>
        </p:spPr>
      </p:cxnSp>
      <p:cxnSp>
        <p:nvCxnSpPr>
          <p:cNvPr id="2557" name="Google Shape;2557;p36"/>
          <p:cNvCxnSpPr/>
          <p:nvPr/>
        </p:nvCxnSpPr>
        <p:spPr>
          <a:xfrm>
            <a:off x="1595291" y="3354039"/>
            <a:ext cx="1104300" cy="176100"/>
          </a:xfrm>
          <a:prstGeom prst="straightConnector1">
            <a:avLst/>
          </a:prstGeom>
          <a:noFill/>
          <a:ln w="10350" cap="flat" cmpd="sng">
            <a:solidFill>
              <a:srgbClr val="000000"/>
            </a:solidFill>
            <a:prstDash val="solid"/>
            <a:miter lim="800000"/>
            <a:headEnd type="none" w="sm" len="sm"/>
            <a:tailEnd type="none" w="sm" len="sm"/>
          </a:ln>
        </p:spPr>
      </p:cxnSp>
      <p:sp>
        <p:nvSpPr>
          <p:cNvPr id="2558" name="Google Shape;2558;p36"/>
          <p:cNvSpPr/>
          <p:nvPr/>
        </p:nvSpPr>
        <p:spPr>
          <a:xfrm>
            <a:off x="2699618" y="2540605"/>
            <a:ext cx="1059000" cy="989400"/>
          </a:xfrm>
          <a:prstGeom prst="rect">
            <a:avLst/>
          </a:prstGeom>
          <a:solidFill>
            <a:srgbClr val="747474"/>
          </a:solidFill>
          <a:ln w="10350" cap="flat" cmpd="sng">
            <a:solidFill>
              <a:srgbClr val="08283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grpSp>
        <p:nvGrpSpPr>
          <p:cNvPr id="2559" name="Google Shape;2559;p36"/>
          <p:cNvGrpSpPr/>
          <p:nvPr/>
        </p:nvGrpSpPr>
        <p:grpSpPr>
          <a:xfrm>
            <a:off x="3174985" y="2540689"/>
            <a:ext cx="583194" cy="538370"/>
            <a:chOff x="861338" y="1593726"/>
            <a:chExt cx="2895700" cy="2812800"/>
          </a:xfrm>
        </p:grpSpPr>
        <p:pic>
          <p:nvPicPr>
            <p:cNvPr id="2560" name="Google Shape;2560;p36"/>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561" name="Google Shape;2561;p36"/>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562" name="Google Shape;2562;p36"/>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563" name="Google Shape;2563;p36"/>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564" name="Google Shape;2564;p36"/>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565" name="Google Shape;2565;p36"/>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566" name="Google Shape;2566;p36"/>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567" name="Google Shape;2567;p36"/>
            <p:cNvSpPr/>
            <p:nvPr/>
          </p:nvSpPr>
          <p:spPr>
            <a:xfrm>
              <a:off x="944238" y="1593726"/>
              <a:ext cx="2812800" cy="28128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68" name="Google Shape;2568;p36"/>
            <p:cNvSpPr/>
            <p:nvPr/>
          </p:nvSpPr>
          <p:spPr>
            <a:xfrm>
              <a:off x="1596852" y="2238633"/>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69" name="Google Shape;2569;p36"/>
            <p:cNvSpPr/>
            <p:nvPr/>
          </p:nvSpPr>
          <p:spPr>
            <a:xfrm>
              <a:off x="2792482" y="2226509"/>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0" name="Google Shape;2570;p36"/>
            <p:cNvSpPr/>
            <p:nvPr/>
          </p:nvSpPr>
          <p:spPr>
            <a:xfrm>
              <a:off x="1905139" y="251564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1" name="Google Shape;2571;p36"/>
            <p:cNvSpPr/>
            <p:nvPr/>
          </p:nvSpPr>
          <p:spPr>
            <a:xfrm>
              <a:off x="2526391" y="289485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2" name="Google Shape;2572;p36"/>
            <p:cNvSpPr/>
            <p:nvPr/>
          </p:nvSpPr>
          <p:spPr>
            <a:xfrm>
              <a:off x="1548028" y="3156241"/>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73" name="Google Shape;2573;p36"/>
            <p:cNvSpPr/>
            <p:nvPr/>
          </p:nvSpPr>
          <p:spPr>
            <a:xfrm>
              <a:off x="2386002" y="3800576"/>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4" name="Google Shape;2574;p36"/>
            <p:cNvSpPr/>
            <p:nvPr/>
          </p:nvSpPr>
          <p:spPr>
            <a:xfrm>
              <a:off x="2288803" y="188833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5" name="Google Shape;2575;p36"/>
            <p:cNvSpPr/>
            <p:nvPr/>
          </p:nvSpPr>
          <p:spPr>
            <a:xfrm>
              <a:off x="2039836" y="199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6" name="Google Shape;2576;p36"/>
            <p:cNvSpPr/>
            <p:nvPr/>
          </p:nvSpPr>
          <p:spPr>
            <a:xfrm>
              <a:off x="2331846" y="219519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7" name="Google Shape;2577;p36"/>
            <p:cNvSpPr/>
            <p:nvPr/>
          </p:nvSpPr>
          <p:spPr>
            <a:xfrm>
              <a:off x="1996794" y="22665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8" name="Google Shape;2578;p36"/>
            <p:cNvSpPr/>
            <p:nvPr/>
          </p:nvSpPr>
          <p:spPr>
            <a:xfrm>
              <a:off x="2343048" y="24875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9" name="Google Shape;2579;p36"/>
            <p:cNvSpPr/>
            <p:nvPr/>
          </p:nvSpPr>
          <p:spPr>
            <a:xfrm>
              <a:off x="2388490" y="266744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0" name="Google Shape;2580;p36"/>
            <p:cNvSpPr/>
            <p:nvPr/>
          </p:nvSpPr>
          <p:spPr>
            <a:xfrm>
              <a:off x="2612366" y="269138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1" name="Google Shape;2581;p36"/>
            <p:cNvSpPr/>
            <p:nvPr/>
          </p:nvSpPr>
          <p:spPr>
            <a:xfrm>
              <a:off x="2680210" y="22481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2" name="Google Shape;2582;p36"/>
            <p:cNvSpPr/>
            <p:nvPr/>
          </p:nvSpPr>
          <p:spPr>
            <a:xfrm>
              <a:off x="1953752"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3" name="Google Shape;2583;p36"/>
            <p:cNvSpPr/>
            <p:nvPr/>
          </p:nvSpPr>
          <p:spPr>
            <a:xfrm>
              <a:off x="1618700"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84" name="Google Shape;2584;p36"/>
            <p:cNvSpPr/>
            <p:nvPr/>
          </p:nvSpPr>
          <p:spPr>
            <a:xfrm>
              <a:off x="1494217" y="20788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85" name="Google Shape;2585;p36"/>
            <p:cNvSpPr/>
            <p:nvPr/>
          </p:nvSpPr>
          <p:spPr>
            <a:xfrm>
              <a:off x="1911383" y="24445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6" name="Google Shape;2586;p36"/>
            <p:cNvSpPr/>
            <p:nvPr/>
          </p:nvSpPr>
          <p:spPr>
            <a:xfrm>
              <a:off x="1665843" y="251281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87" name="Google Shape;2587;p36"/>
            <p:cNvSpPr/>
            <p:nvPr/>
          </p:nvSpPr>
          <p:spPr>
            <a:xfrm>
              <a:off x="1698034" y="278530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88" name="Google Shape;2588;p36"/>
            <p:cNvSpPr/>
            <p:nvPr/>
          </p:nvSpPr>
          <p:spPr>
            <a:xfrm>
              <a:off x="2082879" y="301579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9" name="Google Shape;2589;p36"/>
            <p:cNvSpPr/>
            <p:nvPr/>
          </p:nvSpPr>
          <p:spPr>
            <a:xfrm>
              <a:off x="1919500" y="32550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0" name="Google Shape;2590;p36"/>
            <p:cNvSpPr/>
            <p:nvPr/>
          </p:nvSpPr>
          <p:spPr>
            <a:xfrm>
              <a:off x="2245761" y="33722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1" name="Google Shape;2591;p36"/>
            <p:cNvSpPr/>
            <p:nvPr/>
          </p:nvSpPr>
          <p:spPr>
            <a:xfrm>
              <a:off x="3523869" y="258725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2" name="Google Shape;2592;p36"/>
            <p:cNvSpPr/>
            <p:nvPr/>
          </p:nvSpPr>
          <p:spPr>
            <a:xfrm>
              <a:off x="3274902" y="269854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3" name="Google Shape;2593;p36"/>
            <p:cNvSpPr/>
            <p:nvPr/>
          </p:nvSpPr>
          <p:spPr>
            <a:xfrm>
              <a:off x="3566912" y="289411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4" name="Google Shape;2594;p36"/>
            <p:cNvSpPr/>
            <p:nvPr/>
          </p:nvSpPr>
          <p:spPr>
            <a:xfrm>
              <a:off x="3231860" y="29654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5" name="Google Shape;2595;p36"/>
            <p:cNvSpPr/>
            <p:nvPr/>
          </p:nvSpPr>
          <p:spPr>
            <a:xfrm>
              <a:off x="3578114" y="318651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6" name="Google Shape;2596;p36"/>
            <p:cNvSpPr/>
            <p:nvPr/>
          </p:nvSpPr>
          <p:spPr>
            <a:xfrm>
              <a:off x="3517601" y="341854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7" name="Google Shape;2597;p36"/>
            <p:cNvSpPr/>
            <p:nvPr/>
          </p:nvSpPr>
          <p:spPr>
            <a:xfrm>
              <a:off x="3188818"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8" name="Google Shape;2598;p36"/>
            <p:cNvSpPr/>
            <p:nvPr/>
          </p:nvSpPr>
          <p:spPr>
            <a:xfrm>
              <a:off x="2853766"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9" name="Google Shape;2599;p36"/>
            <p:cNvSpPr/>
            <p:nvPr/>
          </p:nvSpPr>
          <p:spPr>
            <a:xfrm>
              <a:off x="2729283" y="27777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0" name="Google Shape;2600;p36"/>
            <p:cNvSpPr/>
            <p:nvPr/>
          </p:nvSpPr>
          <p:spPr>
            <a:xfrm>
              <a:off x="3363408" y="329998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1" name="Google Shape;2601;p36"/>
            <p:cNvSpPr/>
            <p:nvPr/>
          </p:nvSpPr>
          <p:spPr>
            <a:xfrm>
              <a:off x="2900909" y="321173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2" name="Google Shape;2602;p36"/>
            <p:cNvSpPr/>
            <p:nvPr/>
          </p:nvSpPr>
          <p:spPr>
            <a:xfrm>
              <a:off x="2933100" y="348422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3" name="Google Shape;2603;p36"/>
            <p:cNvSpPr/>
            <p:nvPr/>
          </p:nvSpPr>
          <p:spPr>
            <a:xfrm>
              <a:off x="3317945" y="371471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4" name="Google Shape;2604;p36"/>
            <p:cNvSpPr/>
            <p:nvPr/>
          </p:nvSpPr>
          <p:spPr>
            <a:xfrm>
              <a:off x="3154567" y="3953947"/>
              <a:ext cx="42900" cy="42900"/>
            </a:xfrm>
            <a:prstGeom prst="ellipse">
              <a:avLst/>
            </a:prstGeom>
            <a:solidFill>
              <a:srgbClr val="80FF80"/>
            </a:solidFill>
            <a:ln w="517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5" name="Google Shape;2605;p36"/>
            <p:cNvSpPr/>
            <p:nvPr/>
          </p:nvSpPr>
          <p:spPr>
            <a:xfrm>
              <a:off x="1883211" y="34851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6" name="Google Shape;2606;p36"/>
            <p:cNvSpPr/>
            <p:nvPr/>
          </p:nvSpPr>
          <p:spPr>
            <a:xfrm>
              <a:off x="1361435" y="354754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07" name="Google Shape;2607;p36"/>
            <p:cNvSpPr/>
            <p:nvPr/>
          </p:nvSpPr>
          <p:spPr>
            <a:xfrm>
              <a:off x="1894414" y="377751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8" name="Google Shape;2608;p36"/>
            <p:cNvSpPr/>
            <p:nvPr/>
          </p:nvSpPr>
          <p:spPr>
            <a:xfrm>
              <a:off x="1939856" y="395736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9" name="Google Shape;2609;p36"/>
            <p:cNvSpPr/>
            <p:nvPr/>
          </p:nvSpPr>
          <p:spPr>
            <a:xfrm>
              <a:off x="2163732" y="398130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0" name="Google Shape;2610;p36"/>
            <p:cNvSpPr/>
            <p:nvPr/>
          </p:nvSpPr>
          <p:spPr>
            <a:xfrm>
              <a:off x="2231576" y="353803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1" name="Google Shape;2611;p36"/>
            <p:cNvSpPr/>
            <p:nvPr/>
          </p:nvSpPr>
          <p:spPr>
            <a:xfrm>
              <a:off x="1299744" y="28031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2" name="Google Shape;2612;p36"/>
            <p:cNvSpPr/>
            <p:nvPr/>
          </p:nvSpPr>
          <p:spPr>
            <a:xfrm>
              <a:off x="1300121" y="320386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3" name="Google Shape;2613;p36"/>
            <p:cNvSpPr/>
            <p:nvPr/>
          </p:nvSpPr>
          <p:spPr>
            <a:xfrm>
              <a:off x="1462749" y="373447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4" name="Google Shape;2614;p36"/>
            <p:cNvSpPr/>
            <p:nvPr/>
          </p:nvSpPr>
          <p:spPr>
            <a:xfrm>
              <a:off x="2526391" y="35434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5" name="Google Shape;2615;p36"/>
            <p:cNvSpPr/>
            <p:nvPr/>
          </p:nvSpPr>
          <p:spPr>
            <a:xfrm>
              <a:off x="2504870" y="42472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6" name="Google Shape;2616;p36"/>
            <p:cNvSpPr/>
            <p:nvPr/>
          </p:nvSpPr>
          <p:spPr>
            <a:xfrm>
              <a:off x="2157323" y="417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7" name="Google Shape;2617;p36"/>
            <p:cNvSpPr/>
            <p:nvPr/>
          </p:nvSpPr>
          <p:spPr>
            <a:xfrm>
              <a:off x="1791617" y="249807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8" name="Google Shape;2618;p36"/>
            <p:cNvSpPr/>
            <p:nvPr/>
          </p:nvSpPr>
          <p:spPr>
            <a:xfrm>
              <a:off x="1542650" y="260936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9" name="Google Shape;2619;p36"/>
            <p:cNvSpPr/>
            <p:nvPr/>
          </p:nvSpPr>
          <p:spPr>
            <a:xfrm>
              <a:off x="1834660" y="28049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0" name="Google Shape;2620;p36"/>
            <p:cNvSpPr/>
            <p:nvPr/>
          </p:nvSpPr>
          <p:spPr>
            <a:xfrm>
              <a:off x="1499608" y="28762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1" name="Google Shape;2621;p36"/>
            <p:cNvSpPr/>
            <p:nvPr/>
          </p:nvSpPr>
          <p:spPr>
            <a:xfrm>
              <a:off x="1845862" y="309733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2" name="Google Shape;2622;p36"/>
            <p:cNvSpPr/>
            <p:nvPr/>
          </p:nvSpPr>
          <p:spPr>
            <a:xfrm>
              <a:off x="2115180" y="330113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23" name="Google Shape;2623;p36"/>
            <p:cNvSpPr/>
            <p:nvPr/>
          </p:nvSpPr>
          <p:spPr>
            <a:xfrm>
              <a:off x="2183024" y="28578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24" name="Google Shape;2624;p36"/>
            <p:cNvSpPr/>
            <p:nvPr/>
          </p:nvSpPr>
          <p:spPr>
            <a:xfrm>
              <a:off x="1456566"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5" name="Google Shape;2625;p36"/>
            <p:cNvSpPr/>
            <p:nvPr/>
          </p:nvSpPr>
          <p:spPr>
            <a:xfrm>
              <a:off x="1121514"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6" name="Google Shape;2626;p36"/>
            <p:cNvSpPr/>
            <p:nvPr/>
          </p:nvSpPr>
          <p:spPr>
            <a:xfrm>
              <a:off x="1077056" y="269746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7" name="Google Shape;2627;p36"/>
            <p:cNvSpPr/>
            <p:nvPr/>
          </p:nvSpPr>
          <p:spPr>
            <a:xfrm>
              <a:off x="1414197" y="30542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8" name="Google Shape;2628;p36"/>
            <p:cNvSpPr/>
            <p:nvPr/>
          </p:nvSpPr>
          <p:spPr>
            <a:xfrm>
              <a:off x="1200848" y="339504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9" name="Google Shape;2629;p36"/>
            <p:cNvSpPr/>
            <p:nvPr/>
          </p:nvSpPr>
          <p:spPr>
            <a:xfrm>
              <a:off x="1585693" y="36255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30" name="Google Shape;2630;p36"/>
            <p:cNvSpPr/>
            <p:nvPr/>
          </p:nvSpPr>
          <p:spPr>
            <a:xfrm>
              <a:off x="1748575" y="39819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31" name="Google Shape;2631;p36"/>
            <p:cNvSpPr/>
            <p:nvPr/>
          </p:nvSpPr>
          <p:spPr>
            <a:xfrm>
              <a:off x="2902826" y="176972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2" name="Google Shape;2632;p36"/>
            <p:cNvSpPr/>
            <p:nvPr/>
          </p:nvSpPr>
          <p:spPr>
            <a:xfrm>
              <a:off x="3194835" y="19652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3" name="Google Shape;2633;p36"/>
            <p:cNvSpPr/>
            <p:nvPr/>
          </p:nvSpPr>
          <p:spPr>
            <a:xfrm>
              <a:off x="3206038" y="22576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4" name="Google Shape;2634;p36"/>
            <p:cNvSpPr/>
            <p:nvPr/>
          </p:nvSpPr>
          <p:spPr>
            <a:xfrm>
              <a:off x="3251480" y="24375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5" name="Google Shape;2635;p36"/>
            <p:cNvSpPr/>
            <p:nvPr/>
          </p:nvSpPr>
          <p:spPr>
            <a:xfrm>
              <a:off x="3475356" y="246148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6" name="Google Shape;2636;p36"/>
            <p:cNvSpPr/>
            <p:nvPr/>
          </p:nvSpPr>
          <p:spPr>
            <a:xfrm>
              <a:off x="2619316" y="197716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7" name="Google Shape;2637;p36"/>
            <p:cNvSpPr/>
            <p:nvPr/>
          </p:nvSpPr>
          <p:spPr>
            <a:xfrm>
              <a:off x="2528833" y="22829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8" name="Google Shape;2638;p36"/>
            <p:cNvSpPr/>
            <p:nvPr/>
          </p:nvSpPr>
          <p:spPr>
            <a:xfrm>
              <a:off x="2561024" y="255540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9" name="Google Shape;2639;p36"/>
            <p:cNvSpPr/>
            <p:nvPr/>
          </p:nvSpPr>
          <p:spPr>
            <a:xfrm>
              <a:off x="2945869" y="27858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40" name="Google Shape;2640;p36"/>
            <p:cNvSpPr/>
            <p:nvPr/>
          </p:nvSpPr>
          <p:spPr>
            <a:xfrm>
              <a:off x="3108751" y="314231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41" name="Google Shape;2641;p36"/>
            <p:cNvSpPr/>
            <p:nvPr/>
          </p:nvSpPr>
          <p:spPr>
            <a:xfrm>
              <a:off x="2070402" y="1710641"/>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42" name="Google Shape;2642;p36"/>
            <p:cNvSpPr/>
            <p:nvPr/>
          </p:nvSpPr>
          <p:spPr>
            <a:xfrm rot="2619423">
              <a:off x="1121454" y="3919625"/>
              <a:ext cx="579280" cy="178024"/>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43" name="Google Shape;2643;p36"/>
            <p:cNvSpPr/>
            <p:nvPr/>
          </p:nvSpPr>
          <p:spPr>
            <a:xfrm rot="4238142">
              <a:off x="751809" y="3339006"/>
              <a:ext cx="579058" cy="178092"/>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pic>
          <p:nvPicPr>
            <p:cNvPr id="2644" name="Google Shape;2644;p36"/>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645" name="Google Shape;2645;p36"/>
          <p:cNvGrpSpPr/>
          <p:nvPr/>
        </p:nvGrpSpPr>
        <p:grpSpPr>
          <a:xfrm>
            <a:off x="2693143" y="2550852"/>
            <a:ext cx="504720" cy="465237"/>
            <a:chOff x="861338" y="1593726"/>
            <a:chExt cx="2895700" cy="2812800"/>
          </a:xfrm>
        </p:grpSpPr>
        <p:pic>
          <p:nvPicPr>
            <p:cNvPr id="2646" name="Google Shape;2646;p36"/>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647" name="Google Shape;2647;p36"/>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648" name="Google Shape;2648;p36"/>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649" name="Google Shape;2649;p36"/>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650" name="Google Shape;2650;p36"/>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651" name="Google Shape;2651;p36"/>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652" name="Google Shape;2652;p36"/>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653" name="Google Shape;2653;p36"/>
            <p:cNvSpPr/>
            <p:nvPr/>
          </p:nvSpPr>
          <p:spPr>
            <a:xfrm>
              <a:off x="944238" y="1593726"/>
              <a:ext cx="2812800" cy="28128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54" name="Google Shape;2654;p36"/>
            <p:cNvSpPr/>
            <p:nvPr/>
          </p:nvSpPr>
          <p:spPr>
            <a:xfrm>
              <a:off x="1596852" y="2238633"/>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55" name="Google Shape;2655;p36"/>
            <p:cNvSpPr/>
            <p:nvPr/>
          </p:nvSpPr>
          <p:spPr>
            <a:xfrm>
              <a:off x="2792482" y="2226509"/>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56" name="Google Shape;2656;p36"/>
            <p:cNvSpPr/>
            <p:nvPr/>
          </p:nvSpPr>
          <p:spPr>
            <a:xfrm>
              <a:off x="1905139" y="251564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57" name="Google Shape;2657;p36"/>
            <p:cNvSpPr/>
            <p:nvPr/>
          </p:nvSpPr>
          <p:spPr>
            <a:xfrm>
              <a:off x="2526391" y="289485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58" name="Google Shape;2658;p36"/>
            <p:cNvSpPr/>
            <p:nvPr/>
          </p:nvSpPr>
          <p:spPr>
            <a:xfrm>
              <a:off x="1548028" y="3156241"/>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59" name="Google Shape;2659;p36"/>
            <p:cNvSpPr/>
            <p:nvPr/>
          </p:nvSpPr>
          <p:spPr>
            <a:xfrm>
              <a:off x="2386002" y="3800576"/>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0" name="Google Shape;2660;p36"/>
            <p:cNvSpPr/>
            <p:nvPr/>
          </p:nvSpPr>
          <p:spPr>
            <a:xfrm>
              <a:off x="2288803" y="188833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1" name="Google Shape;2661;p36"/>
            <p:cNvSpPr/>
            <p:nvPr/>
          </p:nvSpPr>
          <p:spPr>
            <a:xfrm>
              <a:off x="2039836" y="199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2" name="Google Shape;2662;p36"/>
            <p:cNvSpPr/>
            <p:nvPr/>
          </p:nvSpPr>
          <p:spPr>
            <a:xfrm>
              <a:off x="2331846" y="219519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3" name="Google Shape;2663;p36"/>
            <p:cNvSpPr/>
            <p:nvPr/>
          </p:nvSpPr>
          <p:spPr>
            <a:xfrm>
              <a:off x="1996794" y="22665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4" name="Google Shape;2664;p36"/>
            <p:cNvSpPr/>
            <p:nvPr/>
          </p:nvSpPr>
          <p:spPr>
            <a:xfrm>
              <a:off x="2343048" y="24875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5" name="Google Shape;2665;p36"/>
            <p:cNvSpPr/>
            <p:nvPr/>
          </p:nvSpPr>
          <p:spPr>
            <a:xfrm>
              <a:off x="2388490" y="266744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6" name="Google Shape;2666;p36"/>
            <p:cNvSpPr/>
            <p:nvPr/>
          </p:nvSpPr>
          <p:spPr>
            <a:xfrm>
              <a:off x="2612366" y="269138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7" name="Google Shape;2667;p36"/>
            <p:cNvSpPr/>
            <p:nvPr/>
          </p:nvSpPr>
          <p:spPr>
            <a:xfrm>
              <a:off x="2680210" y="22481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8" name="Google Shape;2668;p36"/>
            <p:cNvSpPr/>
            <p:nvPr/>
          </p:nvSpPr>
          <p:spPr>
            <a:xfrm>
              <a:off x="1953752"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9" name="Google Shape;2669;p36"/>
            <p:cNvSpPr/>
            <p:nvPr/>
          </p:nvSpPr>
          <p:spPr>
            <a:xfrm>
              <a:off x="1618700"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70" name="Google Shape;2670;p36"/>
            <p:cNvSpPr/>
            <p:nvPr/>
          </p:nvSpPr>
          <p:spPr>
            <a:xfrm>
              <a:off x="1494217" y="20788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71" name="Google Shape;2671;p36"/>
            <p:cNvSpPr/>
            <p:nvPr/>
          </p:nvSpPr>
          <p:spPr>
            <a:xfrm>
              <a:off x="1911383" y="24445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2" name="Google Shape;2672;p36"/>
            <p:cNvSpPr/>
            <p:nvPr/>
          </p:nvSpPr>
          <p:spPr>
            <a:xfrm>
              <a:off x="1665843" y="251281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73" name="Google Shape;2673;p36"/>
            <p:cNvSpPr/>
            <p:nvPr/>
          </p:nvSpPr>
          <p:spPr>
            <a:xfrm>
              <a:off x="1698034" y="278530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74" name="Google Shape;2674;p36"/>
            <p:cNvSpPr/>
            <p:nvPr/>
          </p:nvSpPr>
          <p:spPr>
            <a:xfrm>
              <a:off x="2082879" y="301579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5" name="Google Shape;2675;p36"/>
            <p:cNvSpPr/>
            <p:nvPr/>
          </p:nvSpPr>
          <p:spPr>
            <a:xfrm>
              <a:off x="1919500" y="32550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6" name="Google Shape;2676;p36"/>
            <p:cNvSpPr/>
            <p:nvPr/>
          </p:nvSpPr>
          <p:spPr>
            <a:xfrm>
              <a:off x="2245761" y="33722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7" name="Google Shape;2677;p36"/>
            <p:cNvSpPr/>
            <p:nvPr/>
          </p:nvSpPr>
          <p:spPr>
            <a:xfrm>
              <a:off x="3523869" y="258725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8" name="Google Shape;2678;p36"/>
            <p:cNvSpPr/>
            <p:nvPr/>
          </p:nvSpPr>
          <p:spPr>
            <a:xfrm>
              <a:off x="3274902" y="269854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9" name="Google Shape;2679;p36"/>
            <p:cNvSpPr/>
            <p:nvPr/>
          </p:nvSpPr>
          <p:spPr>
            <a:xfrm>
              <a:off x="3566912" y="289411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0" name="Google Shape;2680;p36"/>
            <p:cNvSpPr/>
            <p:nvPr/>
          </p:nvSpPr>
          <p:spPr>
            <a:xfrm>
              <a:off x="3231860" y="29654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1" name="Google Shape;2681;p36"/>
            <p:cNvSpPr/>
            <p:nvPr/>
          </p:nvSpPr>
          <p:spPr>
            <a:xfrm>
              <a:off x="3578114" y="318651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2" name="Google Shape;2682;p36"/>
            <p:cNvSpPr/>
            <p:nvPr/>
          </p:nvSpPr>
          <p:spPr>
            <a:xfrm>
              <a:off x="3517601" y="341854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3" name="Google Shape;2683;p36"/>
            <p:cNvSpPr/>
            <p:nvPr/>
          </p:nvSpPr>
          <p:spPr>
            <a:xfrm>
              <a:off x="3188818"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4" name="Google Shape;2684;p36"/>
            <p:cNvSpPr/>
            <p:nvPr/>
          </p:nvSpPr>
          <p:spPr>
            <a:xfrm>
              <a:off x="2853766"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5" name="Google Shape;2685;p36"/>
            <p:cNvSpPr/>
            <p:nvPr/>
          </p:nvSpPr>
          <p:spPr>
            <a:xfrm>
              <a:off x="2729283" y="27777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6" name="Google Shape;2686;p36"/>
            <p:cNvSpPr/>
            <p:nvPr/>
          </p:nvSpPr>
          <p:spPr>
            <a:xfrm>
              <a:off x="3363408" y="329998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7" name="Google Shape;2687;p36"/>
            <p:cNvSpPr/>
            <p:nvPr/>
          </p:nvSpPr>
          <p:spPr>
            <a:xfrm>
              <a:off x="2900909" y="321173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8" name="Google Shape;2688;p36"/>
            <p:cNvSpPr/>
            <p:nvPr/>
          </p:nvSpPr>
          <p:spPr>
            <a:xfrm>
              <a:off x="2933100" y="348422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9" name="Google Shape;2689;p36"/>
            <p:cNvSpPr/>
            <p:nvPr/>
          </p:nvSpPr>
          <p:spPr>
            <a:xfrm>
              <a:off x="3317945" y="371471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0" name="Google Shape;2690;p36"/>
            <p:cNvSpPr/>
            <p:nvPr/>
          </p:nvSpPr>
          <p:spPr>
            <a:xfrm>
              <a:off x="3154567" y="3953947"/>
              <a:ext cx="42900" cy="42900"/>
            </a:xfrm>
            <a:prstGeom prst="ellipse">
              <a:avLst/>
            </a:prstGeom>
            <a:solidFill>
              <a:srgbClr val="80FF80"/>
            </a:solidFill>
            <a:ln w="517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1" name="Google Shape;2691;p36"/>
            <p:cNvSpPr/>
            <p:nvPr/>
          </p:nvSpPr>
          <p:spPr>
            <a:xfrm>
              <a:off x="1883211" y="34851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2" name="Google Shape;2692;p36"/>
            <p:cNvSpPr/>
            <p:nvPr/>
          </p:nvSpPr>
          <p:spPr>
            <a:xfrm>
              <a:off x="1361435" y="354754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93" name="Google Shape;2693;p36"/>
            <p:cNvSpPr/>
            <p:nvPr/>
          </p:nvSpPr>
          <p:spPr>
            <a:xfrm>
              <a:off x="1894414" y="377751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4" name="Google Shape;2694;p36"/>
            <p:cNvSpPr/>
            <p:nvPr/>
          </p:nvSpPr>
          <p:spPr>
            <a:xfrm>
              <a:off x="1939856" y="395736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5" name="Google Shape;2695;p36"/>
            <p:cNvSpPr/>
            <p:nvPr/>
          </p:nvSpPr>
          <p:spPr>
            <a:xfrm>
              <a:off x="2163732" y="398130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6" name="Google Shape;2696;p36"/>
            <p:cNvSpPr/>
            <p:nvPr/>
          </p:nvSpPr>
          <p:spPr>
            <a:xfrm>
              <a:off x="2231576" y="353803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7" name="Google Shape;2697;p36"/>
            <p:cNvSpPr/>
            <p:nvPr/>
          </p:nvSpPr>
          <p:spPr>
            <a:xfrm>
              <a:off x="1299744" y="28031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98" name="Google Shape;2698;p36"/>
            <p:cNvSpPr/>
            <p:nvPr/>
          </p:nvSpPr>
          <p:spPr>
            <a:xfrm>
              <a:off x="1300121" y="320386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99" name="Google Shape;2699;p36"/>
            <p:cNvSpPr/>
            <p:nvPr/>
          </p:nvSpPr>
          <p:spPr>
            <a:xfrm>
              <a:off x="1462749" y="373447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0" name="Google Shape;2700;p36"/>
            <p:cNvSpPr/>
            <p:nvPr/>
          </p:nvSpPr>
          <p:spPr>
            <a:xfrm>
              <a:off x="2526391" y="35434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01" name="Google Shape;2701;p36"/>
            <p:cNvSpPr/>
            <p:nvPr/>
          </p:nvSpPr>
          <p:spPr>
            <a:xfrm>
              <a:off x="2504870" y="42472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02" name="Google Shape;2702;p36"/>
            <p:cNvSpPr/>
            <p:nvPr/>
          </p:nvSpPr>
          <p:spPr>
            <a:xfrm>
              <a:off x="2157323" y="417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03" name="Google Shape;2703;p36"/>
            <p:cNvSpPr/>
            <p:nvPr/>
          </p:nvSpPr>
          <p:spPr>
            <a:xfrm>
              <a:off x="1791617" y="249807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4" name="Google Shape;2704;p36"/>
            <p:cNvSpPr/>
            <p:nvPr/>
          </p:nvSpPr>
          <p:spPr>
            <a:xfrm>
              <a:off x="1542650" y="260936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5" name="Google Shape;2705;p36"/>
            <p:cNvSpPr/>
            <p:nvPr/>
          </p:nvSpPr>
          <p:spPr>
            <a:xfrm>
              <a:off x="1834660" y="28049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6" name="Google Shape;2706;p36"/>
            <p:cNvSpPr/>
            <p:nvPr/>
          </p:nvSpPr>
          <p:spPr>
            <a:xfrm>
              <a:off x="1499608" y="28762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7" name="Google Shape;2707;p36"/>
            <p:cNvSpPr/>
            <p:nvPr/>
          </p:nvSpPr>
          <p:spPr>
            <a:xfrm>
              <a:off x="1845862" y="309733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8" name="Google Shape;2708;p36"/>
            <p:cNvSpPr/>
            <p:nvPr/>
          </p:nvSpPr>
          <p:spPr>
            <a:xfrm>
              <a:off x="2115180" y="330113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09" name="Google Shape;2709;p36"/>
            <p:cNvSpPr/>
            <p:nvPr/>
          </p:nvSpPr>
          <p:spPr>
            <a:xfrm>
              <a:off x="2183024" y="28578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10" name="Google Shape;2710;p36"/>
            <p:cNvSpPr/>
            <p:nvPr/>
          </p:nvSpPr>
          <p:spPr>
            <a:xfrm>
              <a:off x="1456566"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1" name="Google Shape;2711;p36"/>
            <p:cNvSpPr/>
            <p:nvPr/>
          </p:nvSpPr>
          <p:spPr>
            <a:xfrm>
              <a:off x="1121514"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2" name="Google Shape;2712;p36"/>
            <p:cNvSpPr/>
            <p:nvPr/>
          </p:nvSpPr>
          <p:spPr>
            <a:xfrm>
              <a:off x="1077056" y="269746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3" name="Google Shape;2713;p36"/>
            <p:cNvSpPr/>
            <p:nvPr/>
          </p:nvSpPr>
          <p:spPr>
            <a:xfrm>
              <a:off x="1414197" y="30542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4" name="Google Shape;2714;p36"/>
            <p:cNvSpPr/>
            <p:nvPr/>
          </p:nvSpPr>
          <p:spPr>
            <a:xfrm>
              <a:off x="1200848" y="339504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5" name="Google Shape;2715;p36"/>
            <p:cNvSpPr/>
            <p:nvPr/>
          </p:nvSpPr>
          <p:spPr>
            <a:xfrm>
              <a:off x="1585693" y="36255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6" name="Google Shape;2716;p36"/>
            <p:cNvSpPr/>
            <p:nvPr/>
          </p:nvSpPr>
          <p:spPr>
            <a:xfrm>
              <a:off x="1748575" y="39819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7" name="Google Shape;2717;p36"/>
            <p:cNvSpPr/>
            <p:nvPr/>
          </p:nvSpPr>
          <p:spPr>
            <a:xfrm>
              <a:off x="2902826" y="176972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18" name="Google Shape;2718;p36"/>
            <p:cNvSpPr/>
            <p:nvPr/>
          </p:nvSpPr>
          <p:spPr>
            <a:xfrm>
              <a:off x="3194835" y="19652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19" name="Google Shape;2719;p36"/>
            <p:cNvSpPr/>
            <p:nvPr/>
          </p:nvSpPr>
          <p:spPr>
            <a:xfrm>
              <a:off x="3206038" y="22576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0" name="Google Shape;2720;p36"/>
            <p:cNvSpPr/>
            <p:nvPr/>
          </p:nvSpPr>
          <p:spPr>
            <a:xfrm>
              <a:off x="3251480" y="24375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1" name="Google Shape;2721;p36"/>
            <p:cNvSpPr/>
            <p:nvPr/>
          </p:nvSpPr>
          <p:spPr>
            <a:xfrm>
              <a:off x="3475356" y="246148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2" name="Google Shape;2722;p36"/>
            <p:cNvSpPr/>
            <p:nvPr/>
          </p:nvSpPr>
          <p:spPr>
            <a:xfrm>
              <a:off x="2619316" y="197716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3" name="Google Shape;2723;p36"/>
            <p:cNvSpPr/>
            <p:nvPr/>
          </p:nvSpPr>
          <p:spPr>
            <a:xfrm>
              <a:off x="2528833" y="22829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4" name="Google Shape;2724;p36"/>
            <p:cNvSpPr/>
            <p:nvPr/>
          </p:nvSpPr>
          <p:spPr>
            <a:xfrm>
              <a:off x="2561024" y="255540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5" name="Google Shape;2725;p36"/>
            <p:cNvSpPr/>
            <p:nvPr/>
          </p:nvSpPr>
          <p:spPr>
            <a:xfrm>
              <a:off x="2945869" y="27858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6" name="Google Shape;2726;p36"/>
            <p:cNvSpPr/>
            <p:nvPr/>
          </p:nvSpPr>
          <p:spPr>
            <a:xfrm>
              <a:off x="3108751" y="314231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7" name="Google Shape;2727;p36"/>
            <p:cNvSpPr/>
            <p:nvPr/>
          </p:nvSpPr>
          <p:spPr>
            <a:xfrm>
              <a:off x="2070402" y="1710641"/>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8" name="Google Shape;2728;p36"/>
            <p:cNvSpPr/>
            <p:nvPr/>
          </p:nvSpPr>
          <p:spPr>
            <a:xfrm rot="2619423">
              <a:off x="1121454" y="3919625"/>
              <a:ext cx="579280" cy="178024"/>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29" name="Google Shape;2729;p36"/>
            <p:cNvSpPr/>
            <p:nvPr/>
          </p:nvSpPr>
          <p:spPr>
            <a:xfrm rot="4238142">
              <a:off x="751809" y="3339006"/>
              <a:ext cx="579058" cy="178092"/>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pic>
          <p:nvPicPr>
            <p:cNvPr id="2730" name="Google Shape;2730;p36"/>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731" name="Google Shape;2731;p36"/>
          <p:cNvGrpSpPr/>
          <p:nvPr/>
        </p:nvGrpSpPr>
        <p:grpSpPr>
          <a:xfrm>
            <a:off x="2835980" y="2984247"/>
            <a:ext cx="583194" cy="538370"/>
            <a:chOff x="861338" y="1593726"/>
            <a:chExt cx="2895700" cy="2812800"/>
          </a:xfrm>
        </p:grpSpPr>
        <p:pic>
          <p:nvPicPr>
            <p:cNvPr id="2732" name="Google Shape;2732;p36"/>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733" name="Google Shape;2733;p36"/>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734" name="Google Shape;2734;p36"/>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735" name="Google Shape;2735;p36"/>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736" name="Google Shape;2736;p36"/>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737" name="Google Shape;2737;p36"/>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738" name="Google Shape;2738;p36"/>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739" name="Google Shape;2739;p36"/>
            <p:cNvSpPr/>
            <p:nvPr/>
          </p:nvSpPr>
          <p:spPr>
            <a:xfrm>
              <a:off x="944238" y="1593726"/>
              <a:ext cx="2812800" cy="28128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40" name="Google Shape;2740;p36"/>
            <p:cNvSpPr/>
            <p:nvPr/>
          </p:nvSpPr>
          <p:spPr>
            <a:xfrm>
              <a:off x="1596852" y="2238633"/>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41" name="Google Shape;2741;p36"/>
            <p:cNvSpPr/>
            <p:nvPr/>
          </p:nvSpPr>
          <p:spPr>
            <a:xfrm>
              <a:off x="2792482" y="2226509"/>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2" name="Google Shape;2742;p36"/>
            <p:cNvSpPr/>
            <p:nvPr/>
          </p:nvSpPr>
          <p:spPr>
            <a:xfrm>
              <a:off x="1905139" y="251564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3" name="Google Shape;2743;p36"/>
            <p:cNvSpPr/>
            <p:nvPr/>
          </p:nvSpPr>
          <p:spPr>
            <a:xfrm>
              <a:off x="2526391" y="289485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4" name="Google Shape;2744;p36"/>
            <p:cNvSpPr/>
            <p:nvPr/>
          </p:nvSpPr>
          <p:spPr>
            <a:xfrm>
              <a:off x="1548028" y="3156241"/>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45" name="Google Shape;2745;p36"/>
            <p:cNvSpPr/>
            <p:nvPr/>
          </p:nvSpPr>
          <p:spPr>
            <a:xfrm>
              <a:off x="2386002" y="3800576"/>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6" name="Google Shape;2746;p36"/>
            <p:cNvSpPr/>
            <p:nvPr/>
          </p:nvSpPr>
          <p:spPr>
            <a:xfrm>
              <a:off x="2288803" y="188833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7" name="Google Shape;2747;p36"/>
            <p:cNvSpPr/>
            <p:nvPr/>
          </p:nvSpPr>
          <p:spPr>
            <a:xfrm>
              <a:off x="2039836" y="199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8" name="Google Shape;2748;p36"/>
            <p:cNvSpPr/>
            <p:nvPr/>
          </p:nvSpPr>
          <p:spPr>
            <a:xfrm>
              <a:off x="2331846" y="219519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9" name="Google Shape;2749;p36"/>
            <p:cNvSpPr/>
            <p:nvPr/>
          </p:nvSpPr>
          <p:spPr>
            <a:xfrm>
              <a:off x="1996794" y="22665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0" name="Google Shape;2750;p36"/>
            <p:cNvSpPr/>
            <p:nvPr/>
          </p:nvSpPr>
          <p:spPr>
            <a:xfrm>
              <a:off x="2343048" y="24875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1" name="Google Shape;2751;p36"/>
            <p:cNvSpPr/>
            <p:nvPr/>
          </p:nvSpPr>
          <p:spPr>
            <a:xfrm>
              <a:off x="2388490" y="266744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2" name="Google Shape;2752;p36"/>
            <p:cNvSpPr/>
            <p:nvPr/>
          </p:nvSpPr>
          <p:spPr>
            <a:xfrm>
              <a:off x="2612366" y="269138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3" name="Google Shape;2753;p36"/>
            <p:cNvSpPr/>
            <p:nvPr/>
          </p:nvSpPr>
          <p:spPr>
            <a:xfrm>
              <a:off x="2680210" y="22481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4" name="Google Shape;2754;p36"/>
            <p:cNvSpPr/>
            <p:nvPr/>
          </p:nvSpPr>
          <p:spPr>
            <a:xfrm>
              <a:off x="1953752"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5" name="Google Shape;2755;p36"/>
            <p:cNvSpPr/>
            <p:nvPr/>
          </p:nvSpPr>
          <p:spPr>
            <a:xfrm>
              <a:off x="1618700"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56" name="Google Shape;2756;p36"/>
            <p:cNvSpPr/>
            <p:nvPr/>
          </p:nvSpPr>
          <p:spPr>
            <a:xfrm>
              <a:off x="1494217" y="20788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57" name="Google Shape;2757;p36"/>
            <p:cNvSpPr/>
            <p:nvPr/>
          </p:nvSpPr>
          <p:spPr>
            <a:xfrm>
              <a:off x="1911383" y="24445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8" name="Google Shape;2758;p36"/>
            <p:cNvSpPr/>
            <p:nvPr/>
          </p:nvSpPr>
          <p:spPr>
            <a:xfrm>
              <a:off x="1665843" y="251281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59" name="Google Shape;2759;p36"/>
            <p:cNvSpPr/>
            <p:nvPr/>
          </p:nvSpPr>
          <p:spPr>
            <a:xfrm>
              <a:off x="1698034" y="278530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60" name="Google Shape;2760;p36"/>
            <p:cNvSpPr/>
            <p:nvPr/>
          </p:nvSpPr>
          <p:spPr>
            <a:xfrm>
              <a:off x="2082879" y="301579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1" name="Google Shape;2761;p36"/>
            <p:cNvSpPr/>
            <p:nvPr/>
          </p:nvSpPr>
          <p:spPr>
            <a:xfrm>
              <a:off x="1919500" y="32550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2" name="Google Shape;2762;p36"/>
            <p:cNvSpPr/>
            <p:nvPr/>
          </p:nvSpPr>
          <p:spPr>
            <a:xfrm>
              <a:off x="2245761" y="33722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3" name="Google Shape;2763;p36"/>
            <p:cNvSpPr/>
            <p:nvPr/>
          </p:nvSpPr>
          <p:spPr>
            <a:xfrm>
              <a:off x="3523869" y="258725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4" name="Google Shape;2764;p36"/>
            <p:cNvSpPr/>
            <p:nvPr/>
          </p:nvSpPr>
          <p:spPr>
            <a:xfrm>
              <a:off x="3274902" y="269854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5" name="Google Shape;2765;p36"/>
            <p:cNvSpPr/>
            <p:nvPr/>
          </p:nvSpPr>
          <p:spPr>
            <a:xfrm>
              <a:off x="3566912" y="289411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6" name="Google Shape;2766;p36"/>
            <p:cNvSpPr/>
            <p:nvPr/>
          </p:nvSpPr>
          <p:spPr>
            <a:xfrm>
              <a:off x="3231860" y="29654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7" name="Google Shape;2767;p36"/>
            <p:cNvSpPr/>
            <p:nvPr/>
          </p:nvSpPr>
          <p:spPr>
            <a:xfrm>
              <a:off x="3578114" y="318651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8" name="Google Shape;2768;p36"/>
            <p:cNvSpPr/>
            <p:nvPr/>
          </p:nvSpPr>
          <p:spPr>
            <a:xfrm>
              <a:off x="3517601" y="341854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9" name="Google Shape;2769;p36"/>
            <p:cNvSpPr/>
            <p:nvPr/>
          </p:nvSpPr>
          <p:spPr>
            <a:xfrm>
              <a:off x="3188818"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0" name="Google Shape;2770;p36"/>
            <p:cNvSpPr/>
            <p:nvPr/>
          </p:nvSpPr>
          <p:spPr>
            <a:xfrm>
              <a:off x="2853766"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1" name="Google Shape;2771;p36"/>
            <p:cNvSpPr/>
            <p:nvPr/>
          </p:nvSpPr>
          <p:spPr>
            <a:xfrm>
              <a:off x="2729283" y="27777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2" name="Google Shape;2772;p36"/>
            <p:cNvSpPr/>
            <p:nvPr/>
          </p:nvSpPr>
          <p:spPr>
            <a:xfrm>
              <a:off x="3363408" y="329998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3" name="Google Shape;2773;p36"/>
            <p:cNvSpPr/>
            <p:nvPr/>
          </p:nvSpPr>
          <p:spPr>
            <a:xfrm>
              <a:off x="2900909" y="321173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4" name="Google Shape;2774;p36"/>
            <p:cNvSpPr/>
            <p:nvPr/>
          </p:nvSpPr>
          <p:spPr>
            <a:xfrm>
              <a:off x="2933100" y="348422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5" name="Google Shape;2775;p36"/>
            <p:cNvSpPr/>
            <p:nvPr/>
          </p:nvSpPr>
          <p:spPr>
            <a:xfrm>
              <a:off x="3317945" y="371471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6" name="Google Shape;2776;p36"/>
            <p:cNvSpPr/>
            <p:nvPr/>
          </p:nvSpPr>
          <p:spPr>
            <a:xfrm>
              <a:off x="3154567" y="3953947"/>
              <a:ext cx="42900" cy="42900"/>
            </a:xfrm>
            <a:prstGeom prst="ellipse">
              <a:avLst/>
            </a:prstGeom>
            <a:solidFill>
              <a:srgbClr val="80FF80"/>
            </a:solidFill>
            <a:ln w="517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7" name="Google Shape;2777;p36"/>
            <p:cNvSpPr/>
            <p:nvPr/>
          </p:nvSpPr>
          <p:spPr>
            <a:xfrm>
              <a:off x="1883211" y="34851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8" name="Google Shape;2778;p36"/>
            <p:cNvSpPr/>
            <p:nvPr/>
          </p:nvSpPr>
          <p:spPr>
            <a:xfrm>
              <a:off x="1361435" y="354754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79" name="Google Shape;2779;p36"/>
            <p:cNvSpPr/>
            <p:nvPr/>
          </p:nvSpPr>
          <p:spPr>
            <a:xfrm>
              <a:off x="1894414" y="377751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0" name="Google Shape;2780;p36"/>
            <p:cNvSpPr/>
            <p:nvPr/>
          </p:nvSpPr>
          <p:spPr>
            <a:xfrm>
              <a:off x="1939856" y="395736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1" name="Google Shape;2781;p36"/>
            <p:cNvSpPr/>
            <p:nvPr/>
          </p:nvSpPr>
          <p:spPr>
            <a:xfrm>
              <a:off x="2163732" y="398130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2" name="Google Shape;2782;p36"/>
            <p:cNvSpPr/>
            <p:nvPr/>
          </p:nvSpPr>
          <p:spPr>
            <a:xfrm>
              <a:off x="2231576" y="353803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3" name="Google Shape;2783;p36"/>
            <p:cNvSpPr/>
            <p:nvPr/>
          </p:nvSpPr>
          <p:spPr>
            <a:xfrm>
              <a:off x="1299744" y="28031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84" name="Google Shape;2784;p36"/>
            <p:cNvSpPr/>
            <p:nvPr/>
          </p:nvSpPr>
          <p:spPr>
            <a:xfrm>
              <a:off x="1300121" y="320386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85" name="Google Shape;2785;p36"/>
            <p:cNvSpPr/>
            <p:nvPr/>
          </p:nvSpPr>
          <p:spPr>
            <a:xfrm>
              <a:off x="1462749" y="373447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86" name="Google Shape;2786;p36"/>
            <p:cNvSpPr/>
            <p:nvPr/>
          </p:nvSpPr>
          <p:spPr>
            <a:xfrm>
              <a:off x="2526391" y="35434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7" name="Google Shape;2787;p36"/>
            <p:cNvSpPr/>
            <p:nvPr/>
          </p:nvSpPr>
          <p:spPr>
            <a:xfrm>
              <a:off x="2504870" y="42472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8" name="Google Shape;2788;p36"/>
            <p:cNvSpPr/>
            <p:nvPr/>
          </p:nvSpPr>
          <p:spPr>
            <a:xfrm>
              <a:off x="2157323" y="417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9" name="Google Shape;2789;p36"/>
            <p:cNvSpPr/>
            <p:nvPr/>
          </p:nvSpPr>
          <p:spPr>
            <a:xfrm>
              <a:off x="1791617" y="249807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0" name="Google Shape;2790;p36"/>
            <p:cNvSpPr/>
            <p:nvPr/>
          </p:nvSpPr>
          <p:spPr>
            <a:xfrm>
              <a:off x="1542650" y="260936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1" name="Google Shape;2791;p36"/>
            <p:cNvSpPr/>
            <p:nvPr/>
          </p:nvSpPr>
          <p:spPr>
            <a:xfrm>
              <a:off x="1834660" y="28049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2" name="Google Shape;2792;p36"/>
            <p:cNvSpPr/>
            <p:nvPr/>
          </p:nvSpPr>
          <p:spPr>
            <a:xfrm>
              <a:off x="1499608" y="28762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3" name="Google Shape;2793;p36"/>
            <p:cNvSpPr/>
            <p:nvPr/>
          </p:nvSpPr>
          <p:spPr>
            <a:xfrm>
              <a:off x="1845862" y="309733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4" name="Google Shape;2794;p36"/>
            <p:cNvSpPr/>
            <p:nvPr/>
          </p:nvSpPr>
          <p:spPr>
            <a:xfrm>
              <a:off x="2115180" y="330113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95" name="Google Shape;2795;p36"/>
            <p:cNvSpPr/>
            <p:nvPr/>
          </p:nvSpPr>
          <p:spPr>
            <a:xfrm>
              <a:off x="2183024" y="28578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96" name="Google Shape;2796;p36"/>
            <p:cNvSpPr/>
            <p:nvPr/>
          </p:nvSpPr>
          <p:spPr>
            <a:xfrm>
              <a:off x="1456566"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7" name="Google Shape;2797;p36"/>
            <p:cNvSpPr/>
            <p:nvPr/>
          </p:nvSpPr>
          <p:spPr>
            <a:xfrm>
              <a:off x="1121514"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8" name="Google Shape;2798;p36"/>
            <p:cNvSpPr/>
            <p:nvPr/>
          </p:nvSpPr>
          <p:spPr>
            <a:xfrm>
              <a:off x="1077056" y="269746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9" name="Google Shape;2799;p36"/>
            <p:cNvSpPr/>
            <p:nvPr/>
          </p:nvSpPr>
          <p:spPr>
            <a:xfrm>
              <a:off x="1414197" y="30542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00" name="Google Shape;2800;p36"/>
            <p:cNvSpPr/>
            <p:nvPr/>
          </p:nvSpPr>
          <p:spPr>
            <a:xfrm>
              <a:off x="1200848" y="339504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01" name="Google Shape;2801;p36"/>
            <p:cNvSpPr/>
            <p:nvPr/>
          </p:nvSpPr>
          <p:spPr>
            <a:xfrm>
              <a:off x="1585693" y="36255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02" name="Google Shape;2802;p36"/>
            <p:cNvSpPr/>
            <p:nvPr/>
          </p:nvSpPr>
          <p:spPr>
            <a:xfrm>
              <a:off x="1748575" y="39819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03" name="Google Shape;2803;p36"/>
            <p:cNvSpPr/>
            <p:nvPr/>
          </p:nvSpPr>
          <p:spPr>
            <a:xfrm>
              <a:off x="2902826" y="176972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4" name="Google Shape;2804;p36"/>
            <p:cNvSpPr/>
            <p:nvPr/>
          </p:nvSpPr>
          <p:spPr>
            <a:xfrm>
              <a:off x="3194835" y="19652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5" name="Google Shape;2805;p36"/>
            <p:cNvSpPr/>
            <p:nvPr/>
          </p:nvSpPr>
          <p:spPr>
            <a:xfrm>
              <a:off x="3206038" y="22576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6" name="Google Shape;2806;p36"/>
            <p:cNvSpPr/>
            <p:nvPr/>
          </p:nvSpPr>
          <p:spPr>
            <a:xfrm>
              <a:off x="3251480" y="24375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7" name="Google Shape;2807;p36"/>
            <p:cNvSpPr/>
            <p:nvPr/>
          </p:nvSpPr>
          <p:spPr>
            <a:xfrm>
              <a:off x="3475356" y="246148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8" name="Google Shape;2808;p36"/>
            <p:cNvSpPr/>
            <p:nvPr/>
          </p:nvSpPr>
          <p:spPr>
            <a:xfrm>
              <a:off x="2619316" y="197716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9" name="Google Shape;2809;p36"/>
            <p:cNvSpPr/>
            <p:nvPr/>
          </p:nvSpPr>
          <p:spPr>
            <a:xfrm>
              <a:off x="2528833" y="22829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0" name="Google Shape;2810;p36"/>
            <p:cNvSpPr/>
            <p:nvPr/>
          </p:nvSpPr>
          <p:spPr>
            <a:xfrm>
              <a:off x="2561024" y="255540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1" name="Google Shape;2811;p36"/>
            <p:cNvSpPr/>
            <p:nvPr/>
          </p:nvSpPr>
          <p:spPr>
            <a:xfrm>
              <a:off x="2945869" y="27858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2" name="Google Shape;2812;p36"/>
            <p:cNvSpPr/>
            <p:nvPr/>
          </p:nvSpPr>
          <p:spPr>
            <a:xfrm>
              <a:off x="3108751" y="314231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3" name="Google Shape;2813;p36"/>
            <p:cNvSpPr/>
            <p:nvPr/>
          </p:nvSpPr>
          <p:spPr>
            <a:xfrm>
              <a:off x="2070402" y="1710641"/>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4" name="Google Shape;2814;p36"/>
            <p:cNvSpPr/>
            <p:nvPr/>
          </p:nvSpPr>
          <p:spPr>
            <a:xfrm rot="2619423">
              <a:off x="1121454" y="3919625"/>
              <a:ext cx="579280" cy="178024"/>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15" name="Google Shape;2815;p36"/>
            <p:cNvSpPr/>
            <p:nvPr/>
          </p:nvSpPr>
          <p:spPr>
            <a:xfrm rot="4238142">
              <a:off x="751809" y="3339006"/>
              <a:ext cx="579058" cy="178092"/>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pic>
          <p:nvPicPr>
            <p:cNvPr id="2816" name="Google Shape;2816;p36"/>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817" name="Google Shape;2817;p36"/>
          <p:cNvGrpSpPr/>
          <p:nvPr/>
        </p:nvGrpSpPr>
        <p:grpSpPr>
          <a:xfrm>
            <a:off x="2559100" y="2256544"/>
            <a:ext cx="463716" cy="454759"/>
            <a:chOff x="2669487" y="1048029"/>
            <a:chExt cx="792000" cy="835800"/>
          </a:xfrm>
        </p:grpSpPr>
        <p:cxnSp>
          <p:nvCxnSpPr>
            <p:cNvPr id="2818" name="Google Shape;2818;p36"/>
            <p:cNvCxnSpPr>
              <a:stCxn id="2819" idx="2"/>
              <a:endCxn id="2656" idx="7"/>
            </p:cNvCxnSpPr>
            <p:nvPr/>
          </p:nvCxnSpPr>
          <p:spPr>
            <a:xfrm>
              <a:off x="3065487" y="1336029"/>
              <a:ext cx="227700" cy="547800"/>
            </a:xfrm>
            <a:prstGeom prst="straightConnector1">
              <a:avLst/>
            </a:prstGeom>
            <a:noFill/>
            <a:ln w="6925" cap="flat" cmpd="sng">
              <a:solidFill>
                <a:srgbClr val="262626"/>
              </a:solidFill>
              <a:prstDash val="solid"/>
              <a:miter lim="800000"/>
              <a:headEnd type="none" w="sm" len="sm"/>
              <a:tailEnd type="none" w="sm" len="sm"/>
            </a:ln>
          </p:spPr>
        </p:cxnSp>
        <p:sp>
          <p:nvSpPr>
            <p:cNvPr id="2819" name="Google Shape;2819;p36"/>
            <p:cNvSpPr/>
            <p:nvPr/>
          </p:nvSpPr>
          <p:spPr>
            <a:xfrm>
              <a:off x="2669487" y="1048029"/>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Grains</a:t>
              </a:r>
              <a:endParaRPr sz="652">
                <a:solidFill>
                  <a:srgbClr val="262626"/>
                </a:solidFill>
                <a:latin typeface="Arial"/>
                <a:ea typeface="Arial"/>
                <a:cs typeface="Arial"/>
                <a:sym typeface="Arial"/>
              </a:endParaRPr>
            </a:p>
          </p:txBody>
        </p:sp>
      </p:grpSp>
      <p:cxnSp>
        <p:nvCxnSpPr>
          <p:cNvPr id="2820" name="Google Shape;2820;p36"/>
          <p:cNvCxnSpPr>
            <a:stCxn id="2819" idx="2"/>
            <a:endCxn id="2641" idx="5"/>
          </p:cNvCxnSpPr>
          <p:nvPr/>
        </p:nvCxnSpPr>
        <p:spPr>
          <a:xfrm>
            <a:off x="2790958" y="2413245"/>
            <a:ext cx="661200" cy="181800"/>
          </a:xfrm>
          <a:prstGeom prst="straightConnector1">
            <a:avLst/>
          </a:prstGeom>
          <a:noFill/>
          <a:ln w="6925" cap="flat" cmpd="sng">
            <a:solidFill>
              <a:srgbClr val="262626"/>
            </a:solidFill>
            <a:prstDash val="solid"/>
            <a:miter lim="800000"/>
            <a:headEnd type="none" w="sm" len="sm"/>
            <a:tailEnd type="none" w="sm" len="sm"/>
          </a:ln>
        </p:spPr>
      </p:cxnSp>
      <p:grpSp>
        <p:nvGrpSpPr>
          <p:cNvPr id="2821" name="Google Shape;2821;p36"/>
          <p:cNvGrpSpPr/>
          <p:nvPr/>
        </p:nvGrpSpPr>
        <p:grpSpPr>
          <a:xfrm>
            <a:off x="3125916" y="2192811"/>
            <a:ext cx="847757" cy="426194"/>
            <a:chOff x="2703097" y="980611"/>
            <a:chExt cx="792000" cy="783300"/>
          </a:xfrm>
        </p:grpSpPr>
        <p:cxnSp>
          <p:nvCxnSpPr>
            <p:cNvPr id="2822" name="Google Shape;2822;p36"/>
            <p:cNvCxnSpPr>
              <a:stCxn id="2823" idx="2"/>
              <a:endCxn id="2653" idx="7"/>
            </p:cNvCxnSpPr>
            <p:nvPr/>
          </p:nvCxnSpPr>
          <p:spPr>
            <a:xfrm flipH="1">
              <a:off x="2703097" y="1268611"/>
              <a:ext cx="396000" cy="495300"/>
            </a:xfrm>
            <a:prstGeom prst="straightConnector1">
              <a:avLst/>
            </a:prstGeom>
            <a:noFill/>
            <a:ln w="6925" cap="flat" cmpd="sng">
              <a:solidFill>
                <a:srgbClr val="262626"/>
              </a:solidFill>
              <a:prstDash val="solid"/>
              <a:miter lim="800000"/>
              <a:headEnd type="none" w="sm" len="sm"/>
              <a:tailEnd type="none" w="sm" len="sm"/>
            </a:ln>
          </p:spPr>
        </p:cxnSp>
        <p:sp>
          <p:nvSpPr>
            <p:cNvPr id="2823" name="Google Shape;2823;p36"/>
            <p:cNvSpPr/>
            <p:nvPr/>
          </p:nvSpPr>
          <p:spPr>
            <a:xfrm>
              <a:off x="2703097" y="980611"/>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Grain boundary</a:t>
              </a:r>
              <a:endParaRPr sz="652">
                <a:solidFill>
                  <a:srgbClr val="262626"/>
                </a:solidFill>
                <a:latin typeface="Arial"/>
                <a:ea typeface="Arial"/>
                <a:cs typeface="Arial"/>
                <a:sym typeface="Arial"/>
              </a:endParaRPr>
            </a:p>
          </p:txBody>
        </p:sp>
      </p:grpSp>
      <p:sp>
        <p:nvSpPr>
          <p:cNvPr id="2824" name="Google Shape;2824;p36"/>
          <p:cNvSpPr/>
          <p:nvPr/>
        </p:nvSpPr>
        <p:spPr>
          <a:xfrm>
            <a:off x="3087673" y="2090323"/>
            <a:ext cx="885900" cy="380100"/>
          </a:xfrm>
          <a:prstGeom prst="ellipse">
            <a:avLst/>
          </a:prstGeom>
          <a:noFill/>
          <a:ln w="33550" cap="flat" cmpd="sng">
            <a:solidFill>
              <a:srgbClr val="FF0000"/>
            </a:solidFill>
            <a:prstDash val="solid"/>
            <a:miter lim="8000"/>
            <a:headEnd type="none" w="sm" len="sm"/>
            <a:tailEnd type="none" w="sm" len="sm"/>
          </a:ln>
        </p:spPr>
        <p:txBody>
          <a:bodyPr spcFirstLastPara="1" wrap="square" lIns="107350" tIns="53650" rIns="107350" bIns="53650" anchor="ctr" anchorCtr="0">
            <a:noAutofit/>
          </a:bodyPr>
          <a:lstStyle/>
          <a:p>
            <a:pPr marL="0" marR="0" lvl="0" indent="0" algn="ctr" rtl="0">
              <a:spcBef>
                <a:spcPts val="0"/>
              </a:spcBef>
              <a:spcAft>
                <a:spcPts val="0"/>
              </a:spcAft>
              <a:buNone/>
            </a:pPr>
            <a:endParaRPr sz="1291">
              <a:solidFill>
                <a:schemeClr val="lt1"/>
              </a:solidFill>
              <a:latin typeface="Arial"/>
              <a:ea typeface="Arial"/>
              <a:cs typeface="Arial"/>
              <a:sym typeface="Arial"/>
            </a:endParaRPr>
          </a:p>
        </p:txBody>
      </p:sp>
      <p:grpSp>
        <p:nvGrpSpPr>
          <p:cNvPr id="2825" name="Google Shape;2825;p36"/>
          <p:cNvGrpSpPr/>
          <p:nvPr/>
        </p:nvGrpSpPr>
        <p:grpSpPr>
          <a:xfrm>
            <a:off x="5184602" y="2857135"/>
            <a:ext cx="3394381" cy="1585960"/>
            <a:chOff x="2302935" y="1000853"/>
            <a:chExt cx="8177262" cy="4048914"/>
          </a:xfrm>
        </p:grpSpPr>
        <p:sp>
          <p:nvSpPr>
            <p:cNvPr id="2826" name="Google Shape;2826;p36"/>
            <p:cNvSpPr/>
            <p:nvPr/>
          </p:nvSpPr>
          <p:spPr>
            <a:xfrm>
              <a:off x="2302935" y="1583267"/>
              <a:ext cx="3466500" cy="3466500"/>
            </a:xfrm>
            <a:prstGeom prst="ellipse">
              <a:avLst/>
            </a:prstGeom>
            <a:noFill/>
            <a:ln w="7925" cap="flat" cmpd="sng">
              <a:solidFill>
                <a:srgbClr val="082836"/>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27" name="Google Shape;2827;p36"/>
            <p:cNvSpPr/>
            <p:nvPr/>
          </p:nvSpPr>
          <p:spPr>
            <a:xfrm>
              <a:off x="5769343" y="1583267"/>
              <a:ext cx="2029800" cy="3466500"/>
            </a:xfrm>
            <a:prstGeom prst="rect">
              <a:avLst/>
            </a:prstGeom>
            <a:noFill/>
            <a:ln w="7925" cap="flat" cmpd="sng">
              <a:solidFill>
                <a:srgbClr val="082836"/>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28" name="Google Shape;2828;p36"/>
            <p:cNvSpPr txBox="1"/>
            <p:nvPr/>
          </p:nvSpPr>
          <p:spPr>
            <a:xfrm>
              <a:off x="3627257" y="1698166"/>
              <a:ext cx="817800" cy="3915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u="sng">
                  <a:solidFill>
                    <a:srgbClr val="000000"/>
                  </a:solidFill>
                  <a:latin typeface="Arial"/>
                  <a:ea typeface="Arial"/>
                  <a:cs typeface="Arial"/>
                  <a:sym typeface="Arial"/>
                </a:rPr>
                <a:t>Grain</a:t>
              </a:r>
              <a:endParaRPr sz="581"/>
            </a:p>
          </p:txBody>
        </p:sp>
        <p:sp>
          <p:nvSpPr>
            <p:cNvPr id="2829" name="Google Shape;2829;p36"/>
            <p:cNvSpPr txBox="1"/>
            <p:nvPr/>
          </p:nvSpPr>
          <p:spPr>
            <a:xfrm>
              <a:off x="5769343" y="1590686"/>
              <a:ext cx="1939800" cy="3915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u="sng">
                  <a:solidFill>
                    <a:srgbClr val="000000"/>
                  </a:solidFill>
                  <a:latin typeface="Arial"/>
                  <a:ea typeface="Arial"/>
                  <a:cs typeface="Arial"/>
                  <a:sym typeface="Arial"/>
                </a:rPr>
                <a:t>Grain boundary</a:t>
              </a:r>
              <a:endParaRPr sz="581"/>
            </a:p>
          </p:txBody>
        </p:sp>
        <p:sp>
          <p:nvSpPr>
            <p:cNvPr id="2830" name="Google Shape;2830;p36"/>
            <p:cNvSpPr/>
            <p:nvPr/>
          </p:nvSpPr>
          <p:spPr>
            <a:xfrm>
              <a:off x="3966675" y="2342109"/>
              <a:ext cx="138900" cy="138900"/>
            </a:xfrm>
            <a:prstGeom prst="ellipse">
              <a:avLst/>
            </a:prstGeom>
            <a:solidFill>
              <a:srgbClr val="196B24"/>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1" name="Google Shape;2831;p36"/>
            <p:cNvSpPr/>
            <p:nvPr/>
          </p:nvSpPr>
          <p:spPr>
            <a:xfrm>
              <a:off x="3431908" y="2385753"/>
              <a:ext cx="390600" cy="1945800"/>
            </a:xfrm>
            <a:prstGeom prst="curvedRightArrow">
              <a:avLst>
                <a:gd name="adj1" fmla="val 25000"/>
                <a:gd name="adj2" fmla="val 50000"/>
                <a:gd name="adj3" fmla="val 25000"/>
              </a:avLst>
            </a:prstGeom>
            <a:solidFill>
              <a:srgbClr val="0B769F"/>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sp>
          <p:nvSpPr>
            <p:cNvPr id="2832" name="Google Shape;2832;p36"/>
            <p:cNvSpPr/>
            <p:nvPr/>
          </p:nvSpPr>
          <p:spPr>
            <a:xfrm rot="10800000">
              <a:off x="4224795" y="2342179"/>
              <a:ext cx="390600" cy="1945800"/>
            </a:xfrm>
            <a:prstGeom prst="curvedRightArrow">
              <a:avLst>
                <a:gd name="adj1" fmla="val 25000"/>
                <a:gd name="adj2" fmla="val 50000"/>
                <a:gd name="adj3" fmla="val 25000"/>
              </a:avLst>
            </a:prstGeom>
            <a:solidFill>
              <a:srgbClr val="E97132"/>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grpSp>
          <p:nvGrpSpPr>
            <p:cNvPr id="2833" name="Google Shape;2833;p36"/>
            <p:cNvGrpSpPr/>
            <p:nvPr/>
          </p:nvGrpSpPr>
          <p:grpSpPr>
            <a:xfrm>
              <a:off x="3897210" y="4100560"/>
              <a:ext cx="223414" cy="244194"/>
              <a:chOff x="3897210" y="4100560"/>
              <a:chExt cx="223414" cy="244194"/>
            </a:xfrm>
          </p:grpSpPr>
          <p:sp>
            <p:nvSpPr>
              <p:cNvPr id="2834" name="Google Shape;2834;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5" name="Google Shape;2835;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6" name="Google Shape;2836;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7" name="Google Shape;2837;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8" name="Google Shape;2838;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sp>
          <p:nvSpPr>
            <p:cNvPr id="2839" name="Google Shape;2839;p36"/>
            <p:cNvSpPr/>
            <p:nvPr/>
          </p:nvSpPr>
          <p:spPr>
            <a:xfrm rot="-5400000" flipH="1">
              <a:off x="5105419" y="920044"/>
              <a:ext cx="253500" cy="2453400"/>
            </a:xfrm>
            <a:prstGeom prst="curvedRightArrow">
              <a:avLst>
                <a:gd name="adj1" fmla="val 24998"/>
                <a:gd name="adj2" fmla="val 64542"/>
                <a:gd name="adj3" fmla="val 25001"/>
              </a:avLst>
            </a:prstGeom>
            <a:solidFill>
              <a:srgbClr val="000000"/>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sp>
          <p:nvSpPr>
            <p:cNvPr id="2840" name="Google Shape;2840;p36"/>
            <p:cNvSpPr/>
            <p:nvPr/>
          </p:nvSpPr>
          <p:spPr>
            <a:xfrm>
              <a:off x="6958204" y="2194227"/>
              <a:ext cx="2357400" cy="660900"/>
            </a:xfrm>
            <a:prstGeom prst="rightArrow">
              <a:avLst>
                <a:gd name="adj1" fmla="val 50000"/>
                <a:gd name="adj2" fmla="val 50000"/>
              </a:avLst>
            </a:prstGeom>
            <a:solidFill>
              <a:srgbClr val="FFC000"/>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r>
                <a:rPr lang="en-GB" sz="705">
                  <a:solidFill>
                    <a:srgbClr val="000000"/>
                  </a:solidFill>
                  <a:latin typeface="Arial"/>
                  <a:ea typeface="Arial"/>
                  <a:cs typeface="Arial"/>
                  <a:sym typeface="Arial"/>
                </a:rPr>
                <a:t>Fission gas release</a:t>
              </a:r>
              <a:endParaRPr sz="664">
                <a:solidFill>
                  <a:srgbClr val="FFFFFF"/>
                </a:solidFill>
                <a:latin typeface="Arial"/>
                <a:ea typeface="Arial"/>
                <a:cs typeface="Arial"/>
                <a:sym typeface="Arial"/>
              </a:endParaRPr>
            </a:p>
          </p:txBody>
        </p:sp>
        <p:grpSp>
          <p:nvGrpSpPr>
            <p:cNvPr id="2841" name="Google Shape;2841;p36"/>
            <p:cNvGrpSpPr/>
            <p:nvPr/>
          </p:nvGrpSpPr>
          <p:grpSpPr>
            <a:xfrm>
              <a:off x="6341287" y="2281845"/>
              <a:ext cx="381920" cy="403587"/>
              <a:chOff x="6341287" y="2281845"/>
              <a:chExt cx="381920" cy="403587"/>
            </a:xfrm>
          </p:grpSpPr>
          <p:sp>
            <p:nvSpPr>
              <p:cNvPr id="2842" name="Google Shape;2842;p36"/>
              <p:cNvSpPr/>
              <p:nvPr/>
            </p:nvSpPr>
            <p:spPr>
              <a:xfrm>
                <a:off x="6379270" y="2316288"/>
                <a:ext cx="138900" cy="138900"/>
              </a:xfrm>
              <a:prstGeom prst="ellipse">
                <a:avLst/>
              </a:prstGeom>
              <a:solidFill>
                <a:srgbClr val="196B24"/>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nvGrpSpPr>
              <p:cNvPr id="2843" name="Google Shape;2843;p36"/>
              <p:cNvGrpSpPr/>
              <p:nvPr/>
            </p:nvGrpSpPr>
            <p:grpSpPr>
              <a:xfrm>
                <a:off x="6375924" y="2281845"/>
                <a:ext cx="223414" cy="244194"/>
                <a:chOff x="3897210" y="4100560"/>
                <a:chExt cx="223414" cy="244194"/>
              </a:xfrm>
            </p:grpSpPr>
            <p:sp>
              <p:nvSpPr>
                <p:cNvPr id="2844" name="Google Shape;2844;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45" name="Google Shape;2845;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46" name="Google Shape;2846;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47" name="Google Shape;2847;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48" name="Google Shape;2848;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2849" name="Google Shape;2849;p36"/>
              <p:cNvGrpSpPr/>
              <p:nvPr/>
            </p:nvGrpSpPr>
            <p:grpSpPr>
              <a:xfrm>
                <a:off x="6341287" y="2388053"/>
                <a:ext cx="223414" cy="244194"/>
                <a:chOff x="3897210" y="4100560"/>
                <a:chExt cx="223414" cy="244194"/>
              </a:xfrm>
            </p:grpSpPr>
            <p:sp>
              <p:nvSpPr>
                <p:cNvPr id="2850" name="Google Shape;2850;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1" name="Google Shape;2851;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2" name="Google Shape;2852;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3" name="Google Shape;2853;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4" name="Google Shape;2854;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2855" name="Google Shape;2855;p36"/>
              <p:cNvGrpSpPr/>
              <p:nvPr/>
            </p:nvGrpSpPr>
            <p:grpSpPr>
              <a:xfrm>
                <a:off x="6413906" y="2441238"/>
                <a:ext cx="223414" cy="244194"/>
                <a:chOff x="3897210" y="4100560"/>
                <a:chExt cx="223414" cy="244194"/>
              </a:xfrm>
            </p:grpSpPr>
            <p:sp>
              <p:nvSpPr>
                <p:cNvPr id="2856" name="Google Shape;2856;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7" name="Google Shape;2857;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8" name="Google Shape;2858;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9" name="Google Shape;2859;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0" name="Google Shape;2860;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2861" name="Google Shape;2861;p36"/>
              <p:cNvGrpSpPr/>
              <p:nvPr/>
            </p:nvGrpSpPr>
            <p:grpSpPr>
              <a:xfrm>
                <a:off x="6483370" y="2298663"/>
                <a:ext cx="223414" cy="244194"/>
                <a:chOff x="3897210" y="4100560"/>
                <a:chExt cx="223414" cy="244194"/>
              </a:xfrm>
            </p:grpSpPr>
            <p:sp>
              <p:nvSpPr>
                <p:cNvPr id="2862" name="Google Shape;2862;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3" name="Google Shape;2863;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4" name="Google Shape;2864;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5" name="Google Shape;2865;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6" name="Google Shape;2866;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2867" name="Google Shape;2867;p36"/>
              <p:cNvGrpSpPr/>
              <p:nvPr/>
            </p:nvGrpSpPr>
            <p:grpSpPr>
              <a:xfrm>
                <a:off x="6499793" y="2420774"/>
                <a:ext cx="223414" cy="244194"/>
                <a:chOff x="3897210" y="4100560"/>
                <a:chExt cx="223414" cy="244194"/>
              </a:xfrm>
            </p:grpSpPr>
            <p:sp>
              <p:nvSpPr>
                <p:cNvPr id="2868" name="Google Shape;2868;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9" name="Google Shape;2869;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70" name="Google Shape;2870;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71" name="Google Shape;2871;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72" name="Google Shape;2872;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sp>
          <p:nvSpPr>
            <p:cNvPr id="2873" name="Google Shape;2873;p36"/>
            <p:cNvSpPr/>
            <p:nvPr/>
          </p:nvSpPr>
          <p:spPr>
            <a:xfrm>
              <a:off x="7991397" y="1000853"/>
              <a:ext cx="2488800" cy="1193400"/>
            </a:xfrm>
            <a:prstGeom prst="rect">
              <a:avLst/>
            </a:prstGeom>
            <a:blipFill rotWithShape="1">
              <a:blip r:embed="rId5">
                <a:alphaModFix/>
              </a:blip>
              <a:stretch>
                <a:fillRect l="-1469" t="-509" r="-2699"/>
              </a:stretch>
            </a:blipFill>
            <a:ln>
              <a:noFill/>
            </a:ln>
          </p:spPr>
          <p:txBody>
            <a:bodyPr spcFirstLastPara="1" wrap="square" lIns="37925" tIns="18975" rIns="37925" bIns="18975" anchor="t" anchorCtr="0">
              <a:noAutofit/>
            </a:bodyPr>
            <a:lstStyle/>
            <a:p>
              <a:pPr marL="0" marR="0" lvl="0" indent="0" algn="l" rtl="0">
                <a:spcBef>
                  <a:spcPts val="0"/>
                </a:spcBef>
                <a:spcAft>
                  <a:spcPts val="0"/>
                </a:spcAft>
                <a:buNone/>
              </a:pPr>
              <a:r>
                <a:rPr lang="en-GB" sz="747">
                  <a:latin typeface="Arial"/>
                  <a:ea typeface="Arial"/>
                  <a:cs typeface="Arial"/>
                  <a:sym typeface="Arial"/>
                </a:rPr>
                <a:t> </a:t>
              </a:r>
              <a:endParaRPr sz="581"/>
            </a:p>
          </p:txBody>
        </p:sp>
        <p:cxnSp>
          <p:nvCxnSpPr>
            <p:cNvPr id="2874" name="Google Shape;2874;p36"/>
            <p:cNvCxnSpPr>
              <a:stCxn id="2826" idx="0"/>
              <a:endCxn id="2873" idx="0"/>
            </p:cNvCxnSpPr>
            <p:nvPr/>
          </p:nvCxnSpPr>
          <p:spPr>
            <a:xfrm rot="-5400000">
              <a:off x="6344835" y="-1307683"/>
              <a:ext cx="582300" cy="5199600"/>
            </a:xfrm>
            <a:prstGeom prst="bentConnector3">
              <a:avLst>
                <a:gd name="adj1" fmla="val 204421"/>
              </a:avLst>
            </a:prstGeom>
            <a:noFill/>
            <a:ln w="11875" cap="flat" cmpd="sng">
              <a:solidFill>
                <a:srgbClr val="000000"/>
              </a:solidFill>
              <a:prstDash val="solid"/>
              <a:miter lim="800000"/>
              <a:headEnd type="none" w="sm" len="sm"/>
              <a:tailEnd type="stealth" w="med" len="med"/>
            </a:ln>
          </p:spPr>
        </p:cxnSp>
        <p:sp>
          <p:nvSpPr>
            <p:cNvPr id="2875" name="Google Shape;2875;p36"/>
            <p:cNvSpPr/>
            <p:nvPr/>
          </p:nvSpPr>
          <p:spPr>
            <a:xfrm>
              <a:off x="6258193" y="3824859"/>
              <a:ext cx="2488800" cy="744000"/>
            </a:xfrm>
            <a:prstGeom prst="rect">
              <a:avLst/>
            </a:prstGeom>
            <a:solidFill>
              <a:srgbClr val="82CAEB"/>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r>
                <a:rPr lang="en-GB" sz="705">
                  <a:solidFill>
                    <a:srgbClr val="000000"/>
                  </a:solidFill>
                  <a:latin typeface="Arial"/>
                  <a:ea typeface="Arial"/>
                  <a:cs typeface="Arial"/>
                  <a:sym typeface="Arial"/>
                </a:rPr>
                <a:t>Fission gas in grain-boundary bubbles</a:t>
              </a:r>
              <a:endParaRPr sz="539"/>
            </a:p>
          </p:txBody>
        </p:sp>
        <p:cxnSp>
          <p:nvCxnSpPr>
            <p:cNvPr id="2876" name="Google Shape;2876;p36"/>
            <p:cNvCxnSpPr>
              <a:stCxn id="2860" idx="4"/>
              <a:endCxn id="2875" idx="0"/>
            </p:cNvCxnSpPr>
            <p:nvPr/>
          </p:nvCxnSpPr>
          <p:spPr>
            <a:xfrm rot="-5400000" flipH="1">
              <a:off x="6461891" y="2783981"/>
              <a:ext cx="1139400" cy="942300"/>
            </a:xfrm>
            <a:prstGeom prst="bentConnector3">
              <a:avLst>
                <a:gd name="adj1" fmla="val 50001"/>
              </a:avLst>
            </a:prstGeom>
            <a:noFill/>
            <a:ln w="11875" cap="flat" cmpd="sng">
              <a:solidFill>
                <a:srgbClr val="000000"/>
              </a:solidFill>
              <a:prstDash val="solid"/>
              <a:miter lim="800000"/>
              <a:headEnd type="none" w="sm" len="sm"/>
              <a:tailEnd type="stealth" w="med" len="med"/>
            </a:ln>
          </p:spPr>
        </p:cxnSp>
        <p:sp>
          <p:nvSpPr>
            <p:cNvPr id="2877" name="Google Shape;2877;p36"/>
            <p:cNvSpPr txBox="1"/>
            <p:nvPr/>
          </p:nvSpPr>
          <p:spPr>
            <a:xfrm>
              <a:off x="3920763" y="3220188"/>
              <a:ext cx="1544700" cy="3915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a:solidFill>
                    <a:srgbClr val="000000"/>
                  </a:solidFill>
                  <a:latin typeface="Arial"/>
                  <a:ea typeface="Arial"/>
                  <a:cs typeface="Arial"/>
                  <a:sym typeface="Arial"/>
                </a:rPr>
                <a:t>Re-solution</a:t>
              </a:r>
              <a:endParaRPr sz="581"/>
            </a:p>
          </p:txBody>
        </p:sp>
        <p:sp>
          <p:nvSpPr>
            <p:cNvPr id="2878" name="Google Shape;2878;p36"/>
            <p:cNvSpPr txBox="1"/>
            <p:nvPr/>
          </p:nvSpPr>
          <p:spPr>
            <a:xfrm>
              <a:off x="2844493" y="3220188"/>
              <a:ext cx="1230300" cy="3915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a:solidFill>
                    <a:srgbClr val="000000"/>
                  </a:solidFill>
                  <a:latin typeface="Arial"/>
                  <a:ea typeface="Arial"/>
                  <a:cs typeface="Arial"/>
                  <a:sym typeface="Arial"/>
                </a:rPr>
                <a:t>Trapping</a:t>
              </a:r>
              <a:endParaRPr sz="581"/>
            </a:p>
          </p:txBody>
        </p:sp>
      </p:grpSp>
      <p:sp>
        <p:nvSpPr>
          <p:cNvPr id="2879" name="Google Shape;2879;p36"/>
          <p:cNvSpPr txBox="1"/>
          <p:nvPr/>
        </p:nvSpPr>
        <p:spPr>
          <a:xfrm>
            <a:off x="6353553" y="2699405"/>
            <a:ext cx="2429700" cy="255600"/>
          </a:xfrm>
          <a:prstGeom prst="rect">
            <a:avLst/>
          </a:prstGeom>
          <a:noFill/>
          <a:ln>
            <a:noFill/>
          </a:ln>
        </p:spPr>
        <p:txBody>
          <a:bodyPr spcFirstLastPara="1" wrap="square" lIns="37925" tIns="37925" rIns="37925" bIns="37925" anchor="t" anchorCtr="0">
            <a:spAutoFit/>
          </a:bodyPr>
          <a:lstStyle/>
          <a:p>
            <a:pPr marL="0" lvl="0" indent="0" algn="l" rtl="0">
              <a:spcBef>
                <a:spcPts val="0"/>
              </a:spcBef>
              <a:spcAft>
                <a:spcPts val="0"/>
              </a:spcAft>
              <a:buNone/>
            </a:pPr>
            <a:endParaRPr sz="1162">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84"/>
        <p:cNvGrpSpPr/>
        <p:nvPr/>
      </p:nvGrpSpPr>
      <p:grpSpPr>
        <a:xfrm>
          <a:off x="0" y="0"/>
          <a:ext cx="0" cy="0"/>
          <a:chOff x="0" y="0"/>
          <a:chExt cx="0" cy="0"/>
        </a:xfrm>
      </p:grpSpPr>
      <p:sp>
        <p:nvSpPr>
          <p:cNvPr id="2885" name="Google Shape;2885;p37"/>
          <p:cNvSpPr txBox="1"/>
          <p:nvPr/>
        </p:nvSpPr>
        <p:spPr>
          <a:xfrm>
            <a:off x="318407" y="1694586"/>
            <a:ext cx="2895900" cy="175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Arial"/>
                <a:ea typeface="Arial"/>
                <a:cs typeface="Arial"/>
                <a:sym typeface="Arial"/>
              </a:rPr>
              <a:t>One of the experimental UO</a:t>
            </a:r>
            <a:r>
              <a:rPr lang="en-GB" sz="1800" baseline="-25000">
                <a:solidFill>
                  <a:schemeClr val="dk1"/>
                </a:solidFill>
                <a:latin typeface="Arial"/>
                <a:ea typeface="Arial"/>
                <a:cs typeface="Arial"/>
                <a:sym typeface="Arial"/>
              </a:rPr>
              <a:t>2</a:t>
            </a:r>
            <a:r>
              <a:rPr lang="en-GB" sz="1800">
                <a:solidFill>
                  <a:schemeClr val="dk1"/>
                </a:solidFill>
                <a:latin typeface="Arial"/>
                <a:ea typeface="Arial"/>
                <a:cs typeface="Arial"/>
                <a:sym typeface="Arial"/>
              </a:rPr>
              <a:t> sample of White, 2004 to showcase the SCIANTIX capabilities in a case of irradiation under transient conditions</a:t>
            </a:r>
            <a:endParaRPr/>
          </a:p>
        </p:txBody>
      </p:sp>
      <p:pic>
        <p:nvPicPr>
          <p:cNvPr id="2886" name="Google Shape;2886;p37"/>
          <p:cNvPicPr preferRelativeResize="0"/>
          <p:nvPr/>
        </p:nvPicPr>
        <p:blipFill rotWithShape="1">
          <a:blip r:embed="rId3">
            <a:alphaModFix/>
          </a:blip>
          <a:srcRect/>
          <a:stretch/>
        </p:blipFill>
        <p:spPr>
          <a:xfrm>
            <a:off x="3271547" y="1174668"/>
            <a:ext cx="5675894" cy="2794163"/>
          </a:xfrm>
          <a:prstGeom prst="rect">
            <a:avLst/>
          </a:prstGeom>
          <a:noFill/>
          <a:ln>
            <a:noFill/>
          </a:ln>
        </p:spPr>
      </p:pic>
      <p:sp>
        <p:nvSpPr>
          <p:cNvPr id="2887" name="Google Shape;2887;p37"/>
          <p:cNvSpPr txBox="1"/>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a:solidFill>
                  <a:srgbClr val="0157A3"/>
                </a:solidFill>
                <a:latin typeface="Arial"/>
                <a:ea typeface="Arial"/>
                <a:cs typeface="Arial"/>
                <a:sym typeface="Arial"/>
              </a:rPr>
              <a:t>Simulation case: transient irradiation conditions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92"/>
        <p:cNvGrpSpPr/>
        <p:nvPr/>
      </p:nvGrpSpPr>
      <p:grpSpPr>
        <a:xfrm>
          <a:off x="0" y="0"/>
          <a:ext cx="0" cy="0"/>
          <a:chOff x="0" y="0"/>
          <a:chExt cx="0" cy="0"/>
        </a:xfrm>
      </p:grpSpPr>
      <p:sp>
        <p:nvSpPr>
          <p:cNvPr id="2893" name="Google Shape;2893;p38"/>
          <p:cNvSpPr txBox="1"/>
          <p:nvPr/>
        </p:nvSpPr>
        <p:spPr>
          <a:xfrm>
            <a:off x="4716478" y="802603"/>
            <a:ext cx="4058700" cy="354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dk1"/>
                </a:solidFill>
                <a:latin typeface="Arial"/>
                <a:ea typeface="Arial"/>
                <a:cs typeface="Arial"/>
                <a:sym typeface="Arial"/>
              </a:rPr>
              <a:t>Base irradiation</a:t>
            </a:r>
            <a:r>
              <a:rPr lang="en-GB" sz="1600">
                <a:solidFill>
                  <a:schemeClr val="dk1"/>
                </a:solidFill>
                <a:latin typeface="Arial"/>
                <a:ea typeface="Arial"/>
                <a:cs typeface="Arial"/>
                <a:sym typeface="Arial"/>
              </a:rPr>
              <a:t> corresponds to the vertical line at 1157 K and the </a:t>
            </a:r>
            <a:r>
              <a:rPr lang="en-GB" sz="1600" b="1">
                <a:solidFill>
                  <a:schemeClr val="dk1"/>
                </a:solidFill>
                <a:latin typeface="Arial"/>
                <a:ea typeface="Arial"/>
                <a:cs typeface="Arial"/>
                <a:sym typeface="Arial"/>
              </a:rPr>
              <a:t>holding</a:t>
            </a:r>
            <a:r>
              <a:rPr lang="en-GB" sz="1600">
                <a:solidFill>
                  <a:schemeClr val="dk1"/>
                </a:solidFill>
                <a:latin typeface="Arial"/>
                <a:ea typeface="Arial"/>
                <a:cs typeface="Arial"/>
                <a:sym typeface="Arial"/>
              </a:rPr>
              <a:t> on top of the temperature ramp corresponds to the vertical line at 2048 K</a:t>
            </a:r>
            <a:endParaRPr/>
          </a:p>
          <a:p>
            <a:pPr marL="0" marR="0" lvl="0" indent="0" algn="l" rtl="0">
              <a:spcBef>
                <a:spcPts val="0"/>
              </a:spcBef>
              <a:spcAft>
                <a:spcPts val="0"/>
              </a:spcAft>
              <a:buNone/>
            </a:pPr>
            <a:endParaRPr sz="1600">
              <a:solidFill>
                <a:schemeClr val="dk1"/>
              </a:solidFill>
              <a:latin typeface="Arial"/>
              <a:ea typeface="Arial"/>
              <a:cs typeface="Arial"/>
              <a:sym typeface="Arial"/>
            </a:endParaRPr>
          </a:p>
          <a:p>
            <a:pPr marL="0" marR="0" lvl="0" indent="0" algn="l" rtl="0">
              <a:spcBef>
                <a:spcPts val="0"/>
              </a:spcBef>
              <a:spcAft>
                <a:spcPts val="0"/>
              </a:spcAft>
              <a:buNone/>
            </a:pPr>
            <a:r>
              <a:rPr lang="en-GB" sz="1600">
                <a:solidFill>
                  <a:schemeClr val="dk1"/>
                </a:solidFill>
                <a:latin typeface="Arial"/>
                <a:ea typeface="Arial"/>
                <a:cs typeface="Arial"/>
                <a:sym typeface="Arial"/>
              </a:rPr>
              <a:t>The </a:t>
            </a:r>
            <a:r>
              <a:rPr lang="en-GB" sz="1600" b="1">
                <a:solidFill>
                  <a:schemeClr val="dk1"/>
                </a:solidFill>
                <a:latin typeface="Arial"/>
                <a:ea typeface="Arial"/>
                <a:cs typeface="Arial"/>
                <a:sym typeface="Arial"/>
              </a:rPr>
              <a:t>increase of grain-boundary swelling</a:t>
            </a:r>
            <a:r>
              <a:rPr lang="en-GB" sz="1600">
                <a:solidFill>
                  <a:schemeClr val="dk1"/>
                </a:solidFill>
                <a:latin typeface="Arial"/>
                <a:ea typeface="Arial"/>
                <a:cs typeface="Arial"/>
                <a:sym typeface="Arial"/>
              </a:rPr>
              <a:t> during the base irradiation is due to the absorption of vacancy</a:t>
            </a:r>
            <a:endParaRPr/>
          </a:p>
          <a:p>
            <a:pPr marL="0" marR="0" lvl="0" indent="0" algn="l" rtl="0">
              <a:spcBef>
                <a:spcPts val="0"/>
              </a:spcBef>
              <a:spcAft>
                <a:spcPts val="0"/>
              </a:spcAft>
              <a:buNone/>
            </a:pPr>
            <a:endParaRPr sz="1600">
              <a:solidFill>
                <a:schemeClr val="dk1"/>
              </a:solidFill>
              <a:latin typeface="Arial"/>
              <a:ea typeface="Arial"/>
              <a:cs typeface="Arial"/>
              <a:sym typeface="Arial"/>
            </a:endParaRPr>
          </a:p>
          <a:p>
            <a:pPr marL="0" marR="0" lvl="0" indent="0" algn="l" rtl="0">
              <a:spcBef>
                <a:spcPts val="0"/>
              </a:spcBef>
              <a:spcAft>
                <a:spcPts val="0"/>
              </a:spcAft>
              <a:buNone/>
            </a:pPr>
            <a:r>
              <a:rPr lang="en-GB" sz="1600">
                <a:solidFill>
                  <a:srgbClr val="0D0D0D"/>
                </a:solidFill>
                <a:highlight>
                  <a:srgbClr val="FFFFFF"/>
                </a:highlight>
                <a:latin typeface="Arial"/>
                <a:ea typeface="Arial"/>
                <a:cs typeface="Arial"/>
                <a:sym typeface="Arial"/>
              </a:rPr>
              <a:t>The </a:t>
            </a:r>
            <a:r>
              <a:rPr lang="en-GB" sz="1600" b="1">
                <a:solidFill>
                  <a:srgbClr val="0D0D0D"/>
                </a:solidFill>
                <a:highlight>
                  <a:srgbClr val="FFFFFF"/>
                </a:highlight>
                <a:latin typeface="Arial"/>
                <a:ea typeface="Arial"/>
                <a:cs typeface="Arial"/>
                <a:sym typeface="Arial"/>
              </a:rPr>
              <a:t>reduction in grain-boundary swelling</a:t>
            </a:r>
            <a:r>
              <a:rPr lang="en-GB" sz="1600">
                <a:solidFill>
                  <a:srgbClr val="0D0D0D"/>
                </a:solidFill>
                <a:highlight>
                  <a:srgbClr val="FFFFFF"/>
                </a:highlight>
                <a:latin typeface="Arial"/>
                <a:ea typeface="Arial"/>
                <a:cs typeface="Arial"/>
                <a:sym typeface="Arial"/>
              </a:rPr>
              <a:t> during the heating and cooling transient arises from the </a:t>
            </a:r>
            <a:r>
              <a:rPr lang="en-GB" sz="1600">
                <a:solidFill>
                  <a:schemeClr val="dk1"/>
                </a:solidFill>
                <a:latin typeface="Arial"/>
                <a:ea typeface="Arial"/>
                <a:cs typeface="Arial"/>
                <a:sym typeface="Arial"/>
              </a:rPr>
              <a:t>burst release triggered by grain-boundary micro-cracking (Barani et al., 2017)</a:t>
            </a:r>
            <a:endParaRPr/>
          </a:p>
        </p:txBody>
      </p:sp>
      <p:pic>
        <p:nvPicPr>
          <p:cNvPr id="2894" name="Google Shape;2894;p38"/>
          <p:cNvPicPr preferRelativeResize="0"/>
          <p:nvPr/>
        </p:nvPicPr>
        <p:blipFill rotWithShape="1">
          <a:blip r:embed="rId3">
            <a:alphaModFix/>
          </a:blip>
          <a:srcRect/>
          <a:stretch/>
        </p:blipFill>
        <p:spPr>
          <a:xfrm>
            <a:off x="505775" y="762741"/>
            <a:ext cx="4058790" cy="4050043"/>
          </a:xfrm>
          <a:prstGeom prst="rect">
            <a:avLst/>
          </a:prstGeom>
          <a:noFill/>
          <a:ln>
            <a:noFill/>
          </a:ln>
        </p:spPr>
      </p:pic>
      <p:sp>
        <p:nvSpPr>
          <p:cNvPr id="2895" name="Google Shape;2895;p38"/>
          <p:cNvSpPr txBox="1"/>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a:solidFill>
                  <a:srgbClr val="0157A3"/>
                </a:solidFill>
                <a:latin typeface="Arial"/>
                <a:ea typeface="Arial"/>
                <a:cs typeface="Arial"/>
                <a:sym typeface="Arial"/>
              </a:rPr>
              <a:t>Simulation results: transient irradiation conditions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00"/>
        <p:cNvGrpSpPr/>
        <p:nvPr/>
      </p:nvGrpSpPr>
      <p:grpSpPr>
        <a:xfrm>
          <a:off x="0" y="0"/>
          <a:ext cx="0" cy="0"/>
          <a:chOff x="0" y="0"/>
          <a:chExt cx="0" cy="0"/>
        </a:xfrm>
      </p:grpSpPr>
      <p:sp>
        <p:nvSpPr>
          <p:cNvPr id="2901" name="Google Shape;2901;p39"/>
          <p:cNvSpPr txBox="1"/>
          <p:nvPr/>
        </p:nvSpPr>
        <p:spPr>
          <a:xfrm>
            <a:off x="505775" y="845250"/>
            <a:ext cx="8132400" cy="39711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Baker, C. (1977). The fission gas bubbles distribution in uranium dioxide from </a:t>
            </a:r>
            <a:r>
              <a:rPr lang="en-GB" sz="1400">
                <a:solidFill>
                  <a:schemeClr val="dk1"/>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7"/>
                  </a:ext>
                </a:extLst>
              </a:rPr>
              <a:t>high</a:t>
            </a:r>
            <a:r>
              <a:rPr lang="en-GB" sz="1400">
                <a:solidFill>
                  <a:schemeClr val="dk1"/>
                </a:solidFill>
                <a:latin typeface="Arial"/>
                <a:ea typeface="Arial"/>
                <a:cs typeface="Arial"/>
                <a:sym typeface="Arial"/>
              </a:rPr>
              <a:t> temperature irradiated SGHWR fuel pins. </a:t>
            </a:r>
            <a:r>
              <a:rPr lang="en-GB" sz="1400" i="1">
                <a:solidFill>
                  <a:schemeClr val="dk1"/>
                </a:solidFill>
                <a:latin typeface="Arial"/>
                <a:ea typeface="Arial"/>
                <a:cs typeface="Arial"/>
                <a:sym typeface="Arial"/>
              </a:rPr>
              <a:t>Journal of Nuclear Materials, 66</a:t>
            </a:r>
            <a:r>
              <a:rPr lang="en-GB" sz="1400">
                <a:solidFill>
                  <a:schemeClr val="dk1"/>
                </a:solidFill>
                <a:latin typeface="Arial"/>
                <a:ea typeface="Arial"/>
                <a:cs typeface="Arial"/>
                <a:sym typeface="Arial"/>
              </a:rPr>
              <a:t>, 283–291. </a:t>
            </a:r>
            <a:r>
              <a:rPr lang="en-GB" sz="1400">
                <a:solidFill>
                  <a:schemeClr val="dk1"/>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https://doi.org/10.1016/0022-3115(77)90117-9</a:t>
            </a:r>
            <a:endParaRPr sz="14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Pizzocri, D., Barani, T., &amp; Luzzi, L. (2020). SCIANTIX: A new open source multi-scale code for fission gas behaviour modelling designed for nuclear fuel performance codes. </a:t>
            </a:r>
            <a:r>
              <a:rPr lang="en-GB" sz="1400" i="1">
                <a:solidFill>
                  <a:schemeClr val="dk1"/>
                </a:solidFill>
                <a:latin typeface="Arial"/>
                <a:ea typeface="Arial"/>
                <a:cs typeface="Arial"/>
                <a:sym typeface="Arial"/>
              </a:rPr>
              <a:t>Journal of Nuclear Materials, 532</a:t>
            </a:r>
            <a:r>
              <a:rPr lang="en-GB" sz="1400">
                <a:solidFill>
                  <a:schemeClr val="dk1"/>
                </a:solidFill>
                <a:latin typeface="Arial"/>
                <a:ea typeface="Arial"/>
                <a:cs typeface="Arial"/>
                <a:sym typeface="Arial"/>
              </a:rPr>
              <a:t>, 152042. https://doi.org/10.1016/j.jnucmat.2020.152042</a:t>
            </a:r>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Zullo, G., Pizzocri, D., &amp; Luzzi, L. (2023). The SCIANTIX code for fission gas behaviour: Status, upgrades, separate-effect validation, and future developments. </a:t>
            </a:r>
            <a:r>
              <a:rPr lang="en-GB" sz="1400" i="1">
                <a:solidFill>
                  <a:schemeClr val="dk1"/>
                </a:solidFill>
                <a:latin typeface="Arial"/>
                <a:ea typeface="Arial"/>
                <a:cs typeface="Arial"/>
                <a:sym typeface="Arial"/>
              </a:rPr>
              <a:t>Journal of Nuclear Materials, 587</a:t>
            </a:r>
            <a:r>
              <a:rPr lang="en-GB" sz="1400">
                <a:solidFill>
                  <a:schemeClr val="dk1"/>
                </a:solidFill>
                <a:latin typeface="Arial"/>
                <a:ea typeface="Arial"/>
                <a:cs typeface="Arial"/>
                <a:sym typeface="Arial"/>
              </a:rPr>
              <a:t>, 154744. https://doi.org/10.1016/j.jnucmat.2023.154744</a:t>
            </a:r>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White, R. J. (2004). The development of grain-face porosity in irradiated oxide fuel. </a:t>
            </a:r>
            <a:r>
              <a:rPr lang="en-GB" sz="1400" i="1">
                <a:solidFill>
                  <a:schemeClr val="dk1"/>
                </a:solidFill>
                <a:latin typeface="Arial"/>
                <a:ea typeface="Arial"/>
                <a:cs typeface="Arial"/>
                <a:sym typeface="Arial"/>
              </a:rPr>
              <a:t>Journal of Nuclear Materials, 325</a:t>
            </a:r>
            <a:r>
              <a:rPr lang="en-GB" sz="1400">
                <a:solidFill>
                  <a:schemeClr val="dk1"/>
                </a:solidFill>
                <a:latin typeface="Arial"/>
                <a:ea typeface="Arial"/>
                <a:cs typeface="Arial"/>
                <a:sym typeface="Arial"/>
              </a:rPr>
              <a:t>(1), 61–77. https://doi.org/10.1016/j.jnucmat.2003.10.008</a:t>
            </a:r>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Zullo, G. (2024). </a:t>
            </a:r>
            <a:r>
              <a:rPr lang="en-GB" sz="1400" i="1">
                <a:solidFill>
                  <a:schemeClr val="dk1"/>
                </a:solidFill>
                <a:latin typeface="Arial"/>
                <a:ea typeface="Arial"/>
                <a:cs typeface="Arial"/>
                <a:sym typeface="Arial"/>
              </a:rPr>
              <a:t>Development and assessment of an open-source code for fission gas and volatile fission products behaviour in LWR fuel</a:t>
            </a:r>
            <a:r>
              <a:rPr lang="en-GB" sz="1400">
                <a:solidFill>
                  <a:schemeClr val="dk1"/>
                </a:solidFill>
                <a:latin typeface="Arial"/>
                <a:ea typeface="Arial"/>
                <a:cs typeface="Arial"/>
                <a:sym typeface="Arial"/>
              </a:rPr>
              <a:t> (PhD dissertation, Politecnico di Milano). </a:t>
            </a:r>
            <a:r>
              <a:rPr lang="en-GB" sz="1400">
                <a:solidFill>
                  <a:schemeClr val="dk1"/>
                </a:solidFill>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https://www.politesi.polimi.it/handle/10589/228452</a:t>
            </a:r>
            <a:endParaRPr sz="14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Barani, T., Bruschi, E., Pizzocri, D., Pastore, G., Van Uffelen, P., Williamson, R. L., &amp; Luzzi, L. (2017). Analysis of transient fission gas behaviour in oxide fuel using BISON and TRANSURANUS. Journal of Nuclear Materials, 486,96–110. </a:t>
            </a:r>
            <a:r>
              <a:rPr lang="en-GB" sz="1400">
                <a:solidFill>
                  <a:schemeClr val="dk1"/>
                </a:solidFill>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https://doi.org/10.1016/j.jnucmat.2017.01.050</a:t>
            </a:r>
            <a:r>
              <a:rPr lang="en-GB" sz="1400">
                <a:solidFill>
                  <a:schemeClr val="dk1"/>
                </a:solidFill>
                <a:latin typeface="Arial"/>
                <a:ea typeface="Arial"/>
                <a:cs typeface="Arial"/>
                <a:sym typeface="Arial"/>
              </a:rPr>
              <a:t> </a:t>
            </a:r>
            <a:endParaRPr/>
          </a:p>
        </p:txBody>
      </p:sp>
      <p:sp>
        <p:nvSpPr>
          <p:cNvPr id="2902" name="Google Shape;2902;p39"/>
          <p:cNvSpPr txBox="1"/>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a:solidFill>
                  <a:srgbClr val="0157A3"/>
                </a:solidFill>
                <a:latin typeface="Arial"/>
                <a:ea typeface="Arial"/>
                <a:cs typeface="Arial"/>
                <a:sym typeface="Arial"/>
              </a:rPr>
              <a:t>References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07"/>
        <p:cNvGrpSpPr/>
        <p:nvPr/>
      </p:nvGrpSpPr>
      <p:grpSpPr>
        <a:xfrm>
          <a:off x="0" y="0"/>
          <a:ext cx="0" cy="0"/>
          <a:chOff x="0" y="0"/>
          <a:chExt cx="0" cy="0"/>
        </a:xfrm>
      </p:grpSpPr>
      <p:sp>
        <p:nvSpPr>
          <p:cNvPr id="2908" name="Google Shape;2908;p40"/>
          <p:cNvSpPr txBox="1">
            <a:spLocks noGrp="1"/>
          </p:cNvSpPr>
          <p:nvPr>
            <p:ph type="body" idx="4294967295"/>
          </p:nvPr>
        </p:nvSpPr>
        <p:spPr>
          <a:xfrm>
            <a:off x="3137760" y="1778040"/>
            <a:ext cx="4920120" cy="861480"/>
          </a:xfrm>
          <a:prstGeom prst="rect">
            <a:avLst/>
          </a:prstGeom>
          <a:noFill/>
          <a:ln>
            <a:noFill/>
          </a:ln>
        </p:spPr>
        <p:txBody>
          <a:bodyPr spcFirstLastPara="1" wrap="square" lIns="90000" tIns="0" rIns="90000" bIns="0" anchor="t" anchorCtr="0">
            <a:noAutofit/>
          </a:bodyPr>
          <a:lstStyle/>
          <a:p>
            <a:pPr marL="228600" marR="0" lvl="0" indent="-228600" algn="r" rtl="0">
              <a:lnSpc>
                <a:spcPct val="110000"/>
              </a:lnSpc>
              <a:spcBef>
                <a:spcPts val="0"/>
              </a:spcBef>
              <a:spcAft>
                <a:spcPts val="0"/>
              </a:spcAft>
              <a:buClr>
                <a:srgbClr val="FFFFFF"/>
              </a:buClr>
              <a:buSzPts val="2800"/>
              <a:buFont typeface="Arial"/>
              <a:buNone/>
            </a:pPr>
            <a:r>
              <a:rPr lang="en-GB" sz="2800" b="0" i="0" u="none" strike="noStrike" cap="none">
                <a:solidFill>
                  <a:srgbClr val="FFFFFF"/>
                </a:solidFill>
                <a:latin typeface="Arial"/>
                <a:ea typeface="Arial"/>
                <a:cs typeface="Arial"/>
                <a:sym typeface="Arial"/>
              </a:rPr>
              <a:t>Thank you for your attention</a:t>
            </a:r>
            <a:endParaRPr sz="2800" b="0" i="0" u="none" strike="noStrike" cap="none">
              <a:solidFill>
                <a:srgbClr val="40404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1925</Words>
  <Application>Microsoft Office PowerPoint</Application>
  <PresentationFormat>Presentazione su schermo (16:9)</PresentationFormat>
  <Paragraphs>416</Paragraphs>
  <Slides>35</Slides>
  <Notes>35</Notes>
  <HiddenSlides>0</HiddenSlides>
  <MMClips>0</MMClips>
  <ScaleCrop>false</ScaleCrop>
  <HeadingPairs>
    <vt:vector size="6" baseType="variant">
      <vt:variant>
        <vt:lpstr>Caratteri utilizzati</vt:lpstr>
      </vt:variant>
      <vt:variant>
        <vt:i4>8</vt:i4>
      </vt:variant>
      <vt:variant>
        <vt:lpstr>Tema</vt:lpstr>
      </vt:variant>
      <vt:variant>
        <vt:i4>3</vt:i4>
      </vt:variant>
      <vt:variant>
        <vt:lpstr>Titoli diapositive</vt:lpstr>
      </vt:variant>
      <vt:variant>
        <vt:i4>35</vt:i4>
      </vt:variant>
    </vt:vector>
  </HeadingPairs>
  <TitlesOfParts>
    <vt:vector size="46" baseType="lpstr">
      <vt:lpstr>Times New Roman</vt:lpstr>
      <vt:lpstr>Noto Sans Symbols</vt:lpstr>
      <vt:lpstr>Courier New</vt:lpstr>
      <vt:lpstr>Cambria Math</vt:lpstr>
      <vt:lpstr>Quattrocento Sans</vt:lpstr>
      <vt:lpstr>Calibri</vt:lpstr>
      <vt:lpstr>Arial</vt:lpstr>
      <vt:lpstr>Play</vt:lpstr>
      <vt:lpstr>Office Theme</vt:lpstr>
      <vt:lpstr>Office Theme</vt:lpstr>
      <vt:lpstr>Office Theme</vt:lpstr>
      <vt:lpstr>Presentazione standard di PowerPoint</vt:lpstr>
      <vt:lpstr>Nuclear fuel rod</vt:lpstr>
      <vt:lpstr>Nuclear fuel rod</vt:lpstr>
      <vt:lpstr>Nuclear fuel rod behaviour</vt:lpstr>
      <vt:lpstr>Nuclear fuel rod, multi-scale modelling approach</vt:lpstr>
      <vt:lpstr>Multi-scale modelling approach, requirements</vt:lpstr>
      <vt:lpstr>Nuclear fuel, UO2 grain</vt:lpstr>
      <vt:lpstr>Fission gas behaviour, main physical aspects</vt:lpstr>
      <vt:lpstr>SCIANTIX, fission gas behaviour modelling</vt:lpstr>
      <vt:lpstr>Presentazione standard di PowerPoint</vt:lpstr>
      <vt:lpstr>Presentazione standard di PowerPoint</vt:lpstr>
      <vt:lpstr>Intra-granular fission gas behaviour</vt:lpstr>
      <vt:lpstr>The SCIANTIX code, intra-granular fission gas behaviour</vt:lpstr>
      <vt:lpstr>Intra-granular bubble evolution, separate-effect validation</vt:lpstr>
      <vt:lpstr>Inter-granular fission gas behaviour</vt:lpstr>
      <vt:lpstr>The SCIANTIX code, inter-granular fission gas behaviour</vt:lpstr>
      <vt:lpstr>Inter-granular bubble evolution, separate-effect validation</vt:lpstr>
      <vt:lpstr>The SCIANTIX flowchart</vt:lpstr>
      <vt:lpstr>The SCIANTIX inheritance diagram</vt:lpstr>
      <vt:lpstr>The SCIANTIX inheritance diagram</vt:lpstr>
      <vt:lpstr>The SCIANTIX inheritance diagram</vt:lpstr>
      <vt:lpstr>The SCIANTIX inheritance diagram</vt:lpstr>
      <vt:lpstr>Presentazione standard di PowerPoint</vt:lpstr>
      <vt:lpstr>The SCIANTIX code</vt:lpstr>
      <vt:lpstr>The SCIANTIX code, intra-granular fission gas behaviour</vt:lpstr>
      <vt:lpstr>Simulation case: stationary irradiation conditions</vt:lpstr>
      <vt:lpstr>Simulation case: stationary irradiation conditions</vt:lpstr>
      <vt:lpstr>Simulation case: stationary irradiation conditions</vt:lpstr>
      <vt:lpstr>Simulation results: stationary irradiation conditions</vt:lpstr>
      <vt:lpstr>Simulation results: stationary irradiation conditions</vt:lpstr>
      <vt:lpstr>The SCIANTIX code, inter-granular fission gas behaviour</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GUILLAUME Nathalie</dc:creator>
  <cp:lastModifiedBy>Giovanni Zullo</cp:lastModifiedBy>
  <cp:revision>4</cp:revision>
  <dcterms:created xsi:type="dcterms:W3CDTF">2019-03-22T09:49:44Z</dcterms:created>
  <dcterms:modified xsi:type="dcterms:W3CDTF">2026-01-20T14:05:05Z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enterAndUnit">
    <vt:lpwstr/>
  </property>
  <property fmtid="{D5CDD505-2E9C-101B-9397-08002B2CF9AE}" pid="3" name="ContentTypeId">
    <vt:lpwstr>0x0101009AC65FE4C57B4241B7BB126C82049321006502EDEDC0136B40BE1694CA6DFB09E5</vt:lpwstr>
  </property>
  <property fmtid="{D5CDD505-2E9C-101B-9397-08002B2CF9AE}" pid="4" name="I2ICODE">
    <vt:lpwstr>WEB</vt:lpwstr>
  </property>
  <property fmtid="{D5CDD505-2E9C-101B-9397-08002B2CF9AE}" pid="5" name="I2ISITECODE">
    <vt:lpwstr/>
  </property>
  <property fmtid="{D5CDD505-2E9C-101B-9397-08002B2CF9AE}" pid="6" name="Organisation">
    <vt:lpwstr/>
  </property>
  <property fmtid="{D5CDD505-2E9C-101B-9397-08002B2CF9AE}" pid="7" name="PresentationFormat">
    <vt:lpwstr>Affichage à l'écran (16:9)</vt:lpwstr>
  </property>
  <property fmtid="{D5CDD505-2E9C-101B-9397-08002B2CF9AE}" pid="8" name="Public">
    <vt:lpwstr/>
  </property>
  <property fmtid="{D5CDD505-2E9C-101B-9397-08002B2CF9AE}" pid="9" name="Slides">
    <vt:i4>10</vt:i4>
  </property>
  <property fmtid="{D5CDD505-2E9C-101B-9397-08002B2CF9AE}" pid="10" name="TaxKeyword">
    <vt:lpwstr/>
  </property>
  <property fmtid="{D5CDD505-2E9C-101B-9397-08002B2CF9AE}" pid="11" name="Thematics">
    <vt:lpwstr/>
  </property>
  <property fmtid="{D5CDD505-2E9C-101B-9397-08002B2CF9AE}" pid="12" name="Typology">
    <vt:lpwstr/>
  </property>
  <property fmtid="{D5CDD505-2E9C-101B-9397-08002B2CF9AE}" pid="13" name="WebApplicationID">
    <vt:lpwstr>3f72b11a-dedf-47a1-b48a-dfd7b45017bd</vt:lpwstr>
  </property>
</Properties>
</file>